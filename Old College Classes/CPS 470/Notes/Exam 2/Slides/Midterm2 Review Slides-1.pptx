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6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jpeg" ContentType="image/jpe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33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30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31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32.xml.rels" ContentType="application/vnd.openxmlformats-package.relationships+xml"/>
  <Override PartName="/ppt/slides/_rels/slide44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32.xml" ContentType="application/vnd.openxmlformats-officedocument.presentationml.slide+xml"/>
  <Override PartName="/ppt/slides/slide44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7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38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39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40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4E147A4-4CA0-4175-AA26-3A04372E985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0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B702DB-7A31-4B96-BEDA-866495850AB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3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85EC80-1355-4275-9AED-C0ADDDC871A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6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0709FD-C8FF-4062-9F20-2842D23B861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9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A9263F-AC71-4379-8076-9666C3F42ED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2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117042-80B5-4602-A5AA-D9BE2AFCAF1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5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675CB5-E19D-4C22-8D46-21C93855038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8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32CBFF-02FD-4D4C-864A-82CB496AD2A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1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04B7C6-5E8F-4EE8-A161-926866B0CBF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4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989384-1008-4B2E-BDE2-A2F4DFA0142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7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1B2926-D99C-4FB5-89D7-979F64C54A3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0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742139-7727-4394-9FED-6E692EC59EF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66960">
              <a:lnSpc>
                <a:spcPct val="100000"/>
              </a:lnSpc>
              <a:buNone/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+mn-ea"/>
              </a:rPr>
              <a:t>The University of Adelaide, School of Computer Science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2" name="PlaceHolder 2"/>
          <p:cNvSpPr>
            <a:spLocks noGrp="1"/>
          </p:cNvSpPr>
          <p:nvPr>
            <p:ph type="dt" idx="90"/>
          </p:nvPr>
        </p:nvSpPr>
        <p:spPr>
          <a:xfrm>
            <a:off x="388476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6696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66960">
              <a:lnSpc>
                <a:spcPct val="100000"/>
              </a:lnSpc>
              <a:buNone/>
            </a:pPr>
            <a:fld id="{C490759C-EB8B-4DAB-8097-067C41E7C428}" type="datetime3"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April 2, 2026</a:t>
            </a:fld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3" name="PlaceHolder 3"/>
          <p:cNvSpPr>
            <a:spLocks noGrp="1"/>
          </p:cNvSpPr>
          <p:nvPr>
            <p:ph type="ftr" idx="91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96696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66960">
              <a:lnSpc>
                <a:spcPct val="100000"/>
              </a:lnSpc>
              <a:buNone/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Chapter 2 — Instructions: Language of the Computer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4" name="PlaceHolder 4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6696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66960">
              <a:lnSpc>
                <a:spcPct val="100000"/>
              </a:lnSpc>
              <a:buNone/>
            </a:pPr>
            <a:fld id="{3CF687F4-4D7E-45F8-A545-0E4032C99AAA}" type="slidenum"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5" name="PlaceHolder 5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6" name="PlaceHolder 6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66960">
              <a:lnSpc>
                <a:spcPct val="100000"/>
              </a:lnSpc>
              <a:buNone/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+mn-ea"/>
              </a:rPr>
              <a:t>The University of Adelaide, School of Computer Science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8" name="PlaceHolder 2"/>
          <p:cNvSpPr>
            <a:spLocks noGrp="1"/>
          </p:cNvSpPr>
          <p:nvPr>
            <p:ph type="dt" idx="93"/>
          </p:nvPr>
        </p:nvSpPr>
        <p:spPr>
          <a:xfrm>
            <a:off x="388476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6696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66960">
              <a:lnSpc>
                <a:spcPct val="100000"/>
              </a:lnSpc>
              <a:buNone/>
            </a:pPr>
            <a:fld id="{75169A6E-B555-4924-B09D-B737BDCCBE41}" type="datetime3"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April 2, 2026</a:t>
            </a:fld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9" name="PlaceHolder 3"/>
          <p:cNvSpPr>
            <a:spLocks noGrp="1"/>
          </p:cNvSpPr>
          <p:nvPr>
            <p:ph type="ftr" idx="94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96696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66960">
              <a:lnSpc>
                <a:spcPct val="100000"/>
              </a:lnSpc>
              <a:buNone/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Chapter 2 — Instructions: Language of the Computer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0" name="PlaceHolder 4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6696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66960">
              <a:lnSpc>
                <a:spcPct val="100000"/>
              </a:lnSpc>
              <a:buNone/>
            </a:pPr>
            <a:fld id="{13E33F3F-DB8D-4A31-A2C5-B737DB239BDA}" type="slidenum"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1" name="PlaceHolder 5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2" name="PlaceHolder 6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66960">
              <a:lnSpc>
                <a:spcPct val="100000"/>
              </a:lnSpc>
              <a:buNone/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+mn-ea"/>
              </a:rPr>
              <a:t>The University of Adelaide, School of Computer Science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4" name="PlaceHolder 2"/>
          <p:cNvSpPr>
            <a:spLocks noGrp="1"/>
          </p:cNvSpPr>
          <p:nvPr>
            <p:ph type="dt" idx="96"/>
          </p:nvPr>
        </p:nvSpPr>
        <p:spPr>
          <a:xfrm>
            <a:off x="388476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6696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66960">
              <a:lnSpc>
                <a:spcPct val="100000"/>
              </a:lnSpc>
              <a:buNone/>
            </a:pPr>
            <a:fld id="{8DAF0C54-CDB7-4C92-9597-77BCF5C118EB}" type="datetime3"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April 2, 2026</a:t>
            </a:fld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5" name="PlaceHolder 3"/>
          <p:cNvSpPr>
            <a:spLocks noGrp="1"/>
          </p:cNvSpPr>
          <p:nvPr>
            <p:ph type="ftr" idx="97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96696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66960">
              <a:lnSpc>
                <a:spcPct val="100000"/>
              </a:lnSpc>
              <a:buNone/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Chapter 2 — Instructions: Language of the Computer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6" name="PlaceHolder 4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6696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66960">
              <a:lnSpc>
                <a:spcPct val="100000"/>
              </a:lnSpc>
              <a:buNone/>
            </a:pPr>
            <a:fld id="{903D6399-55BE-498D-BEC9-A4316FACD227}" type="slidenum"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7" name="PlaceHolder 5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8" name="PlaceHolder 6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9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66960">
              <a:lnSpc>
                <a:spcPct val="100000"/>
              </a:lnSpc>
              <a:buNone/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+mn-ea"/>
              </a:rPr>
              <a:t>The University of Adelaide, School of Computer Science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0" name="PlaceHolder 2"/>
          <p:cNvSpPr>
            <a:spLocks noGrp="1"/>
          </p:cNvSpPr>
          <p:nvPr>
            <p:ph type="dt" idx="99"/>
          </p:nvPr>
        </p:nvSpPr>
        <p:spPr>
          <a:xfrm>
            <a:off x="388476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96696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66960">
              <a:lnSpc>
                <a:spcPct val="100000"/>
              </a:lnSpc>
              <a:buNone/>
            </a:pPr>
            <a:fld id="{479607C3-1EB5-4947-8778-C1C83D7EFDFE}" type="datetime3"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April 2, 2026</a:t>
            </a:fld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1" name="PlaceHolder 3"/>
          <p:cNvSpPr>
            <a:spLocks noGrp="1"/>
          </p:cNvSpPr>
          <p:nvPr>
            <p:ph type="ftr" idx="100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96696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66960">
              <a:lnSpc>
                <a:spcPct val="100000"/>
              </a:lnSpc>
              <a:buNone/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Chapter 2 — Instructions: Language of the Computer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2" name="PlaceHolder 4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6696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66960">
              <a:lnSpc>
                <a:spcPct val="100000"/>
              </a:lnSpc>
              <a:buNone/>
            </a:pPr>
            <a:fld id="{AFDCEA23-CC41-40DB-9466-C0CDEE49EA19}" type="slidenum"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3" name="PlaceHolder 5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4" name="PlaceHolder 6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7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01C169-FBE5-43C9-9B7D-D44F3EA2396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0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C36312-D2A2-48EE-A771-AC31B6A2504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3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424951-97BE-4184-BC90-F30BEE91AC2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6" name="PlaceHolder 3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478ECA-C629-4CA5-9131-03A96424A89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9" name="PlaceHolder 3"/>
          <p:cNvSpPr>
            <a:spLocks noGrp="1"/>
          </p:cNvSpPr>
          <p:nvPr>
            <p:ph type="sldNum" idx="10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0AD737-3A8D-49A0-AC4E-45915411E6B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2" name="PlaceHolder 3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2A6D6C-CB7C-44BC-8CE0-6EE3E3CACD4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5" name="PlaceHolder 3"/>
          <p:cNvSpPr>
            <a:spLocks noGrp="1"/>
          </p:cNvSpPr>
          <p:nvPr>
            <p:ph type="sldNum" idx="10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121A87-2144-4CD7-973B-694FE160743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8" name="PlaceHolder 3"/>
          <p:cNvSpPr>
            <a:spLocks noGrp="1"/>
          </p:cNvSpPr>
          <p:nvPr>
            <p:ph type="sldNum" idx="10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A72642-B3E1-463B-BCF7-F9FE0698228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1" name="PlaceHolder 3"/>
          <p:cNvSpPr>
            <a:spLocks noGrp="1"/>
          </p:cNvSpPr>
          <p:nvPr>
            <p:ph type="sldNum" idx="1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417B2D-6E1A-4D88-990A-21330C9F552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4" name="PlaceHolder 3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7D74AD-001B-488E-8951-01AA6809152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7" name="PlaceHolder 3"/>
          <p:cNvSpPr>
            <a:spLocks noGrp="1"/>
          </p:cNvSpPr>
          <p:nvPr>
            <p:ph type="sldNum" idx="1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CA07C3-3139-404C-86F5-978C89CCB38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0" name="PlaceHolder 3"/>
          <p:cNvSpPr>
            <a:spLocks noGrp="1"/>
          </p:cNvSpPr>
          <p:nvPr>
            <p:ph type="sldNum" idx="1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C42935-C4AF-47BA-949E-7DB0769AE9F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3" name="PlaceHolder 3"/>
          <p:cNvSpPr>
            <a:spLocks noGrp="1"/>
          </p:cNvSpPr>
          <p:nvPr>
            <p:ph type="sldNum" idx="1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000E47-9C7D-4D16-9054-E6C9BEB053A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6" name="PlaceHolder 3"/>
          <p:cNvSpPr>
            <a:spLocks noGrp="1"/>
          </p:cNvSpPr>
          <p:nvPr>
            <p:ph type="sldNum" idx="1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96B105E-6AA4-4D8F-8807-F26A1F790AC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9" name="PlaceHolder 3"/>
          <p:cNvSpPr>
            <a:spLocks noGrp="1"/>
          </p:cNvSpPr>
          <p:nvPr>
            <p:ph type="sldNum" idx="1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0ED6E38-57F1-4C01-8F8B-6B3DC05C897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2" name="PlaceHolder 3"/>
          <p:cNvSpPr>
            <a:spLocks noGrp="1"/>
          </p:cNvSpPr>
          <p:nvPr>
            <p:ph type="sldNum" idx="1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63D01C-DC8A-4F0D-ADF1-BB9F2C0B53C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5" name="PlaceHolder 3"/>
          <p:cNvSpPr>
            <a:spLocks noGrp="1"/>
          </p:cNvSpPr>
          <p:nvPr>
            <p:ph type="sldNum" idx="1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8950EB-0088-4A52-A153-5E0A3B52EEE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8" name="PlaceHolder 3"/>
          <p:cNvSpPr>
            <a:spLocks noGrp="1"/>
          </p:cNvSpPr>
          <p:nvPr>
            <p:ph type="sldNum" idx="1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FAF1AD4-6084-499D-9253-5ABD8FE43B8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1" name="PlaceHolder 3"/>
          <p:cNvSpPr>
            <a:spLocks noGrp="1"/>
          </p:cNvSpPr>
          <p:nvPr>
            <p:ph type="sldNum" idx="1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DC9F90-5F50-4C6B-8BE8-99F3723847F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4" name="PlaceHolder 3"/>
          <p:cNvSpPr>
            <a:spLocks noGrp="1"/>
          </p:cNvSpPr>
          <p:nvPr>
            <p:ph type="sldNum" idx="1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403B8B-B70E-4107-AF73-E012327E101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7" name="PlaceHolder 3"/>
          <p:cNvSpPr>
            <a:spLocks noGrp="1"/>
          </p:cNvSpPr>
          <p:nvPr>
            <p:ph type="sldNum" idx="1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212F4A-BD38-42EF-BF5A-2202EC5EC70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0" name="PlaceHolder 3"/>
          <p:cNvSpPr>
            <a:spLocks noGrp="1"/>
          </p:cNvSpPr>
          <p:nvPr>
            <p:ph type="sldNum" idx="1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A94099C-25C2-4CB1-A202-9C9660F82E6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3" name="PlaceHolder 3"/>
          <p:cNvSpPr>
            <a:spLocks noGrp="1"/>
          </p:cNvSpPr>
          <p:nvPr>
            <p:ph type="sldNum" idx="1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040D06-0375-467C-87E9-CC037E27479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6" name="PlaceHolder 3"/>
          <p:cNvSpPr>
            <a:spLocks noGrp="1"/>
          </p:cNvSpPr>
          <p:nvPr>
            <p:ph type="sldNum" idx="1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5CB164E-F9C1-49C0-AC5F-74A4B11D6B8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9" name="PlaceHolder 3"/>
          <p:cNvSpPr>
            <a:spLocks noGrp="1"/>
          </p:cNvSpPr>
          <p:nvPr>
            <p:ph type="sldNum" idx="1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2601C07-F18E-4525-B108-1FD79501782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4BF01C-5A3F-45C5-B9EF-82A8EF2A7E4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BE708F-8B7A-4C21-9D11-084091A453C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F33974-03AE-4A21-B0B1-D97E0DFCF9F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91FA8A-65A6-4ABE-9645-017BFB23ECE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ic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k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o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di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st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ti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tl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st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yl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D01FDA-6D1B-4DE3-B285-C797B731508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k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o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0AB06B-187C-4F65-9E07-5E6B5EC5FDC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k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o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DC46F0-65E4-4C76-BF90-A7807596ECD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k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o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FA599E-4285-468C-A242-EC3D5DE3915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9BDBD1-B128-494F-892E-BD099755954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9E7F27-A37B-44D1-A231-D7B5A5E0F74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95AB88-A236-4896-B82D-A70E67E0FB3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6000" strike="noStrike" u="none">
                <a:solidFill>
                  <a:srgbClr val="0000a3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34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Transport Layer: 3-</a:t>
            </a:r>
            <a:fld id="{40AD1CAD-9CB8-455B-96C1-EEC7520B970E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body"/>
          </p:nvPr>
        </p:nvSpPr>
        <p:spPr>
          <a:xfrm>
            <a:off x="838080" y="17240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35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Transport Layer: 3-</a:t>
            </a:r>
            <a:fld id="{EF496D38-C027-4D0B-ADDA-F4DDFA3196E5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sldNum" idx="36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Transport Layer: 3-</a:t>
            </a:r>
            <a:fld id="{3B3BCCC3-6AAF-436F-8BCB-020201170BDB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45180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37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Transport Layer: 3-</a:t>
            </a:r>
            <a:fld id="{18F50C02-59EC-428B-A5E8-7770E0A87250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slideLayout" Target="../slideLayouts/slideLayout13.xml"/><Relationship Id="rId9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slideLayout" Target="../slideLayouts/slideLayout13.xml"/><Relationship Id="rId9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slideLayout" Target="../slideLayouts/slideLayout13.xml"/><Relationship Id="rId9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slideLayout" Target="../slideLayouts/slideLayout13.xml"/><Relationship Id="rId9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11440" y="258120"/>
            <a:ext cx="1139292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8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TCP congestion control: AIMD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8"/>
          <p:cNvSpPr/>
          <p:nvPr/>
        </p:nvSpPr>
        <p:spPr>
          <a:xfrm>
            <a:off x="901800" y="1168560"/>
            <a:ext cx="10274040" cy="14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91960" indent="-29196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</a:pPr>
            <a:r>
              <a:rPr b="0" i="1" lang="en-US" sz="2800" strike="noStrike" u="non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approach: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senders can</a:t>
            </a:r>
            <a:r>
              <a:rPr b="0" i="1" lang="en-US" sz="2800" strike="noStrike" u="none">
                <a:solidFill>
                  <a:srgbClr val="ff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increase sending rate until packet loss (congestion) occurs, then decrease sending rate on loss event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Box 13"/>
          <p:cNvSpPr/>
          <p:nvPr/>
        </p:nvSpPr>
        <p:spPr>
          <a:xfrm>
            <a:off x="8688600" y="4380840"/>
            <a:ext cx="2768760" cy="15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013a3"/>
                </a:solidFill>
                <a:effectLst/>
                <a:uFillTx/>
                <a:latin typeface="Calibri"/>
                <a:ea typeface="ＭＳ Ｐゴシック"/>
              </a:rPr>
              <a:t>AIMD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sawtooth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behavior: </a:t>
            </a:r>
            <a:r>
              <a:rPr b="0" i="1" lang="en-US" sz="2800" strike="noStrike" u="none">
                <a:solidFill>
                  <a:srgbClr val="0013a3"/>
                </a:solidFill>
                <a:effectLst/>
                <a:uFillTx/>
                <a:latin typeface="Calibri"/>
                <a:ea typeface="ＭＳ Ｐゴシック"/>
              </a:rPr>
              <a:t>probing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for bandwidth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1"/>
          <p:cNvSpPr/>
          <p:nvPr/>
        </p:nvSpPr>
        <p:spPr>
          <a:xfrm>
            <a:off x="4717440" y="3774600"/>
            <a:ext cx="685440" cy="304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78" name="Line 19"/>
          <p:cNvSpPr/>
          <p:nvPr/>
        </p:nvSpPr>
        <p:spPr>
          <a:xfrm flipV="1">
            <a:off x="3898080" y="5196600"/>
            <a:ext cx="169920" cy="1699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79" name="Line 20"/>
          <p:cNvSpPr/>
          <p:nvPr/>
        </p:nvSpPr>
        <p:spPr>
          <a:xfrm>
            <a:off x="4079160" y="5185440"/>
            <a:ext cx="360" cy="6429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80" name="Line 21"/>
          <p:cNvSpPr/>
          <p:nvPr/>
        </p:nvSpPr>
        <p:spPr>
          <a:xfrm flipV="1">
            <a:off x="4068000" y="4869720"/>
            <a:ext cx="982440" cy="98100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81" name="Line 22"/>
          <p:cNvSpPr/>
          <p:nvPr/>
        </p:nvSpPr>
        <p:spPr>
          <a:xfrm>
            <a:off x="5039280" y="4871160"/>
            <a:ext cx="360" cy="8017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82" name="Line 23"/>
          <p:cNvSpPr/>
          <p:nvPr/>
        </p:nvSpPr>
        <p:spPr>
          <a:xfrm flipV="1">
            <a:off x="5031360" y="5168160"/>
            <a:ext cx="525600" cy="52380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83" name="Line 24"/>
          <p:cNvSpPr/>
          <p:nvPr/>
        </p:nvSpPr>
        <p:spPr>
          <a:xfrm>
            <a:off x="5556960" y="5163480"/>
            <a:ext cx="360" cy="6886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84" name="Line 25"/>
          <p:cNvSpPr/>
          <p:nvPr/>
        </p:nvSpPr>
        <p:spPr>
          <a:xfrm flipV="1">
            <a:off x="5568120" y="4848840"/>
            <a:ext cx="969840" cy="981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85" name="Line 26"/>
          <p:cNvSpPr/>
          <p:nvPr/>
        </p:nvSpPr>
        <p:spPr>
          <a:xfrm>
            <a:off x="6533280" y="4848840"/>
            <a:ext cx="11160" cy="83520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86" name="Line 29"/>
          <p:cNvSpPr/>
          <p:nvPr/>
        </p:nvSpPr>
        <p:spPr>
          <a:xfrm flipV="1">
            <a:off x="6537960" y="5012640"/>
            <a:ext cx="666720" cy="6667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87" name="Line 30"/>
          <p:cNvSpPr/>
          <p:nvPr/>
        </p:nvSpPr>
        <p:spPr>
          <a:xfrm>
            <a:off x="7204680" y="4998240"/>
            <a:ext cx="360" cy="7477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88" name="Line 31"/>
          <p:cNvSpPr/>
          <p:nvPr/>
        </p:nvSpPr>
        <p:spPr>
          <a:xfrm flipV="1">
            <a:off x="7195320" y="4745880"/>
            <a:ext cx="876240" cy="10144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grpSp>
        <p:nvGrpSpPr>
          <p:cNvPr id="89" name="Group 52"/>
          <p:cNvGrpSpPr/>
          <p:nvPr/>
        </p:nvGrpSpPr>
        <p:grpSpPr>
          <a:xfrm>
            <a:off x="3439440" y="4254840"/>
            <a:ext cx="4601880" cy="2565720"/>
            <a:chOff x="3439440" y="4254840"/>
            <a:chExt cx="4601880" cy="2565720"/>
          </a:xfrm>
        </p:grpSpPr>
        <p:sp>
          <p:nvSpPr>
            <p:cNvPr id="90" name="Text Box 12"/>
            <p:cNvSpPr/>
            <p:nvPr/>
          </p:nvSpPr>
          <p:spPr>
            <a:xfrm rot="16200000">
              <a:off x="2456640" y="5237640"/>
              <a:ext cx="2273040" cy="30744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TCP sender  Sending rate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Line 17"/>
            <p:cNvSpPr/>
            <p:nvPr/>
          </p:nvSpPr>
          <p:spPr>
            <a:xfrm>
              <a:off x="3898080" y="6493680"/>
              <a:ext cx="414324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92" name="Line 18"/>
            <p:cNvSpPr/>
            <p:nvPr/>
          </p:nvSpPr>
          <p:spPr>
            <a:xfrm>
              <a:off x="3886200" y="4520880"/>
              <a:ext cx="720" cy="197424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93" name="Text Box 40"/>
            <p:cNvSpPr/>
            <p:nvPr/>
          </p:nvSpPr>
          <p:spPr>
            <a:xfrm>
              <a:off x="5465160" y="6484320"/>
              <a:ext cx="576000" cy="33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Tahoma"/>
                  <a:ea typeface="ＭＳ Ｐゴシック"/>
                </a:rPr>
                <a:t>time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4" name="Group 8"/>
          <p:cNvGrpSpPr/>
          <p:nvPr/>
        </p:nvGrpSpPr>
        <p:grpSpPr>
          <a:xfrm>
            <a:off x="965160" y="2146320"/>
            <a:ext cx="5054400" cy="1904760"/>
            <a:chOff x="965160" y="2146320"/>
            <a:chExt cx="5054400" cy="1904760"/>
          </a:xfrm>
        </p:grpSpPr>
        <p:sp>
          <p:nvSpPr>
            <p:cNvPr id="95" name="Rectangle 2"/>
            <p:cNvSpPr/>
            <p:nvPr/>
          </p:nvSpPr>
          <p:spPr>
            <a:xfrm>
              <a:off x="1397160" y="2349360"/>
              <a:ext cx="4600440" cy="14346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6" name="Rectangle 8"/>
            <p:cNvSpPr/>
            <p:nvPr/>
          </p:nvSpPr>
          <p:spPr>
            <a:xfrm>
              <a:off x="965160" y="2603520"/>
              <a:ext cx="5054400" cy="144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457200" defTabSz="914400">
                <a:lnSpc>
                  <a:spcPct val="85000"/>
                </a:lnSpc>
                <a:spcBef>
                  <a:spcPts val="519"/>
                </a:spcBef>
                <a:tabLst>
                  <a:tab algn="l" pos="0"/>
                </a:tabLst>
              </a:pPr>
              <a:r>
                <a:rPr b="0" lang="en-US" sz="26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increase sending rate </a:t>
              </a:r>
              <a:r>
                <a:rPr b="0" lang="en-US" sz="2600" strike="noStrike" u="none">
                  <a:solidFill>
                    <a:srgbClr val="000000"/>
                  </a:solidFill>
                  <a:effectLst/>
                  <a:uFillTx/>
                  <a:latin typeface="Gill Sans MT"/>
                  <a:ea typeface="ＭＳ Ｐゴシック"/>
                </a:rPr>
                <a:t>by </a:t>
              </a:r>
              <a:r>
                <a:rPr b="0" lang="en-US" sz="26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1 maximum segment size every RTT until loss detected</a:t>
              </a:r>
              <a:endPara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Rectangle 8"/>
            <p:cNvSpPr/>
            <p:nvPr/>
          </p:nvSpPr>
          <p:spPr>
            <a:xfrm>
              <a:off x="1504440" y="2146320"/>
              <a:ext cx="2830320" cy="44424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85000"/>
                </a:lnSpc>
                <a:spcBef>
                  <a:spcPts val="561"/>
                </a:spcBef>
                <a:tabLst>
                  <a:tab algn="l" pos="0"/>
                </a:tabLst>
              </a:pPr>
              <a:r>
                <a:rPr b="0" i="1" lang="en-US" sz="2800" strike="noStrike" u="sng">
                  <a:solidFill>
                    <a:srgbClr val="00b050"/>
                  </a:solidFill>
                  <a:effectLst/>
                  <a:uFillTx/>
                  <a:latin typeface="Calibri"/>
                  <a:ea typeface="ＭＳ Ｐゴシック"/>
                </a:rPr>
                <a:t>A</a:t>
              </a:r>
              <a:r>
                <a:rPr b="0" i="1" lang="en-US" sz="2800" strike="noStrike" u="none">
                  <a:solidFill>
                    <a:srgbClr val="00b050"/>
                  </a:solidFill>
                  <a:effectLst/>
                  <a:uFillTx/>
                  <a:latin typeface="Calibri"/>
                  <a:ea typeface="ＭＳ Ｐゴシック"/>
                </a:rPr>
                <a:t>dditive </a:t>
              </a:r>
              <a:r>
                <a:rPr b="0" i="1" lang="en-US" sz="2800" strike="noStrike" u="sng">
                  <a:solidFill>
                    <a:srgbClr val="00b050"/>
                  </a:solidFill>
                  <a:effectLst/>
                  <a:uFillTx/>
                  <a:latin typeface="Calibri"/>
                  <a:ea typeface="ＭＳ Ｐゴシック"/>
                </a:rPr>
                <a:t>I</a:t>
              </a:r>
              <a:r>
                <a:rPr b="0" i="1" lang="en-US" sz="2800" strike="noStrike" u="none">
                  <a:solidFill>
                    <a:srgbClr val="00b050"/>
                  </a:solidFill>
                  <a:effectLst/>
                  <a:uFillTx/>
                  <a:latin typeface="Calibri"/>
                  <a:ea typeface="ＭＳ Ｐゴシック"/>
                </a:rPr>
                <a:t>ncrease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8" name="Group 62"/>
          <p:cNvGrpSpPr/>
          <p:nvPr/>
        </p:nvGrpSpPr>
        <p:grpSpPr>
          <a:xfrm>
            <a:off x="6006960" y="2197080"/>
            <a:ext cx="4749480" cy="1422000"/>
            <a:chOff x="6006960" y="2197080"/>
            <a:chExt cx="4749480" cy="1422000"/>
          </a:xfrm>
        </p:grpSpPr>
        <p:sp>
          <p:nvSpPr>
            <p:cNvPr id="99" name="Rectangle 63"/>
            <p:cNvSpPr/>
            <p:nvPr/>
          </p:nvSpPr>
          <p:spPr>
            <a:xfrm>
              <a:off x="6311880" y="2349360"/>
              <a:ext cx="4266720" cy="126972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0" name="Rectangle 8"/>
            <p:cNvSpPr/>
            <p:nvPr/>
          </p:nvSpPr>
          <p:spPr>
            <a:xfrm>
              <a:off x="6006960" y="2654280"/>
              <a:ext cx="4749480" cy="82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457200" defTabSz="914400">
                <a:lnSpc>
                  <a:spcPct val="85000"/>
                </a:lnSpc>
                <a:spcBef>
                  <a:spcPts val="519"/>
                </a:spcBef>
                <a:tabLst>
                  <a:tab algn="l" pos="0"/>
                </a:tabLst>
              </a:pPr>
              <a:r>
                <a:rPr b="0" lang="en-US" sz="26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cut sending rate in half at each loss event</a:t>
              </a:r>
              <a:endPara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85000"/>
                </a:lnSpc>
                <a:spcBef>
                  <a:spcPts val="561"/>
                </a:spcBef>
                <a:tabLst>
                  <a:tab algn="l" pos="0"/>
                </a:tabLst>
              </a:pP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Rectangle 8"/>
            <p:cNvSpPr/>
            <p:nvPr/>
          </p:nvSpPr>
          <p:spPr>
            <a:xfrm>
              <a:off x="6477120" y="2197080"/>
              <a:ext cx="3746160" cy="44424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85000"/>
                </a:lnSpc>
                <a:spcBef>
                  <a:spcPts val="561"/>
                </a:spcBef>
                <a:tabLst>
                  <a:tab algn="l" pos="0"/>
                </a:tabLst>
              </a:pPr>
              <a:r>
                <a:rPr b="0" i="1" lang="en-US" sz="2800" strike="noStrike" u="sng">
                  <a:solidFill>
                    <a:srgbClr val="c00000"/>
                  </a:solidFill>
                  <a:effectLst/>
                  <a:uFillTx/>
                  <a:latin typeface="Calibri"/>
                  <a:ea typeface="ＭＳ Ｐゴシック"/>
                </a:rPr>
                <a:t>M</a:t>
              </a:r>
              <a:r>
                <a:rPr b="0" i="1" lang="en-US" sz="2800" strike="noStrike" u="none">
                  <a:solidFill>
                    <a:srgbClr val="c00000"/>
                  </a:solidFill>
                  <a:effectLst/>
                  <a:uFillTx/>
                  <a:latin typeface="Calibri"/>
                  <a:ea typeface="ＭＳ Ｐゴシック"/>
                </a:rPr>
                <a:t>ultiplicative </a:t>
              </a:r>
              <a:r>
                <a:rPr b="0" i="1" lang="en-US" sz="2800" strike="noStrike" u="sng">
                  <a:solidFill>
                    <a:srgbClr val="c00000"/>
                  </a:solidFill>
                  <a:effectLst/>
                  <a:uFillTx/>
                  <a:latin typeface="Calibri"/>
                  <a:ea typeface="ＭＳ Ｐゴシック"/>
                </a:rPr>
                <a:t>D</a:t>
              </a:r>
              <a:r>
                <a:rPr b="0" i="1" lang="en-US" sz="2800" strike="noStrike" u="none">
                  <a:solidFill>
                    <a:srgbClr val="c00000"/>
                  </a:solidFill>
                  <a:effectLst/>
                  <a:uFillTx/>
                  <a:latin typeface="Calibri"/>
                  <a:ea typeface="ＭＳ Ｐゴシック"/>
                </a:rPr>
                <a:t>ecrease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2" name="Group 32"/>
          <p:cNvGrpSpPr/>
          <p:nvPr/>
        </p:nvGrpSpPr>
        <p:grpSpPr>
          <a:xfrm>
            <a:off x="3952800" y="3784320"/>
            <a:ext cx="3599280" cy="1591560"/>
            <a:chOff x="3952800" y="3784320"/>
            <a:chExt cx="3599280" cy="1591560"/>
          </a:xfrm>
        </p:grpSpPr>
        <p:grpSp>
          <p:nvGrpSpPr>
            <p:cNvPr id="103" name="Group 31"/>
            <p:cNvGrpSpPr/>
            <p:nvPr/>
          </p:nvGrpSpPr>
          <p:grpSpPr>
            <a:xfrm>
              <a:off x="3952800" y="4146480"/>
              <a:ext cx="3599280" cy="1229400"/>
              <a:chOff x="3952800" y="4146480"/>
              <a:chExt cx="3599280" cy="1229400"/>
            </a:xfrm>
          </p:grpSpPr>
          <p:cxnSp>
            <p:nvCxnSpPr>
              <p:cNvPr id="104" name="Straight Arrow Connector 10"/>
              <p:cNvCxnSpPr/>
              <p:nvPr/>
            </p:nvCxnSpPr>
            <p:spPr>
              <a:xfrm>
                <a:off x="3959280" y="4150440"/>
                <a:ext cx="360" cy="105660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len="med" type="triangle" w="med"/>
              </a:ln>
            </p:spPr>
          </p:cxnSp>
          <p:cxnSp>
            <p:nvCxnSpPr>
              <p:cNvPr id="105" name="Straight Arrow Connector 70"/>
              <p:cNvCxnSpPr/>
              <p:nvPr/>
            </p:nvCxnSpPr>
            <p:spPr>
              <a:xfrm>
                <a:off x="4467240" y="4150440"/>
                <a:ext cx="360" cy="122184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len="med" type="triangle" w="med"/>
              </a:ln>
            </p:spPr>
          </p:cxnSp>
          <p:cxnSp>
            <p:nvCxnSpPr>
              <p:cNvPr id="106" name="Straight Arrow Connector 71"/>
              <p:cNvCxnSpPr/>
              <p:nvPr/>
            </p:nvCxnSpPr>
            <p:spPr>
              <a:xfrm>
                <a:off x="5282640" y="4150440"/>
                <a:ext cx="360" cy="122580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len="med" type="triangle" w="med"/>
              </a:ln>
            </p:spPr>
          </p:cxnSp>
          <p:cxnSp>
            <p:nvCxnSpPr>
              <p:cNvPr id="107" name="Straight Arrow Connector 72"/>
              <p:cNvCxnSpPr/>
              <p:nvPr/>
            </p:nvCxnSpPr>
            <p:spPr>
              <a:xfrm>
                <a:off x="5952240" y="4158720"/>
                <a:ext cx="360" cy="120456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len="med" type="triangle" w="med"/>
              </a:ln>
            </p:spPr>
          </p:cxnSp>
          <p:cxnSp>
            <p:nvCxnSpPr>
              <p:cNvPr id="108" name="Straight Arrow Connector 73"/>
              <p:cNvCxnSpPr/>
              <p:nvPr/>
            </p:nvCxnSpPr>
            <p:spPr>
              <a:xfrm>
                <a:off x="6781680" y="4152240"/>
                <a:ext cx="360" cy="119412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len="med" type="triangle" w="med"/>
              </a:ln>
            </p:spPr>
          </p:cxnSp>
          <p:cxnSp>
            <p:nvCxnSpPr>
              <p:cNvPr id="109" name="Straight Arrow Connector 74"/>
              <p:cNvCxnSpPr/>
              <p:nvPr/>
            </p:nvCxnSpPr>
            <p:spPr>
              <a:xfrm>
                <a:off x="7547040" y="4146480"/>
                <a:ext cx="360" cy="110700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len="med" type="triangle" w="med"/>
              </a:ln>
            </p:spPr>
          </p:cxnSp>
          <p:cxnSp>
            <p:nvCxnSpPr>
              <p:cNvPr id="110" name="Straight Connector 14"/>
              <p:cNvCxnSpPr/>
              <p:nvPr/>
            </p:nvCxnSpPr>
            <p:spPr>
              <a:xfrm>
                <a:off x="3952800" y="4149360"/>
                <a:ext cx="3599640" cy="36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</a:ln>
            </p:spPr>
          </p:cxnSp>
        </p:grpSp>
        <p:cxnSp>
          <p:nvCxnSpPr>
            <p:cNvPr id="111" name="Straight Arrow Connector 30"/>
            <p:cNvCxnSpPr/>
            <p:nvPr/>
          </p:nvCxnSpPr>
          <p:spPr>
            <a:xfrm>
              <a:off x="5638680" y="3784320"/>
              <a:ext cx="360" cy="38160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len="med" type="triangle" w="med"/>
            </a:ln>
          </p:spPr>
        </p:cxnSp>
      </p:grpSp>
      <p:grpSp>
        <p:nvGrpSpPr>
          <p:cNvPr id="112" name="Group 87"/>
          <p:cNvGrpSpPr/>
          <p:nvPr/>
        </p:nvGrpSpPr>
        <p:grpSpPr>
          <a:xfrm>
            <a:off x="4108320" y="3622320"/>
            <a:ext cx="3819600" cy="1695600"/>
            <a:chOff x="4108320" y="3622320"/>
            <a:chExt cx="3819600" cy="1695600"/>
          </a:xfrm>
        </p:grpSpPr>
        <p:grpSp>
          <p:nvGrpSpPr>
            <p:cNvPr id="113" name="Group 84"/>
            <p:cNvGrpSpPr/>
            <p:nvPr/>
          </p:nvGrpSpPr>
          <p:grpSpPr>
            <a:xfrm>
              <a:off x="4108320" y="3974760"/>
              <a:ext cx="3819600" cy="1343160"/>
              <a:chOff x="4108320" y="3974760"/>
              <a:chExt cx="3819600" cy="1343160"/>
            </a:xfrm>
          </p:grpSpPr>
          <p:cxnSp>
            <p:nvCxnSpPr>
              <p:cNvPr id="114" name="Straight Arrow Connector 60"/>
              <p:cNvCxnSpPr/>
              <p:nvPr/>
            </p:nvCxnSpPr>
            <p:spPr>
              <a:xfrm flipH="1">
                <a:off x="7245000" y="3981240"/>
                <a:ext cx="680040" cy="125460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len="med" type="triangle" w="med"/>
              </a:ln>
            </p:spPr>
          </p:cxnSp>
          <p:cxnSp>
            <p:nvCxnSpPr>
              <p:cNvPr id="115" name="Straight Arrow Connector 97"/>
              <p:cNvCxnSpPr/>
              <p:nvPr/>
            </p:nvCxnSpPr>
            <p:spPr>
              <a:xfrm flipH="1">
                <a:off x="4108320" y="3974760"/>
                <a:ext cx="3816720" cy="134028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len="med" type="triangle" w="med"/>
              </a:ln>
            </p:spPr>
          </p:cxnSp>
          <p:cxnSp>
            <p:nvCxnSpPr>
              <p:cNvPr id="116" name="Straight Arrow Connector 100"/>
              <p:cNvCxnSpPr/>
              <p:nvPr/>
            </p:nvCxnSpPr>
            <p:spPr>
              <a:xfrm flipH="1">
                <a:off x="5070240" y="3978000"/>
                <a:ext cx="2854800" cy="129888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len="med" type="triangle" w="med"/>
              </a:ln>
            </p:spPr>
          </p:cxnSp>
          <p:cxnSp>
            <p:nvCxnSpPr>
              <p:cNvPr id="117" name="Straight Arrow Connector 102"/>
              <p:cNvCxnSpPr/>
              <p:nvPr/>
            </p:nvCxnSpPr>
            <p:spPr>
              <a:xfrm flipH="1">
                <a:off x="5607000" y="3984480"/>
                <a:ext cx="2321280" cy="133380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len="med" type="triangle" w="med"/>
              </a:ln>
            </p:spPr>
          </p:cxnSp>
          <p:cxnSp>
            <p:nvCxnSpPr>
              <p:cNvPr id="118" name="Straight Arrow Connector 104"/>
              <p:cNvCxnSpPr/>
              <p:nvPr/>
            </p:nvCxnSpPr>
            <p:spPr>
              <a:xfrm flipH="1">
                <a:off x="6565680" y="3984480"/>
                <a:ext cx="1359360" cy="119412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len="med" type="triangle" w="med"/>
              </a:ln>
            </p:spPr>
          </p:cxnSp>
        </p:grpSp>
        <p:cxnSp>
          <p:nvCxnSpPr>
            <p:cNvPr id="119" name="Straight Connector 86"/>
            <p:cNvCxnSpPr/>
            <p:nvPr/>
          </p:nvCxnSpPr>
          <p:spPr>
            <a:xfrm flipV="1">
              <a:off x="7921440" y="3622320"/>
              <a:ext cx="360" cy="359280"/>
            </a:xfrm>
            <a:prstGeom prst="straightConnector1">
              <a:avLst/>
            </a:prstGeom>
            <a:ln w="12700">
              <a:solidFill>
                <a:srgbClr val="c00000"/>
              </a:solidFill>
            </a:ln>
          </p:spPr>
        </p:cxnSp>
      </p:grpSp>
      <p:sp>
        <p:nvSpPr>
          <p:cNvPr id="120" name="PlaceHolder 2"/>
          <p:cNvSpPr>
            <a:spLocks noGrp="1"/>
          </p:cNvSpPr>
          <p:nvPr>
            <p:ph type="sldNum" idx="41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rPr>
              <a:t>Transport Layer: 3-</a:t>
            </a:r>
            <a:fld id="{96C7C83F-78BE-44EE-9098-FE19980AC656}" type="slidenum">
              <a: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rPr>
              <a:t>1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4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4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nodeType="afterEffect" fill="hold" presetClass="entr" presetID="22" presetSubtype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6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6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nodeType="afterEffect" fill="hold" presetClass="entr" presetID="22" presetSubtype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7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8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11440" y="258120"/>
            <a:ext cx="1139292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8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TCP AIMD: more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8"/>
          <p:cNvSpPr/>
          <p:nvPr/>
        </p:nvSpPr>
        <p:spPr>
          <a:xfrm>
            <a:off x="901800" y="1361520"/>
            <a:ext cx="9847080" cy="17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85000"/>
              </a:lnSpc>
              <a:spcBef>
                <a:spcPts val="561"/>
              </a:spcBef>
              <a:tabLst>
                <a:tab algn="l" pos="0"/>
              </a:tabLst>
            </a:pPr>
            <a:r>
              <a:rPr b="0" i="1" lang="en-US" sz="2800" strike="noStrike" u="non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Multiplicative decrease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detail:  sending rate is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6440" indent="-30492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Cut in half on loss detected by triple duplicate ACK (TCP Reno)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6440" indent="-30492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Cut to 1 MSS (maximum segment size) when loss detected by timeout (TCP Tahoe)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5000"/>
              </a:lnSpc>
              <a:spcBef>
                <a:spcPts val="561"/>
              </a:spcBef>
              <a:tabLst>
                <a:tab algn="l" pos="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5000"/>
              </a:lnSpc>
              <a:spcBef>
                <a:spcPts val="561"/>
              </a:spcBef>
              <a:tabLst>
                <a:tab algn="l" pos="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8"/>
          <p:cNvSpPr/>
          <p:nvPr/>
        </p:nvSpPr>
        <p:spPr>
          <a:xfrm>
            <a:off x="861120" y="3363120"/>
            <a:ext cx="9847080" cy="17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85000"/>
              </a:lnSpc>
              <a:spcBef>
                <a:spcPts val="561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Why</a:t>
            </a:r>
            <a:r>
              <a:rPr b="0" i="1" lang="en-US" sz="2800" strike="noStrike" u="non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b="0" lang="en-US" sz="2800" strike="noStrike" u="sng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</a:t>
            </a:r>
            <a:r>
              <a:rPr b="0" lang="en-US" sz="2800" strike="noStrike" u="sng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M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</a:t>
            </a:r>
            <a:r>
              <a:rPr b="0" lang="en-US" sz="2800" strike="noStrike" u="non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?</a:t>
            </a:r>
            <a:r>
              <a:rPr b="0" i="1" lang="en-US" sz="2800" strike="noStrike" u="non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6440" indent="-30492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AIMD – a distributed, asynchronous algorithm – has been shown to: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90480" indent="-28404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optimize congested flow rates network wide!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90480" indent="-284040" defTabSz="914400">
              <a:lnSpc>
                <a:spcPct val="85000"/>
              </a:lnSpc>
              <a:spcBef>
                <a:spcPts val="561"/>
              </a:spcBef>
              <a:buClr>
                <a:srgbClr val="00009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have desirable stability properties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1520" defTabSz="914400">
              <a:lnSpc>
                <a:spcPct val="85000"/>
              </a:lnSpc>
              <a:spcBef>
                <a:spcPts val="561"/>
              </a:spcBef>
              <a:tabLst>
                <a:tab algn="l" pos="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5000"/>
              </a:lnSpc>
              <a:spcBef>
                <a:spcPts val="561"/>
              </a:spcBef>
              <a:tabLst>
                <a:tab algn="l" pos="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42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rPr>
              <a:t>Transport Layer: 3-</a:t>
            </a:r>
            <a:fld id="{6E0B74B7-B918-4219-987B-8E4D3FAE55D1}" type="slidenum">
              <a: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rPr>
              <a:t>2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2" dur="indefinite" restart="never" nodeType="tmRoot">
          <p:childTnLst>
            <p:seq>
              <p:cTn id="83" dur="indefinite" nodeType="mainSeq">
                <p:childTnLst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11440" y="259560"/>
            <a:ext cx="1139292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8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TCP slow start 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3"/>
          <p:cNvSpPr/>
          <p:nvPr/>
        </p:nvSpPr>
        <p:spPr>
          <a:xfrm>
            <a:off x="1143000" y="1384200"/>
            <a:ext cx="5117760" cy="52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93840" indent="-2635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when connection begins, increase rate exponentially until first loss event: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initially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Courier New"/>
              </a:rPr>
              <a:t>cwnd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= 1 MSS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double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Courier New"/>
              </a:rPr>
              <a:t>cwnd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every RTT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done by incrementing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Courier New"/>
              </a:rPr>
              <a:t>cwnd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for every ACK received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Line 6"/>
          <p:cNvSpPr/>
          <p:nvPr/>
        </p:nvSpPr>
        <p:spPr>
          <a:xfrm>
            <a:off x="7584840" y="2306520"/>
            <a:ext cx="2505240" cy="352440"/>
          </a:xfrm>
          <a:prstGeom prst="line">
            <a:avLst/>
          </a:prstGeom>
          <a:ln w="28575">
            <a:solidFill>
              <a:srgbClr val="3333c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128" name="Text Box 8"/>
          <p:cNvSpPr/>
          <p:nvPr/>
        </p:nvSpPr>
        <p:spPr>
          <a:xfrm>
            <a:off x="7182000" y="1168200"/>
            <a:ext cx="8697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Host 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Box 9"/>
          <p:cNvSpPr/>
          <p:nvPr/>
        </p:nvSpPr>
        <p:spPr>
          <a:xfrm rot="408600">
            <a:off x="8591400" y="2273040"/>
            <a:ext cx="1207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one segment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Box 12"/>
          <p:cNvSpPr/>
          <p:nvPr/>
        </p:nvSpPr>
        <p:spPr>
          <a:xfrm>
            <a:off x="9618840" y="1154160"/>
            <a:ext cx="8697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Host 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Line 13"/>
          <p:cNvSpPr/>
          <p:nvPr/>
        </p:nvSpPr>
        <p:spPr>
          <a:xfrm>
            <a:off x="7580160" y="2120760"/>
            <a:ext cx="360" cy="3848040"/>
          </a:xfrm>
          <a:prstGeom prst="line">
            <a:avLst/>
          </a:prstGeom>
          <a:ln w="1905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6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132" name="Line 14"/>
          <p:cNvSpPr/>
          <p:nvPr/>
        </p:nvSpPr>
        <p:spPr>
          <a:xfrm>
            <a:off x="10094760" y="2158920"/>
            <a:ext cx="360" cy="3848040"/>
          </a:xfrm>
          <a:prstGeom prst="line">
            <a:avLst/>
          </a:prstGeom>
          <a:ln w="1905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6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grpSp>
        <p:nvGrpSpPr>
          <p:cNvPr id="133" name="Group 3"/>
          <p:cNvGrpSpPr/>
          <p:nvPr/>
        </p:nvGrpSpPr>
        <p:grpSpPr>
          <a:xfrm>
            <a:off x="7254720" y="2269800"/>
            <a:ext cx="304560" cy="830520"/>
            <a:chOff x="7254720" y="2269800"/>
            <a:chExt cx="304560" cy="830520"/>
          </a:xfrm>
        </p:grpSpPr>
        <p:sp>
          <p:nvSpPr>
            <p:cNvPr id="134" name="Text Box 10"/>
            <p:cNvSpPr/>
            <p:nvPr/>
          </p:nvSpPr>
          <p:spPr>
            <a:xfrm rot="16200000">
              <a:off x="7142760" y="2510640"/>
              <a:ext cx="52812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RTT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Line 15"/>
            <p:cNvSpPr/>
            <p:nvPr/>
          </p:nvSpPr>
          <p:spPr>
            <a:xfrm flipH="1" flipV="1">
              <a:off x="7399080" y="2269800"/>
              <a:ext cx="4680" cy="21924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36" name="Line 16"/>
            <p:cNvSpPr/>
            <p:nvPr/>
          </p:nvSpPr>
          <p:spPr>
            <a:xfrm>
              <a:off x="7408800" y="2876400"/>
              <a:ext cx="4680" cy="22392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</p:grpSp>
      <p:sp>
        <p:nvSpPr>
          <p:cNvPr id="137" name="Line 17"/>
          <p:cNvSpPr/>
          <p:nvPr/>
        </p:nvSpPr>
        <p:spPr>
          <a:xfrm flipV="1">
            <a:off x="7561080" y="2711160"/>
            <a:ext cx="2505240" cy="352440"/>
          </a:xfrm>
          <a:prstGeom prst="line">
            <a:avLst/>
          </a:prstGeom>
          <a:ln w="28575">
            <a:solidFill>
              <a:srgbClr val="3333cc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grpSp>
        <p:nvGrpSpPr>
          <p:cNvPr id="138" name="Group 18"/>
          <p:cNvGrpSpPr/>
          <p:nvPr/>
        </p:nvGrpSpPr>
        <p:grpSpPr>
          <a:xfrm>
            <a:off x="9809280" y="5452920"/>
            <a:ext cx="615600" cy="366480"/>
            <a:chOff x="9809280" y="5452920"/>
            <a:chExt cx="615600" cy="366480"/>
          </a:xfrm>
        </p:grpSpPr>
        <p:sp>
          <p:nvSpPr>
            <p:cNvPr id="139" name="Rectangle 19"/>
            <p:cNvSpPr/>
            <p:nvPr/>
          </p:nvSpPr>
          <p:spPr>
            <a:xfrm>
              <a:off x="9848880" y="5530680"/>
              <a:ext cx="514080" cy="2473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40" name="Text Box 20"/>
            <p:cNvSpPr/>
            <p:nvPr/>
          </p:nvSpPr>
          <p:spPr>
            <a:xfrm>
              <a:off x="9809280" y="5452920"/>
              <a:ext cx="61560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time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1" name="Group 4"/>
          <p:cNvGrpSpPr/>
          <p:nvPr/>
        </p:nvGrpSpPr>
        <p:grpSpPr>
          <a:xfrm>
            <a:off x="7584840" y="3087360"/>
            <a:ext cx="2509920" cy="438120"/>
            <a:chOff x="7584840" y="3087360"/>
            <a:chExt cx="2509920" cy="438120"/>
          </a:xfrm>
        </p:grpSpPr>
        <p:sp>
          <p:nvSpPr>
            <p:cNvPr id="142" name="Line 21"/>
            <p:cNvSpPr/>
            <p:nvPr/>
          </p:nvSpPr>
          <p:spPr>
            <a:xfrm>
              <a:off x="7589520" y="3087360"/>
              <a:ext cx="2505240" cy="35244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43" name="Line 22"/>
            <p:cNvSpPr/>
            <p:nvPr/>
          </p:nvSpPr>
          <p:spPr>
            <a:xfrm>
              <a:off x="7584840" y="3173040"/>
              <a:ext cx="2505240" cy="35244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</p:grpSp>
      <p:grpSp>
        <p:nvGrpSpPr>
          <p:cNvPr id="144" name="Group 5"/>
          <p:cNvGrpSpPr/>
          <p:nvPr/>
        </p:nvGrpSpPr>
        <p:grpSpPr>
          <a:xfrm>
            <a:off x="7557840" y="3697200"/>
            <a:ext cx="2556000" cy="612720"/>
            <a:chOff x="7557840" y="3697200"/>
            <a:chExt cx="2556000" cy="612720"/>
          </a:xfrm>
        </p:grpSpPr>
        <p:sp>
          <p:nvSpPr>
            <p:cNvPr id="145" name="Line 23"/>
            <p:cNvSpPr/>
            <p:nvPr/>
          </p:nvSpPr>
          <p:spPr>
            <a:xfrm flipV="1">
              <a:off x="7584840" y="3697200"/>
              <a:ext cx="2529000" cy="36180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46" name="Line 24"/>
            <p:cNvSpPr/>
            <p:nvPr/>
          </p:nvSpPr>
          <p:spPr>
            <a:xfrm flipV="1">
              <a:off x="7557840" y="3957480"/>
              <a:ext cx="2505240" cy="35244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</p:grpSp>
      <p:sp>
        <p:nvSpPr>
          <p:cNvPr id="147" name="Text Box 25"/>
          <p:cNvSpPr/>
          <p:nvPr/>
        </p:nvSpPr>
        <p:spPr>
          <a:xfrm rot="408600">
            <a:off x="8589960" y="3058920"/>
            <a:ext cx="1277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two segments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Box 26"/>
          <p:cNvSpPr/>
          <p:nvPr/>
        </p:nvSpPr>
        <p:spPr>
          <a:xfrm rot="408600">
            <a:off x="8682120" y="4073400"/>
            <a:ext cx="1306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four segments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9" name="Group 27"/>
          <p:cNvGrpSpPr/>
          <p:nvPr/>
        </p:nvGrpSpPr>
        <p:grpSpPr>
          <a:xfrm>
            <a:off x="7580160" y="4092480"/>
            <a:ext cx="2519280" cy="652320"/>
            <a:chOff x="7580160" y="4092480"/>
            <a:chExt cx="2519280" cy="652320"/>
          </a:xfrm>
        </p:grpSpPr>
        <p:sp>
          <p:nvSpPr>
            <p:cNvPr id="150" name="Line 28"/>
            <p:cNvSpPr/>
            <p:nvPr/>
          </p:nvSpPr>
          <p:spPr>
            <a:xfrm>
              <a:off x="7594560" y="4092480"/>
              <a:ext cx="2504880" cy="35244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51" name="Line 29"/>
            <p:cNvSpPr/>
            <p:nvPr/>
          </p:nvSpPr>
          <p:spPr>
            <a:xfrm>
              <a:off x="7580160" y="4187520"/>
              <a:ext cx="2504880" cy="35244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52" name="Line 30"/>
            <p:cNvSpPr/>
            <p:nvPr/>
          </p:nvSpPr>
          <p:spPr>
            <a:xfrm>
              <a:off x="7594560" y="4292280"/>
              <a:ext cx="2504880" cy="35244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53" name="Line 31"/>
            <p:cNvSpPr/>
            <p:nvPr/>
          </p:nvSpPr>
          <p:spPr>
            <a:xfrm>
              <a:off x="7584840" y="4392360"/>
              <a:ext cx="2505240" cy="35244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</p:grpSp>
      <p:grpSp>
        <p:nvGrpSpPr>
          <p:cNvPr id="154" name="Group 32"/>
          <p:cNvGrpSpPr/>
          <p:nvPr/>
        </p:nvGrpSpPr>
        <p:grpSpPr>
          <a:xfrm>
            <a:off x="7866000" y="4473360"/>
            <a:ext cx="2228760" cy="604800"/>
            <a:chOff x="7866000" y="4473360"/>
            <a:chExt cx="2228760" cy="604800"/>
          </a:xfrm>
        </p:grpSpPr>
        <p:sp>
          <p:nvSpPr>
            <p:cNvPr id="155" name="Line 33"/>
            <p:cNvSpPr/>
            <p:nvPr/>
          </p:nvSpPr>
          <p:spPr>
            <a:xfrm flipV="1">
              <a:off x="7878600" y="4751640"/>
              <a:ext cx="2216160" cy="32652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56" name="Line 34"/>
            <p:cNvSpPr/>
            <p:nvPr/>
          </p:nvSpPr>
          <p:spPr>
            <a:xfrm flipV="1">
              <a:off x="7866000" y="4665960"/>
              <a:ext cx="2216160" cy="32400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57" name="Line 35"/>
            <p:cNvSpPr/>
            <p:nvPr/>
          </p:nvSpPr>
          <p:spPr>
            <a:xfrm flipV="1">
              <a:off x="7878600" y="4565880"/>
              <a:ext cx="2216160" cy="32688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58" name="Line 36"/>
            <p:cNvSpPr/>
            <p:nvPr/>
          </p:nvSpPr>
          <p:spPr>
            <a:xfrm flipV="1">
              <a:off x="7869960" y="4473360"/>
              <a:ext cx="2216520" cy="326520"/>
            </a:xfrm>
            <a:prstGeom prst="line">
              <a:avLst/>
            </a:prstGeom>
            <a:ln w="28575">
              <a:solidFill>
                <a:srgbClr val="3333cc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</p:grpSp>
      <p:grpSp>
        <p:nvGrpSpPr>
          <p:cNvPr id="159" name="Group 43"/>
          <p:cNvGrpSpPr/>
          <p:nvPr/>
        </p:nvGrpSpPr>
        <p:grpSpPr>
          <a:xfrm>
            <a:off x="7142400" y="1492200"/>
            <a:ext cx="653760" cy="601200"/>
            <a:chOff x="7142400" y="1492200"/>
            <a:chExt cx="653760" cy="601200"/>
          </a:xfrm>
        </p:grpSpPr>
        <p:pic>
          <p:nvPicPr>
            <p:cNvPr id="160" name="Picture 44" descr="desktop_computer_stylized_medium"/>
            <p:cNvPicPr/>
            <p:nvPr/>
          </p:nvPicPr>
          <p:blipFill>
            <a:blip r:embed="rId1"/>
            <a:stretch/>
          </p:blipFill>
          <p:spPr>
            <a:xfrm flipH="1">
              <a:off x="7142400" y="1492200"/>
              <a:ext cx="653760" cy="601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1" name="Freeform 45"/>
            <p:cNvSpPr/>
            <p:nvPr/>
          </p:nvSpPr>
          <p:spPr>
            <a:xfrm flipH="1">
              <a:off x="7420680" y="1549800"/>
              <a:ext cx="317520" cy="275040"/>
            </a:xfrm>
            <a:custGeom>
              <a:avLst/>
              <a:gdLst>
                <a:gd name="textAreaLeft" fmla="*/ 360 w 317520"/>
                <a:gd name="textAreaRight" fmla="*/ 318240 w 317520"/>
                <a:gd name="textAreaTop" fmla="*/ 0 h 275040"/>
                <a:gd name="textAreaBottom" fmla="*/ 275400 h 275040"/>
                <a:gd name="GluePoint1X" fmla="*/ 0 w 356"/>
                <a:gd name="GluePoint1Y" fmla="*/ 0 h 368"/>
                <a:gd name="GluePoint2X" fmla="*/ 5595 w 356"/>
                <a:gd name="GluePoint2Y" fmla="*/ 341 h 368"/>
                <a:gd name="GluePoint3X" fmla="*/ 6638 w 356"/>
                <a:gd name="GluePoint3Y" fmla="*/ 7113 h 368"/>
                <a:gd name="GluePoint4X" fmla="*/ 1463 w 356"/>
                <a:gd name="GluePoint4Y" fmla="*/ 8895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</p:grpSp>
      <p:grpSp>
        <p:nvGrpSpPr>
          <p:cNvPr id="162" name="Group 46"/>
          <p:cNvGrpSpPr/>
          <p:nvPr/>
        </p:nvGrpSpPr>
        <p:grpSpPr>
          <a:xfrm>
            <a:off x="9877320" y="1506600"/>
            <a:ext cx="382320" cy="547200"/>
            <a:chOff x="9877320" y="1506600"/>
            <a:chExt cx="382320" cy="547200"/>
          </a:xfrm>
        </p:grpSpPr>
        <p:sp>
          <p:nvSpPr>
            <p:cNvPr id="163" name="Freeform 47"/>
            <p:cNvSpPr/>
            <p:nvPr/>
          </p:nvSpPr>
          <p:spPr>
            <a:xfrm>
              <a:off x="10180440" y="1507320"/>
              <a:ext cx="75600" cy="52236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522360"/>
                <a:gd name="textAreaBottom" fmla="*/ 522720 h 522360"/>
                <a:gd name="GluePoint1X" fmla="*/ 7 w 354"/>
                <a:gd name="GluePoint1Y" fmla="*/ 0 h 2742"/>
                <a:gd name="GluePoint2X" fmla="*/ 38 w 354"/>
                <a:gd name="GluePoint2Y" fmla="*/ 55 h 2742"/>
                <a:gd name="GluePoint3X" fmla="*/ 37 w 354"/>
                <a:gd name="GluePoint3Y" fmla="*/ 425 h 2742"/>
                <a:gd name="GluePoint4X" fmla="*/ 0 w 354"/>
                <a:gd name="GluePoint4Y" fmla="*/ 445 h 2742"/>
                <a:gd name="GluePoint5X" fmla="*/ 7 w 354"/>
                <a:gd name="GluePoint5Y" fmla="*/ 0 h 27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64" name="Rectangle 48"/>
            <p:cNvSpPr/>
            <p:nvPr/>
          </p:nvSpPr>
          <p:spPr>
            <a:xfrm>
              <a:off x="9894960" y="1506600"/>
              <a:ext cx="280800" cy="522000"/>
            </a:xfrm>
            <a:prstGeom prst="rect">
              <a:avLst/>
            </a:pr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65" name="Freeform 49"/>
            <p:cNvSpPr/>
            <p:nvPr/>
          </p:nvSpPr>
          <p:spPr>
            <a:xfrm>
              <a:off x="10194480" y="1538640"/>
              <a:ext cx="45000" cy="483120"/>
            </a:xfrm>
            <a:custGeom>
              <a:avLst/>
              <a:gdLst>
                <a:gd name="textAreaLeft" fmla="*/ 0 w 45000"/>
                <a:gd name="textAreaRight" fmla="*/ 45360 w 45000"/>
                <a:gd name="textAreaTop" fmla="*/ 0 h 483120"/>
                <a:gd name="textAreaBottom" fmla="*/ 483480 h 483120"/>
                <a:gd name="GluePoint1X" fmla="*/ 2 w 211"/>
                <a:gd name="GluePoint1Y" fmla="*/ 0 h 2537"/>
                <a:gd name="GluePoint2X" fmla="*/ 23 w 211"/>
                <a:gd name="GluePoint2Y" fmla="*/ 36 h 2537"/>
                <a:gd name="GluePoint3X" fmla="*/ 2 w 211"/>
                <a:gd name="GluePoint3Y" fmla="*/ 405 h 2537"/>
                <a:gd name="GluePoint4X" fmla="*/ 2 w 211"/>
                <a:gd name="GluePoint4Y" fmla="*/ 0 h 2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66" name="Freeform 50"/>
            <p:cNvSpPr/>
            <p:nvPr/>
          </p:nvSpPr>
          <p:spPr>
            <a:xfrm>
              <a:off x="10184400" y="1783440"/>
              <a:ext cx="70200" cy="4284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42840"/>
                <a:gd name="textAreaBottom" fmla="*/ 43200 h 42840"/>
                <a:gd name="GluePoint1X" fmla="*/ 2 w 328"/>
                <a:gd name="GluePoint1Y" fmla="*/ 0 h 226"/>
                <a:gd name="GluePoint2X" fmla="*/ 36 w 328"/>
                <a:gd name="GluePoint2Y" fmla="*/ 21 h 226"/>
                <a:gd name="GluePoint3X" fmla="*/ 36 w 328"/>
                <a:gd name="GluePoint3Y" fmla="*/ 38 h 226"/>
                <a:gd name="GluePoint4X" fmla="*/ 0 w 328"/>
                <a:gd name="GluePoint4Y" fmla="*/ 16 h 226"/>
                <a:gd name="GluePoint5X" fmla="*/ 2 w 328"/>
                <a:gd name="GluePoint5Y" fmla="*/ 0 h 2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" bIns="-1800" anchor="t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67" name="Rectangle 51"/>
            <p:cNvSpPr/>
            <p:nvPr/>
          </p:nvSpPr>
          <p:spPr>
            <a:xfrm>
              <a:off x="9896400" y="1566720"/>
              <a:ext cx="159840" cy="108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33840" bIns="-338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grpSp>
          <p:nvGrpSpPr>
            <p:cNvPr id="168" name="Group 52"/>
            <p:cNvGrpSpPr/>
            <p:nvPr/>
          </p:nvGrpSpPr>
          <p:grpSpPr>
            <a:xfrm>
              <a:off x="10040760" y="1560240"/>
              <a:ext cx="155160" cy="33120"/>
              <a:chOff x="10040760" y="1560240"/>
              <a:chExt cx="155160" cy="33120"/>
            </a:xfrm>
          </p:grpSpPr>
          <p:sp>
            <p:nvSpPr>
              <p:cNvPr id="169" name="AutoShape 53"/>
              <p:cNvSpPr/>
              <p:nvPr/>
            </p:nvSpPr>
            <p:spPr>
              <a:xfrm>
                <a:off x="10040760" y="1560240"/>
                <a:ext cx="155160" cy="33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1240" bIns="-2124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Tahoma"/>
                  <a:ea typeface="ＭＳ Ｐゴシック"/>
                </a:endParaRPr>
              </a:p>
            </p:txBody>
          </p:sp>
          <p:sp>
            <p:nvSpPr>
              <p:cNvPr id="170" name="AutoShape 54"/>
              <p:cNvSpPr/>
              <p:nvPr/>
            </p:nvSpPr>
            <p:spPr>
              <a:xfrm>
                <a:off x="10044000" y="1563840"/>
                <a:ext cx="149040" cy="2520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000" bIns="-27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Tahoma"/>
                  <a:ea typeface="ＭＳ Ｐゴシック"/>
                </a:endParaRPr>
              </a:p>
            </p:txBody>
          </p:sp>
        </p:grpSp>
        <p:sp>
          <p:nvSpPr>
            <p:cNvPr id="171" name="Rectangle 55"/>
            <p:cNvSpPr/>
            <p:nvPr/>
          </p:nvSpPr>
          <p:spPr>
            <a:xfrm>
              <a:off x="9899640" y="1641240"/>
              <a:ext cx="159840" cy="108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33840" bIns="-338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grpSp>
          <p:nvGrpSpPr>
            <p:cNvPr id="172" name="Group 56"/>
            <p:cNvGrpSpPr/>
            <p:nvPr/>
          </p:nvGrpSpPr>
          <p:grpSpPr>
            <a:xfrm>
              <a:off x="10041120" y="1635120"/>
              <a:ext cx="155160" cy="31320"/>
              <a:chOff x="10041120" y="1635120"/>
              <a:chExt cx="155160" cy="31320"/>
            </a:xfrm>
          </p:grpSpPr>
          <p:sp>
            <p:nvSpPr>
              <p:cNvPr id="173" name="AutoShape 57"/>
              <p:cNvSpPr/>
              <p:nvPr/>
            </p:nvSpPr>
            <p:spPr>
              <a:xfrm>
                <a:off x="10041120" y="1635120"/>
                <a:ext cx="155160" cy="313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2320" bIns="-2232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Tahoma"/>
                  <a:ea typeface="ＭＳ Ｐゴシック"/>
                </a:endParaRPr>
              </a:p>
            </p:txBody>
          </p:sp>
          <p:sp>
            <p:nvSpPr>
              <p:cNvPr id="174" name="AutoShape 58"/>
              <p:cNvSpPr/>
              <p:nvPr/>
            </p:nvSpPr>
            <p:spPr>
              <a:xfrm>
                <a:off x="10044000" y="1638360"/>
                <a:ext cx="149040" cy="248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360" bIns="-2736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Tahoma"/>
                  <a:ea typeface="ＭＳ Ｐゴシック"/>
                </a:endParaRPr>
              </a:p>
            </p:txBody>
          </p:sp>
        </p:grpSp>
        <p:sp>
          <p:nvSpPr>
            <p:cNvPr id="175" name="Rectangle 59"/>
            <p:cNvSpPr/>
            <p:nvPr/>
          </p:nvSpPr>
          <p:spPr>
            <a:xfrm>
              <a:off x="9898200" y="1719360"/>
              <a:ext cx="159840" cy="936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35280" bIns="-352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76" name="Rectangle 60"/>
            <p:cNvSpPr/>
            <p:nvPr/>
          </p:nvSpPr>
          <p:spPr>
            <a:xfrm>
              <a:off x="9901440" y="1787400"/>
              <a:ext cx="159840" cy="936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35280" bIns="-3528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grpSp>
          <p:nvGrpSpPr>
            <p:cNvPr id="177" name="Group 61"/>
            <p:cNvGrpSpPr/>
            <p:nvPr/>
          </p:nvGrpSpPr>
          <p:grpSpPr>
            <a:xfrm>
              <a:off x="10037880" y="1780920"/>
              <a:ext cx="155160" cy="32760"/>
              <a:chOff x="10037880" y="1780920"/>
              <a:chExt cx="155160" cy="32760"/>
            </a:xfrm>
          </p:grpSpPr>
          <p:sp>
            <p:nvSpPr>
              <p:cNvPr id="178" name="AutoShape 62"/>
              <p:cNvSpPr/>
              <p:nvPr/>
            </p:nvSpPr>
            <p:spPr>
              <a:xfrm>
                <a:off x="10037880" y="1780920"/>
                <a:ext cx="155160" cy="3276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1600" bIns="-216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Tahoma"/>
                  <a:ea typeface="ＭＳ Ｐゴシック"/>
                </a:endParaRPr>
              </a:p>
            </p:txBody>
          </p:sp>
          <p:sp>
            <p:nvSpPr>
              <p:cNvPr id="179" name="AutoShape 63"/>
              <p:cNvSpPr/>
              <p:nvPr/>
            </p:nvSpPr>
            <p:spPr>
              <a:xfrm>
                <a:off x="10040760" y="1784160"/>
                <a:ext cx="148680" cy="248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360" bIns="-2736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Tahoma"/>
                  <a:ea typeface="ＭＳ Ｐゴシック"/>
                </a:endParaRPr>
              </a:p>
            </p:txBody>
          </p:sp>
        </p:grpSp>
        <p:sp>
          <p:nvSpPr>
            <p:cNvPr id="180" name="Freeform 64"/>
            <p:cNvSpPr/>
            <p:nvPr/>
          </p:nvSpPr>
          <p:spPr>
            <a:xfrm>
              <a:off x="10185480" y="1717920"/>
              <a:ext cx="70200" cy="4248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42480"/>
                <a:gd name="textAreaBottom" fmla="*/ 42840 h 42480"/>
                <a:gd name="GluePoint1X" fmla="*/ 2 w 328"/>
                <a:gd name="GluePoint1Y" fmla="*/ 0 h 226"/>
                <a:gd name="GluePoint2X" fmla="*/ 36 w 328"/>
                <a:gd name="GluePoint2Y" fmla="*/ 20 h 226"/>
                <a:gd name="GluePoint3X" fmla="*/ 36 w 328"/>
                <a:gd name="GluePoint3Y" fmla="*/ 36 h 226"/>
                <a:gd name="GluePoint4X" fmla="*/ 0 w 328"/>
                <a:gd name="GluePoint4Y" fmla="*/ 15 h 226"/>
                <a:gd name="GluePoint5X" fmla="*/ 2 w 328"/>
                <a:gd name="GluePoint5Y" fmla="*/ 0 h 2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" bIns="-2160" anchor="t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grpSp>
          <p:nvGrpSpPr>
            <p:cNvPr id="181" name="Group 65"/>
            <p:cNvGrpSpPr/>
            <p:nvPr/>
          </p:nvGrpSpPr>
          <p:grpSpPr>
            <a:xfrm>
              <a:off x="10037880" y="1711440"/>
              <a:ext cx="156600" cy="31320"/>
              <a:chOff x="10037880" y="1711440"/>
              <a:chExt cx="156600" cy="31320"/>
            </a:xfrm>
          </p:grpSpPr>
          <p:sp>
            <p:nvSpPr>
              <p:cNvPr id="182" name="AutoShape 66"/>
              <p:cNvSpPr/>
              <p:nvPr/>
            </p:nvSpPr>
            <p:spPr>
              <a:xfrm>
                <a:off x="10037880" y="1711440"/>
                <a:ext cx="156600" cy="313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2320" bIns="-2232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Tahoma"/>
                  <a:ea typeface="ＭＳ Ｐゴシック"/>
                </a:endParaRPr>
              </a:p>
            </p:txBody>
          </p:sp>
          <p:sp>
            <p:nvSpPr>
              <p:cNvPr id="183" name="AutoShape 67"/>
              <p:cNvSpPr/>
              <p:nvPr/>
            </p:nvSpPr>
            <p:spPr>
              <a:xfrm>
                <a:off x="10040760" y="1714680"/>
                <a:ext cx="150480" cy="2484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360" bIns="-2736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Tahoma"/>
                  <a:ea typeface="ＭＳ Ｐゴシック"/>
                </a:endParaRPr>
              </a:p>
            </p:txBody>
          </p:sp>
        </p:grpSp>
        <p:sp>
          <p:nvSpPr>
            <p:cNvPr id="184" name="Rectangle 68"/>
            <p:cNvSpPr/>
            <p:nvPr/>
          </p:nvSpPr>
          <p:spPr>
            <a:xfrm>
              <a:off x="10176120" y="1506600"/>
              <a:ext cx="16920" cy="523440"/>
            </a:xfrm>
            <a:prstGeom prst="rect">
              <a:avLst/>
            </a:prstGeom>
            <a:gradFill rotWithShape="0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85" name="Freeform 69"/>
            <p:cNvSpPr/>
            <p:nvPr/>
          </p:nvSpPr>
          <p:spPr>
            <a:xfrm>
              <a:off x="10191960" y="1638720"/>
              <a:ext cx="63360" cy="48240"/>
            </a:xfrm>
            <a:custGeom>
              <a:avLst/>
              <a:gdLst>
                <a:gd name="textAreaLeft" fmla="*/ 0 w 63360"/>
                <a:gd name="textAreaRight" fmla="*/ 63720 w 63360"/>
                <a:gd name="textAreaTop" fmla="*/ 0 h 48240"/>
                <a:gd name="textAreaBottom" fmla="*/ 48600 h 48240"/>
                <a:gd name="GluePoint1X" fmla="*/ 2 w 296"/>
                <a:gd name="GluePoint1Y" fmla="*/ 0 h 256"/>
                <a:gd name="GluePoint2X" fmla="*/ 32 w 296"/>
                <a:gd name="GluePoint2Y" fmla="*/ 22 h 256"/>
                <a:gd name="GluePoint3X" fmla="*/ 32 w 296"/>
                <a:gd name="GluePoint3Y" fmla="*/ 41 h 256"/>
                <a:gd name="GluePoint4X" fmla="*/ 0 w 296"/>
                <a:gd name="GluePoint4Y" fmla="*/ 15 h 256"/>
                <a:gd name="GluePoint5X" fmla="*/ 2 w 296"/>
                <a:gd name="GluePoint5Y" fmla="*/ 0 h 25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0" bIns="3600" anchor="t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86" name="Freeform 70"/>
            <p:cNvSpPr/>
            <p:nvPr/>
          </p:nvSpPr>
          <p:spPr>
            <a:xfrm>
              <a:off x="10193040" y="1563840"/>
              <a:ext cx="65160" cy="5436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54360"/>
                <a:gd name="textAreaBottom" fmla="*/ 54720 h 54360"/>
                <a:gd name="GluePoint1X" fmla="*/ 0 w 304"/>
                <a:gd name="GluePoint1Y" fmla="*/ 0 h 288"/>
                <a:gd name="GluePoint2X" fmla="*/ 34 w 304"/>
                <a:gd name="GluePoint2Y" fmla="*/ 27 h 288"/>
                <a:gd name="GluePoint3X" fmla="*/ 31 w 304"/>
                <a:gd name="GluePoint3Y" fmla="*/ 48 h 288"/>
                <a:gd name="GluePoint4X" fmla="*/ 2 w 304"/>
                <a:gd name="GluePoint4Y" fmla="*/ 20 h 288"/>
                <a:gd name="GluePoint5X" fmla="*/ 0 w 304"/>
                <a:gd name="GluePoint5Y" fmla="*/ 0 h 2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720" bIns="9720" anchor="t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87" name="Oval 71"/>
            <p:cNvSpPr/>
            <p:nvPr/>
          </p:nvSpPr>
          <p:spPr>
            <a:xfrm>
              <a:off x="10247400" y="2005200"/>
              <a:ext cx="12240" cy="21960"/>
            </a:xfrm>
            <a:prstGeom prst="ellipse">
              <a:avLst/>
            </a:prstGeom>
            <a:solidFill>
              <a:srgbClr val="33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9520" bIns="-2952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88" name="Freeform 72"/>
            <p:cNvSpPr/>
            <p:nvPr/>
          </p:nvSpPr>
          <p:spPr>
            <a:xfrm>
              <a:off x="10189440" y="2005920"/>
              <a:ext cx="65520" cy="45360"/>
            </a:xfrm>
            <a:custGeom>
              <a:avLst/>
              <a:gdLst>
                <a:gd name="textAreaLeft" fmla="*/ 0 w 65520"/>
                <a:gd name="textAreaRight" fmla="*/ 65880 w 65520"/>
                <a:gd name="textAreaTop" fmla="*/ 0 h 45360"/>
                <a:gd name="textAreaBottom" fmla="*/ 45720 h 45360"/>
                <a:gd name="GluePoint1X" fmla="*/ 0 w 306"/>
                <a:gd name="GluePoint1Y" fmla="*/ 18 h 240"/>
                <a:gd name="GluePoint2X" fmla="*/ 2 w 306"/>
                <a:gd name="GluePoint2Y" fmla="*/ 40 h 240"/>
                <a:gd name="GluePoint3X" fmla="*/ 34 w 306"/>
                <a:gd name="GluePoint3Y" fmla="*/ 18 h 240"/>
                <a:gd name="GluePoint4X" fmla="*/ 32 w 306"/>
                <a:gd name="GluePoint4Y" fmla="*/ 0 h 240"/>
                <a:gd name="GluePoint5X" fmla="*/ 0 w 306"/>
                <a:gd name="GluePoint5Y" fmla="*/ 18 h 2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" bIns="720" anchor="t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89" name="AutoShape 73"/>
            <p:cNvSpPr/>
            <p:nvPr/>
          </p:nvSpPr>
          <p:spPr>
            <a:xfrm>
              <a:off x="9877320" y="2020680"/>
              <a:ext cx="321840" cy="3312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1240" bIns="-21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90" name="AutoShape 74"/>
            <p:cNvSpPr/>
            <p:nvPr/>
          </p:nvSpPr>
          <p:spPr>
            <a:xfrm>
              <a:off x="9894960" y="2028960"/>
              <a:ext cx="286920" cy="1692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33120" bIns="-3312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91" name="Oval 75"/>
            <p:cNvSpPr/>
            <p:nvPr/>
          </p:nvSpPr>
          <p:spPr>
            <a:xfrm>
              <a:off x="9921960" y="1952640"/>
              <a:ext cx="42480" cy="3312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1240" bIns="-212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92" name="Oval 76"/>
            <p:cNvSpPr/>
            <p:nvPr/>
          </p:nvSpPr>
          <p:spPr>
            <a:xfrm>
              <a:off x="9971280" y="1954080"/>
              <a:ext cx="42480" cy="31320"/>
            </a:xfrm>
            <a:prstGeom prst="ellipse">
              <a:avLst/>
            </a:pr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2320" bIns="-2232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93" name="Oval 77"/>
            <p:cNvSpPr/>
            <p:nvPr/>
          </p:nvSpPr>
          <p:spPr>
            <a:xfrm>
              <a:off x="10017000" y="1952640"/>
              <a:ext cx="42480" cy="3132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22320" bIns="-2232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  <p:sp>
          <p:nvSpPr>
            <p:cNvPr id="194" name="Rectangle 78"/>
            <p:cNvSpPr/>
            <p:nvPr/>
          </p:nvSpPr>
          <p:spPr>
            <a:xfrm>
              <a:off x="10125000" y="1827360"/>
              <a:ext cx="21960" cy="17424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</p:grpSp>
      <p:sp>
        <p:nvSpPr>
          <p:cNvPr id="195" name="Rectangle 3"/>
          <p:cNvSpPr/>
          <p:nvPr/>
        </p:nvSpPr>
        <p:spPr>
          <a:xfrm>
            <a:off x="1168560" y="4597560"/>
            <a:ext cx="511776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93840" indent="-2635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i="1" lang="en-US" sz="3200" strike="noStrike" u="none">
                <a:solidFill>
                  <a:srgbClr val="cc0000"/>
                </a:solidFill>
                <a:effectLst/>
                <a:uFillTx/>
                <a:latin typeface="Calibri"/>
              </a:rPr>
              <a:t>summary: 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initial rate is slow, but ramps up exponentially fast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sldNum" idx="43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rPr>
              <a:t>Transport Layer: 3-</a:t>
            </a:r>
            <a:fld id="{6CD367CD-91BB-492A-9AAE-DE061FA8B2AF}" type="slidenum">
              <a: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rPr>
              <a:t>3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9" dur="indefinite" restart="never" nodeType="tmRoot">
          <p:childTnLst>
            <p:seq>
              <p:cTn id="90" dur="indefinite" nodeType="mainSeq">
                <p:childTnLst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0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1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2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500"/>
                            </p:stCondLst>
                            <p:childTnLst>
                              <p:par>
                                <p:cTn id="127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2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4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812880" y="246600"/>
            <a:ext cx="1139292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00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8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TCP: from slow start to congestion avoidance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ectangle 3"/>
          <p:cNvSpPr/>
          <p:nvPr/>
        </p:nvSpPr>
        <p:spPr>
          <a:xfrm>
            <a:off x="952560" y="1382760"/>
            <a:ext cx="505440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US" sz="2800" strike="noStrike" u="none">
                <a:solidFill>
                  <a:srgbClr val="c00000"/>
                </a:solidFill>
                <a:effectLst/>
                <a:uFillTx/>
                <a:latin typeface="Calibri"/>
              </a:rPr>
              <a:t>Q: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when should the exponential increase switch to linear?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US" sz="2800" strike="noStrike" u="none">
                <a:solidFill>
                  <a:srgbClr val="c00000"/>
                </a:solidFill>
                <a:effectLst/>
                <a:uFillTx/>
                <a:latin typeface="Calibri"/>
              </a:rPr>
              <a:t>A: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when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Courier New"/>
              </a:rPr>
              <a:t>cwnd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gets to 1/2 of its value before timeout.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4"/>
          <p:cNvSpPr/>
          <p:nvPr/>
        </p:nvSpPr>
        <p:spPr>
          <a:xfrm>
            <a:off x="952560" y="3529080"/>
            <a:ext cx="492732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200" strike="noStrike" u="none">
                <a:solidFill>
                  <a:srgbClr val="c00000"/>
                </a:solidFill>
                <a:effectLst/>
                <a:uFillTx/>
                <a:latin typeface="Calibri"/>
              </a:rPr>
              <a:t>Implementation: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variable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urier New"/>
              </a:rPr>
              <a:t>ssthresh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 loss event,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urier New"/>
              </a:rPr>
              <a:t>ssthresh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is set to 1/2 of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urier New"/>
              </a:rPr>
              <a:t>cwnd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just before loss event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Picture 7" descr=""/>
          <p:cNvPicPr/>
          <p:nvPr/>
        </p:nvPicPr>
        <p:blipFill>
          <a:blip r:embed="rId1"/>
          <a:stretch/>
        </p:blipFill>
        <p:spPr>
          <a:xfrm>
            <a:off x="6021360" y="1889280"/>
            <a:ext cx="5536440" cy="315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Rectangle 6"/>
          <p:cNvSpPr/>
          <p:nvPr/>
        </p:nvSpPr>
        <p:spPr>
          <a:xfrm>
            <a:off x="7851600" y="3825720"/>
            <a:ext cx="850680" cy="199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202" name="Rectangle 11"/>
          <p:cNvSpPr/>
          <p:nvPr/>
        </p:nvSpPr>
        <p:spPr>
          <a:xfrm>
            <a:off x="7677000" y="3924360"/>
            <a:ext cx="850680" cy="45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pic>
        <p:nvPicPr>
          <p:cNvPr id="203" name="Picture 7" descr=""/>
          <p:cNvPicPr/>
          <p:nvPr/>
        </p:nvPicPr>
        <p:blipFill>
          <a:blip r:embed="rId2"/>
          <a:stretch/>
        </p:blipFill>
        <p:spPr>
          <a:xfrm>
            <a:off x="10020240" y="3804480"/>
            <a:ext cx="100296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Rectangle 3"/>
          <p:cNvSpPr/>
          <p:nvPr/>
        </p:nvSpPr>
        <p:spPr>
          <a:xfrm>
            <a:off x="9194760" y="1892160"/>
            <a:ext cx="2133360" cy="2488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4"/>
          <p:cNvSpPr/>
          <p:nvPr/>
        </p:nvSpPr>
        <p:spPr>
          <a:xfrm>
            <a:off x="9067680" y="2197080"/>
            <a:ext cx="3110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X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ldNum" idx="44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rPr>
              <a:t>Transport Layer: 3-</a:t>
            </a:r>
            <a:fld id="{71AC0AC1-4BA0-4B1A-92E4-F3511B6FA6D5}" type="slidenum">
              <a: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rPr>
              <a:t>4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5" dur="indefinite" restart="never" nodeType="tmRoot">
          <p:childTnLst>
            <p:seq>
              <p:cTn id="136" dur="indefinite" nodeType="mainSeq">
                <p:childTnLst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14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roup 102"/>
          <p:cNvGrpSpPr/>
          <p:nvPr/>
        </p:nvGrpSpPr>
        <p:grpSpPr>
          <a:xfrm>
            <a:off x="7593840" y="3434400"/>
            <a:ext cx="1100520" cy="718560"/>
            <a:chOff x="7593840" y="3434400"/>
            <a:chExt cx="1100520" cy="718560"/>
          </a:xfrm>
        </p:grpSpPr>
        <p:sp>
          <p:nvSpPr>
            <p:cNvPr id="208" name="Freeform 103"/>
            <p:cNvSpPr/>
            <p:nvPr/>
          </p:nvSpPr>
          <p:spPr>
            <a:xfrm>
              <a:off x="7593840" y="3683160"/>
              <a:ext cx="1100520" cy="469800"/>
            </a:xfrm>
            <a:custGeom>
              <a:avLst/>
              <a:gdLst>
                <a:gd name="textAreaLeft" fmla="*/ 0 w 1100520"/>
                <a:gd name="textAreaRight" fmla="*/ 1100880 w 1100520"/>
                <a:gd name="textAreaTop" fmla="*/ 0 h 469800"/>
                <a:gd name="textAreaBottom" fmla="*/ 470160 h 4698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Oval 104"/>
            <p:cNvSpPr/>
            <p:nvPr/>
          </p:nvSpPr>
          <p:spPr>
            <a:xfrm>
              <a:off x="7594560" y="3434400"/>
              <a:ext cx="1099080" cy="46512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0" name="Group 105"/>
            <p:cNvGrpSpPr/>
            <p:nvPr/>
          </p:nvGrpSpPr>
          <p:grpSpPr>
            <a:xfrm>
              <a:off x="7756920" y="3493440"/>
              <a:ext cx="773640" cy="341640"/>
              <a:chOff x="7756920" y="3493440"/>
              <a:chExt cx="773640" cy="341640"/>
            </a:xfrm>
          </p:grpSpPr>
          <p:sp>
            <p:nvSpPr>
              <p:cNvPr id="211" name="Freeform 106"/>
              <p:cNvSpPr/>
              <p:nvPr/>
            </p:nvSpPr>
            <p:spPr>
              <a:xfrm>
                <a:off x="7778520" y="3493440"/>
                <a:ext cx="731880" cy="191160"/>
              </a:xfrm>
              <a:custGeom>
                <a:avLst/>
                <a:gdLst>
                  <a:gd name="textAreaLeft" fmla="*/ 0 w 731880"/>
                  <a:gd name="textAreaRight" fmla="*/ 732240 w 731880"/>
                  <a:gd name="textAreaTop" fmla="*/ 0 h 191160"/>
                  <a:gd name="textAreaBottom" fmla="*/ 191520 h 1911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12" name="Freeform 107"/>
              <p:cNvSpPr/>
              <p:nvPr/>
            </p:nvSpPr>
            <p:spPr>
              <a:xfrm>
                <a:off x="8257680" y="3657240"/>
                <a:ext cx="272880" cy="164520"/>
              </a:xfrm>
              <a:custGeom>
                <a:avLst/>
                <a:gdLst>
                  <a:gd name="textAreaLeft" fmla="*/ 0 w 272880"/>
                  <a:gd name="textAreaRight" fmla="*/ 273240 w 272880"/>
                  <a:gd name="textAreaTop" fmla="*/ 0 h 164520"/>
                  <a:gd name="textAreaBottom" fmla="*/ 164880 h 16452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13" name="Freeform 108"/>
              <p:cNvSpPr/>
              <p:nvPr/>
            </p:nvSpPr>
            <p:spPr>
              <a:xfrm>
                <a:off x="7756920" y="3657240"/>
                <a:ext cx="268200" cy="162720"/>
              </a:xfrm>
              <a:custGeom>
                <a:avLst/>
                <a:gdLst>
                  <a:gd name="textAreaLeft" fmla="*/ 0 w 268200"/>
                  <a:gd name="textAreaRight" fmla="*/ 268560 w 268200"/>
                  <a:gd name="textAreaTop" fmla="*/ 0 h 162720"/>
                  <a:gd name="textAreaBottom" fmla="*/ 163080 h 16272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14" name="Freeform 109"/>
              <p:cNvSpPr/>
              <p:nvPr/>
            </p:nvSpPr>
            <p:spPr>
              <a:xfrm>
                <a:off x="7850160" y="3576600"/>
                <a:ext cx="583200" cy="258480"/>
              </a:xfrm>
              <a:custGeom>
                <a:avLst/>
                <a:gdLst>
                  <a:gd name="textAreaLeft" fmla="*/ 0 w 583200"/>
                  <a:gd name="textAreaRight" fmla="*/ 583560 w 583200"/>
                  <a:gd name="textAreaTop" fmla="*/ 0 h 258480"/>
                  <a:gd name="textAreaBottom" fmla="*/ 258840 h 25848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215" name="Group 94"/>
          <p:cNvGrpSpPr/>
          <p:nvPr/>
        </p:nvGrpSpPr>
        <p:grpSpPr>
          <a:xfrm>
            <a:off x="5720040" y="3438720"/>
            <a:ext cx="1100520" cy="718560"/>
            <a:chOff x="5720040" y="3438720"/>
            <a:chExt cx="1100520" cy="718560"/>
          </a:xfrm>
        </p:grpSpPr>
        <p:sp>
          <p:nvSpPr>
            <p:cNvPr id="216" name="Freeform 95"/>
            <p:cNvSpPr/>
            <p:nvPr/>
          </p:nvSpPr>
          <p:spPr>
            <a:xfrm>
              <a:off x="5720040" y="3687480"/>
              <a:ext cx="1100520" cy="469800"/>
            </a:xfrm>
            <a:custGeom>
              <a:avLst/>
              <a:gdLst>
                <a:gd name="textAreaLeft" fmla="*/ 0 w 1100520"/>
                <a:gd name="textAreaRight" fmla="*/ 1100880 w 1100520"/>
                <a:gd name="textAreaTop" fmla="*/ 0 h 469800"/>
                <a:gd name="textAreaBottom" fmla="*/ 470160 h 4698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Oval 96"/>
            <p:cNvSpPr/>
            <p:nvPr/>
          </p:nvSpPr>
          <p:spPr>
            <a:xfrm>
              <a:off x="5720760" y="3438720"/>
              <a:ext cx="1099080" cy="46512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8" name="Group 97"/>
            <p:cNvGrpSpPr/>
            <p:nvPr/>
          </p:nvGrpSpPr>
          <p:grpSpPr>
            <a:xfrm>
              <a:off x="5883480" y="3497760"/>
              <a:ext cx="773640" cy="341640"/>
              <a:chOff x="5883480" y="3497760"/>
              <a:chExt cx="773640" cy="341640"/>
            </a:xfrm>
          </p:grpSpPr>
          <p:sp>
            <p:nvSpPr>
              <p:cNvPr id="219" name="Freeform 98"/>
              <p:cNvSpPr/>
              <p:nvPr/>
            </p:nvSpPr>
            <p:spPr>
              <a:xfrm>
                <a:off x="5904720" y="3497760"/>
                <a:ext cx="731880" cy="191160"/>
              </a:xfrm>
              <a:custGeom>
                <a:avLst/>
                <a:gdLst>
                  <a:gd name="textAreaLeft" fmla="*/ 0 w 731880"/>
                  <a:gd name="textAreaRight" fmla="*/ 732240 w 731880"/>
                  <a:gd name="textAreaTop" fmla="*/ 0 h 191160"/>
                  <a:gd name="textAreaBottom" fmla="*/ 191520 h 19116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20" name="Freeform 99"/>
              <p:cNvSpPr/>
              <p:nvPr/>
            </p:nvSpPr>
            <p:spPr>
              <a:xfrm>
                <a:off x="6384240" y="3661560"/>
                <a:ext cx="272880" cy="164520"/>
              </a:xfrm>
              <a:custGeom>
                <a:avLst/>
                <a:gdLst>
                  <a:gd name="textAreaLeft" fmla="*/ 0 w 272880"/>
                  <a:gd name="textAreaRight" fmla="*/ 273240 w 272880"/>
                  <a:gd name="textAreaTop" fmla="*/ 0 h 164520"/>
                  <a:gd name="textAreaBottom" fmla="*/ 164880 h 16452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21" name="Freeform 100"/>
              <p:cNvSpPr/>
              <p:nvPr/>
            </p:nvSpPr>
            <p:spPr>
              <a:xfrm>
                <a:off x="5883480" y="3661560"/>
                <a:ext cx="268200" cy="162720"/>
              </a:xfrm>
              <a:custGeom>
                <a:avLst/>
                <a:gdLst>
                  <a:gd name="textAreaLeft" fmla="*/ 0 w 268200"/>
                  <a:gd name="textAreaRight" fmla="*/ 268560 w 268200"/>
                  <a:gd name="textAreaTop" fmla="*/ 0 h 162720"/>
                  <a:gd name="textAreaBottom" fmla="*/ 163080 h 16272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22" name="Freeform 101"/>
              <p:cNvSpPr/>
              <p:nvPr/>
            </p:nvSpPr>
            <p:spPr>
              <a:xfrm>
                <a:off x="5976720" y="3580920"/>
                <a:ext cx="583200" cy="258480"/>
              </a:xfrm>
              <a:custGeom>
                <a:avLst/>
                <a:gdLst>
                  <a:gd name="textAreaLeft" fmla="*/ 0 w 583200"/>
                  <a:gd name="textAreaRight" fmla="*/ 583560 w 583200"/>
                  <a:gd name="textAreaTop" fmla="*/ 0 h 258480"/>
                  <a:gd name="textAreaBottom" fmla="*/ 258840 h 25848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798840" y="271800"/>
            <a:ext cx="1139292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8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TCP fairness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4" name="Rectangle 4"/>
          <p:cNvSpPr/>
          <p:nvPr/>
        </p:nvSpPr>
        <p:spPr>
          <a:xfrm>
            <a:off x="876240" y="1271160"/>
            <a:ext cx="10173960" cy="10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1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200" strike="noStrike" u="none">
                <a:solidFill>
                  <a:srgbClr val="cc0000"/>
                </a:solidFill>
                <a:effectLst/>
                <a:uFillTx/>
                <a:latin typeface="Calibri"/>
              </a:rPr>
              <a:t>Fairness goal: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if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K 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TCP sessions share same bottleneck link of bandwidth 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 each should have average rate of </a:t>
            </a:r>
            <a:r>
              <a:rPr b="0" i="1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R/K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Line 68"/>
          <p:cNvSpPr/>
          <p:nvPr/>
        </p:nvSpPr>
        <p:spPr>
          <a:xfrm flipV="1">
            <a:off x="6815880" y="3752640"/>
            <a:ext cx="819360" cy="900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226" name="Rectangle 25"/>
          <p:cNvSpPr/>
          <p:nvPr/>
        </p:nvSpPr>
        <p:spPr>
          <a:xfrm>
            <a:off x="6986520" y="3552840"/>
            <a:ext cx="147240" cy="199800"/>
          </a:xfrm>
          <a:prstGeom prst="rect">
            <a:avLst/>
          </a:prstGeom>
          <a:solidFill>
            <a:srgbClr val="0099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227" name="Rectangle 26"/>
          <p:cNvSpPr/>
          <p:nvPr/>
        </p:nvSpPr>
        <p:spPr>
          <a:xfrm>
            <a:off x="6296040" y="3614760"/>
            <a:ext cx="147240" cy="199800"/>
          </a:xfrm>
          <a:prstGeom prst="rect">
            <a:avLst/>
          </a:prstGeom>
          <a:solidFill>
            <a:srgbClr val="0099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228" name="Rectangle 27"/>
          <p:cNvSpPr/>
          <p:nvPr/>
        </p:nvSpPr>
        <p:spPr>
          <a:xfrm>
            <a:off x="6586560" y="3552840"/>
            <a:ext cx="147240" cy="199800"/>
          </a:xfrm>
          <a:prstGeom prst="rect">
            <a:avLst/>
          </a:prstGeom>
          <a:solidFill>
            <a:srgbClr val="00990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229" name="Text Box 28"/>
          <p:cNvSpPr/>
          <p:nvPr/>
        </p:nvSpPr>
        <p:spPr>
          <a:xfrm>
            <a:off x="2370600" y="2468160"/>
            <a:ext cx="23378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TCP connection 1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Box 29"/>
          <p:cNvSpPr/>
          <p:nvPr/>
        </p:nvSpPr>
        <p:spPr>
          <a:xfrm>
            <a:off x="5510880" y="4275360"/>
            <a:ext cx="1518480" cy="10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bottleneck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router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capacity 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Freeform 40"/>
          <p:cNvSpPr/>
          <p:nvPr/>
        </p:nvSpPr>
        <p:spPr>
          <a:xfrm>
            <a:off x="4765680" y="2967840"/>
            <a:ext cx="4227120" cy="718920"/>
          </a:xfrm>
          <a:custGeom>
            <a:avLst/>
            <a:gdLst>
              <a:gd name="textAreaLeft" fmla="*/ 0 w 4227120"/>
              <a:gd name="textAreaRight" fmla="*/ 4227480 w 4227120"/>
              <a:gd name="textAreaTop" fmla="*/ 0 h 718920"/>
              <a:gd name="textAreaBottom" fmla="*/ 719280 h 718920"/>
              <a:gd name="GluePoint1X" fmla="*/ 0 w 2412"/>
              <a:gd name="GluePoint1Y" fmla="*/ 0 h 453"/>
              <a:gd name="GluePoint2X" fmla="*/ 2147483647 w 2412"/>
              <a:gd name="GluePoint2Y" fmla="*/ 2147483647 h 453"/>
              <a:gd name="GluePoint3X" fmla="*/ 2147483647 w 2412"/>
              <a:gd name="GluePoint3Y" fmla="*/ 2147483647 h 45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412" h="453">
                <a:moveTo>
                  <a:pt x="0" y="0"/>
                </a:moveTo>
                <a:cubicBezTo>
                  <a:pt x="93" y="65"/>
                  <a:pt x="156" y="318"/>
                  <a:pt x="558" y="390"/>
                </a:cubicBezTo>
                <a:cubicBezTo>
                  <a:pt x="959" y="453"/>
                  <a:pt x="2026" y="423"/>
                  <a:pt x="2412" y="432"/>
                </a:cubicBezTo>
              </a:path>
            </a:pathLst>
          </a:custGeom>
          <a:noFill/>
          <a:ln w="38100">
            <a:solidFill>
              <a:srgbClr val="00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232" name="Rectangle 41"/>
          <p:cNvSpPr/>
          <p:nvPr/>
        </p:nvSpPr>
        <p:spPr>
          <a:xfrm>
            <a:off x="6458040" y="3614760"/>
            <a:ext cx="147240" cy="199800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233" name="Freeform 42"/>
          <p:cNvSpPr/>
          <p:nvPr/>
        </p:nvSpPr>
        <p:spPr>
          <a:xfrm>
            <a:off x="4724280" y="3763800"/>
            <a:ext cx="4268160" cy="718920"/>
          </a:xfrm>
          <a:custGeom>
            <a:avLst/>
            <a:gdLst>
              <a:gd name="textAreaLeft" fmla="*/ 0 w 4268160"/>
              <a:gd name="textAreaRight" fmla="*/ 4268520 w 4268160"/>
              <a:gd name="textAreaTop" fmla="*/ 0 h 718920"/>
              <a:gd name="textAreaBottom" fmla="*/ 719280 h 718920"/>
              <a:gd name="GluePoint1X" fmla="*/ 0 w 2412"/>
              <a:gd name="GluePoint1Y" fmla="*/ 2147483647 h 453"/>
              <a:gd name="GluePoint2X" fmla="*/ 2147483647 w 2412"/>
              <a:gd name="GluePoint2Y" fmla="*/ 2147483647 h 453"/>
              <a:gd name="GluePoint3X" fmla="*/ 2147483647 w 2412"/>
              <a:gd name="GluePoint3Y" fmla="*/ 2147483647 h 45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412" h="453">
                <a:moveTo>
                  <a:pt x="0" y="453"/>
                </a:moveTo>
                <a:cubicBezTo>
                  <a:pt x="93" y="388"/>
                  <a:pt x="156" y="134"/>
                  <a:pt x="558" y="63"/>
                </a:cubicBezTo>
                <a:cubicBezTo>
                  <a:pt x="959" y="0"/>
                  <a:pt x="2026" y="36"/>
                  <a:pt x="2412" y="29"/>
                </a:cubicBezTo>
              </a:path>
            </a:pathLst>
          </a:custGeom>
          <a:noFill/>
          <a:ln w="38100">
            <a:solidFill>
              <a:srgbClr val="3333c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234" name="Text Box 48"/>
          <p:cNvSpPr/>
          <p:nvPr/>
        </p:nvSpPr>
        <p:spPr>
          <a:xfrm>
            <a:off x="2354400" y="4692960"/>
            <a:ext cx="23378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TCP connection 2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5" name="Group 69"/>
          <p:cNvGrpSpPr/>
          <p:nvPr/>
        </p:nvGrpSpPr>
        <p:grpSpPr>
          <a:xfrm>
            <a:off x="3975480" y="2860560"/>
            <a:ext cx="766440" cy="704520"/>
            <a:chOff x="3975480" y="2860560"/>
            <a:chExt cx="766440" cy="704520"/>
          </a:xfrm>
        </p:grpSpPr>
        <p:pic>
          <p:nvPicPr>
            <p:cNvPr id="236" name="Picture 70" descr="desktop_computer_stylized_medium"/>
            <p:cNvPicPr/>
            <p:nvPr/>
          </p:nvPicPr>
          <p:blipFill>
            <a:blip r:embed="rId1"/>
            <a:stretch/>
          </p:blipFill>
          <p:spPr>
            <a:xfrm flipH="1">
              <a:off x="3975480" y="2860560"/>
              <a:ext cx="766440" cy="704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7" name="Freeform 71"/>
            <p:cNvSpPr/>
            <p:nvPr/>
          </p:nvSpPr>
          <p:spPr>
            <a:xfrm flipH="1">
              <a:off x="4300920" y="2928240"/>
              <a:ext cx="372600" cy="322560"/>
            </a:xfrm>
            <a:custGeom>
              <a:avLst/>
              <a:gdLst>
                <a:gd name="textAreaLeft" fmla="*/ -360 w 372600"/>
                <a:gd name="textAreaRight" fmla="*/ 372600 w 372600"/>
                <a:gd name="textAreaTop" fmla="*/ 0 h 322560"/>
                <a:gd name="textAreaBottom" fmla="*/ 322920 h 322560"/>
                <a:gd name="GluePoint1X" fmla="*/ 0 w 356"/>
                <a:gd name="GluePoint1Y" fmla="*/ 0 h 368"/>
                <a:gd name="GluePoint2X" fmla="*/ 5595 w 356"/>
                <a:gd name="GluePoint2Y" fmla="*/ 341 h 368"/>
                <a:gd name="GluePoint3X" fmla="*/ 6638 w 356"/>
                <a:gd name="GluePoint3Y" fmla="*/ 7113 h 368"/>
                <a:gd name="GluePoint4X" fmla="*/ 1463 w 356"/>
                <a:gd name="GluePoint4Y" fmla="*/ 8895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</p:grpSp>
      <p:grpSp>
        <p:nvGrpSpPr>
          <p:cNvPr id="238" name="Group 72"/>
          <p:cNvGrpSpPr/>
          <p:nvPr/>
        </p:nvGrpSpPr>
        <p:grpSpPr>
          <a:xfrm>
            <a:off x="3978720" y="4106880"/>
            <a:ext cx="766440" cy="704520"/>
            <a:chOff x="3978720" y="4106880"/>
            <a:chExt cx="766440" cy="704520"/>
          </a:xfrm>
        </p:grpSpPr>
        <p:pic>
          <p:nvPicPr>
            <p:cNvPr id="239" name="Picture 73" descr="desktop_computer_stylized_medium"/>
            <p:cNvPicPr/>
            <p:nvPr/>
          </p:nvPicPr>
          <p:blipFill>
            <a:blip r:embed="rId2"/>
            <a:stretch/>
          </p:blipFill>
          <p:spPr>
            <a:xfrm flipH="1">
              <a:off x="3978720" y="4106880"/>
              <a:ext cx="766440" cy="704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40" name="Freeform 74"/>
            <p:cNvSpPr/>
            <p:nvPr/>
          </p:nvSpPr>
          <p:spPr>
            <a:xfrm flipH="1">
              <a:off x="4304160" y="4174560"/>
              <a:ext cx="372600" cy="322560"/>
            </a:xfrm>
            <a:custGeom>
              <a:avLst/>
              <a:gdLst>
                <a:gd name="textAreaLeft" fmla="*/ -360 w 372600"/>
                <a:gd name="textAreaRight" fmla="*/ 372600 w 372600"/>
                <a:gd name="textAreaTop" fmla="*/ 0 h 322560"/>
                <a:gd name="textAreaBottom" fmla="*/ 322920 h 322560"/>
                <a:gd name="GluePoint1X" fmla="*/ 0 w 356"/>
                <a:gd name="GluePoint1Y" fmla="*/ 0 h 368"/>
                <a:gd name="GluePoint2X" fmla="*/ 5595 w 356"/>
                <a:gd name="GluePoint2Y" fmla="*/ 341 h 368"/>
                <a:gd name="GluePoint3X" fmla="*/ 6638 w 356"/>
                <a:gd name="GluePoint3Y" fmla="*/ 7113 h 368"/>
                <a:gd name="GluePoint4X" fmla="*/ 1463 w 356"/>
                <a:gd name="GluePoint4Y" fmla="*/ 8895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endParaRPr>
            </a:p>
          </p:txBody>
        </p:sp>
      </p:grpSp>
      <p:sp>
        <p:nvSpPr>
          <p:cNvPr id="241" name="PlaceHolder 2"/>
          <p:cNvSpPr>
            <a:spLocks noGrp="1"/>
          </p:cNvSpPr>
          <p:nvPr>
            <p:ph type="sldNum" idx="45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rPr>
              <a:t>Transport Layer: 3-</a:t>
            </a:r>
            <a:fld id="{10F25685-A54C-4481-8280-0D62080DB9C5}" type="slidenum">
              <a: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rPr>
              <a:t>5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798840" y="234360"/>
            <a:ext cx="1139292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8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Q: is TCP Fair?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" name="Rectangle 3"/>
          <p:cNvSpPr/>
          <p:nvPr/>
        </p:nvSpPr>
        <p:spPr>
          <a:xfrm>
            <a:off x="1028160" y="1209600"/>
            <a:ext cx="10642680" cy="46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Example: two competing TCP sessions: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1600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additive increase gives slope of 1, as throughout increases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1600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multiplicative decrease decreases throughput proportionally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Line 4"/>
          <p:cNvSpPr/>
          <p:nvPr/>
        </p:nvSpPr>
        <p:spPr>
          <a:xfrm>
            <a:off x="1701720" y="6091200"/>
            <a:ext cx="3638520" cy="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n-US" sz="16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245" name="Line 5"/>
          <p:cNvSpPr/>
          <p:nvPr/>
        </p:nvSpPr>
        <p:spPr>
          <a:xfrm flipV="1">
            <a:off x="1701720" y="2995560"/>
            <a:ext cx="360" cy="30859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6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246" name="Line 6"/>
          <p:cNvSpPr/>
          <p:nvPr/>
        </p:nvSpPr>
        <p:spPr>
          <a:xfrm flipH="1">
            <a:off x="1701360" y="3399480"/>
            <a:ext cx="2348280" cy="2676600"/>
          </a:xfrm>
          <a:prstGeom prst="line">
            <a:avLst/>
          </a:prstGeom>
          <a:ln w="19050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6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247" name="Line 7"/>
          <p:cNvSpPr/>
          <p:nvPr/>
        </p:nvSpPr>
        <p:spPr>
          <a:xfrm>
            <a:off x="1682640" y="3243240"/>
            <a:ext cx="2819160" cy="2809800"/>
          </a:xfrm>
          <a:prstGeom prst="line">
            <a:avLst/>
          </a:prstGeom>
          <a:ln w="38100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6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248" name="Text Box 8"/>
          <p:cNvSpPr/>
          <p:nvPr/>
        </p:nvSpPr>
        <p:spPr>
          <a:xfrm>
            <a:off x="1332000" y="3071880"/>
            <a:ext cx="4028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Box 9"/>
          <p:cNvSpPr/>
          <p:nvPr/>
        </p:nvSpPr>
        <p:spPr>
          <a:xfrm>
            <a:off x="4284720" y="6119640"/>
            <a:ext cx="4028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Box 10"/>
          <p:cNvSpPr/>
          <p:nvPr/>
        </p:nvSpPr>
        <p:spPr>
          <a:xfrm>
            <a:off x="2560680" y="3062160"/>
            <a:ext cx="354600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equal bandwidth share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Box 11"/>
          <p:cNvSpPr/>
          <p:nvPr/>
        </p:nvSpPr>
        <p:spPr>
          <a:xfrm>
            <a:off x="1141560" y="6100920"/>
            <a:ext cx="354600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Connection 1 throughput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Box 12"/>
          <p:cNvSpPr/>
          <p:nvPr/>
        </p:nvSpPr>
        <p:spPr>
          <a:xfrm rot="16203600">
            <a:off x="-273240" y="4639680"/>
            <a:ext cx="354600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Connection 2 throughput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Line 13"/>
          <p:cNvSpPr/>
          <p:nvPr/>
        </p:nvSpPr>
        <p:spPr>
          <a:xfrm flipH="1">
            <a:off x="3025440" y="4863960"/>
            <a:ext cx="852840" cy="973080"/>
          </a:xfrm>
          <a:prstGeom prst="line">
            <a:avLst/>
          </a:prstGeom>
          <a:ln w="19050">
            <a:solidFill>
              <a:srgbClr val="c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254" name="Text Box 14"/>
          <p:cNvSpPr/>
          <p:nvPr/>
        </p:nvSpPr>
        <p:spPr>
          <a:xfrm>
            <a:off x="3475080" y="4919760"/>
            <a:ext cx="453672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congestion avoidance: additive increase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Line 15"/>
          <p:cNvSpPr/>
          <p:nvPr/>
        </p:nvSpPr>
        <p:spPr>
          <a:xfrm flipH="1">
            <a:off x="2692080" y="4881240"/>
            <a:ext cx="1171800" cy="631800"/>
          </a:xfrm>
          <a:prstGeom prst="line">
            <a:avLst/>
          </a:prstGeom>
          <a:ln w="19050">
            <a:solidFill>
              <a:srgbClr val="c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256" name="Text Box 16"/>
          <p:cNvSpPr/>
          <p:nvPr/>
        </p:nvSpPr>
        <p:spPr>
          <a:xfrm>
            <a:off x="4006800" y="4675320"/>
            <a:ext cx="346032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loss: decrease window by factor of 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Line 17"/>
          <p:cNvSpPr/>
          <p:nvPr/>
        </p:nvSpPr>
        <p:spPr>
          <a:xfrm flipH="1">
            <a:off x="2699280" y="4549320"/>
            <a:ext cx="873360" cy="967320"/>
          </a:xfrm>
          <a:prstGeom prst="line">
            <a:avLst/>
          </a:prstGeom>
          <a:ln w="19050">
            <a:solidFill>
              <a:srgbClr val="c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258" name="Text Box 18"/>
          <p:cNvSpPr/>
          <p:nvPr/>
        </p:nvSpPr>
        <p:spPr>
          <a:xfrm>
            <a:off x="3189240" y="4433760"/>
            <a:ext cx="453672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congestion avoidance: additive increase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Line 19"/>
          <p:cNvSpPr/>
          <p:nvPr/>
        </p:nvSpPr>
        <p:spPr>
          <a:xfrm flipH="1">
            <a:off x="2549520" y="4595760"/>
            <a:ext cx="981000" cy="765000"/>
          </a:xfrm>
          <a:prstGeom prst="line">
            <a:avLst/>
          </a:prstGeom>
          <a:ln w="19050">
            <a:solidFill>
              <a:srgbClr val="c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260" name="Text Box 20"/>
          <p:cNvSpPr/>
          <p:nvPr/>
        </p:nvSpPr>
        <p:spPr>
          <a:xfrm>
            <a:off x="3606840" y="4227480"/>
            <a:ext cx="346032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loss: decrease window by factor of 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Line 21"/>
          <p:cNvSpPr/>
          <p:nvPr/>
        </p:nvSpPr>
        <p:spPr>
          <a:xfrm flipH="1">
            <a:off x="2554920" y="4403520"/>
            <a:ext cx="850680" cy="955800"/>
          </a:xfrm>
          <a:prstGeom prst="line">
            <a:avLst/>
          </a:prstGeom>
          <a:ln w="19050">
            <a:solidFill>
              <a:srgbClr val="c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262" name="Line 22"/>
          <p:cNvSpPr/>
          <p:nvPr/>
        </p:nvSpPr>
        <p:spPr>
          <a:xfrm flipH="1">
            <a:off x="2482560" y="4414680"/>
            <a:ext cx="911160" cy="888840"/>
          </a:xfrm>
          <a:prstGeom prst="line">
            <a:avLst/>
          </a:prstGeom>
          <a:ln w="19050">
            <a:solidFill>
              <a:srgbClr val="c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sp>
        <p:nvSpPr>
          <p:cNvPr id="263" name="Line 23"/>
          <p:cNvSpPr/>
          <p:nvPr/>
        </p:nvSpPr>
        <p:spPr>
          <a:xfrm flipH="1">
            <a:off x="2475720" y="4339800"/>
            <a:ext cx="850680" cy="956160"/>
          </a:xfrm>
          <a:prstGeom prst="line">
            <a:avLst/>
          </a:prstGeom>
          <a:ln w="19050">
            <a:solidFill>
              <a:srgbClr val="c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Tahoma"/>
              <a:ea typeface="ＭＳ Ｐゴシック"/>
            </a:endParaRPr>
          </a:p>
        </p:txBody>
      </p:sp>
      <p:grpSp>
        <p:nvGrpSpPr>
          <p:cNvPr id="264" name="Group 7"/>
          <p:cNvGrpSpPr/>
          <p:nvPr/>
        </p:nvGrpSpPr>
        <p:grpSpPr>
          <a:xfrm>
            <a:off x="7983000" y="3205440"/>
            <a:ext cx="3863520" cy="2712960"/>
            <a:chOff x="7983000" y="3205440"/>
            <a:chExt cx="3863520" cy="2712960"/>
          </a:xfrm>
        </p:grpSpPr>
        <p:sp>
          <p:nvSpPr>
            <p:cNvPr id="265" name="TextBox 3"/>
            <p:cNvSpPr/>
            <p:nvPr/>
          </p:nvSpPr>
          <p:spPr>
            <a:xfrm>
              <a:off x="8130600" y="3671640"/>
              <a:ext cx="3702960" cy="219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90000"/>
                </a:lnSpc>
                <a:tabLst>
                  <a:tab algn="l" pos="0"/>
                </a:tabLst>
              </a:pPr>
              <a:r>
                <a:rPr b="0" i="1" lang="en-US" sz="2800" strike="noStrike" u="none">
                  <a:solidFill>
                    <a:srgbClr val="c00000"/>
                  </a:solidFill>
                  <a:effectLst/>
                  <a:uFillTx/>
                  <a:latin typeface="Calibri"/>
                </a:rPr>
                <a:t>A: </a:t>
              </a:r>
              <a:r>
                <a:rPr b="0" lang="en-US" sz="2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Yes, under idealized assumptions: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43080" indent="-228600" defTabSz="914400">
                <a:lnSpc>
                  <a:spcPct val="90000"/>
                </a:lnSpc>
                <a:buClr>
                  <a:srgbClr val="0000a8"/>
                </a:buClr>
                <a:buFont typeface="Wingdings" charset="2"/>
                <a:buChar char=""/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same RTT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43080" indent="-228600" defTabSz="914400">
                <a:lnSpc>
                  <a:spcPct val="90000"/>
                </a:lnSpc>
                <a:buClr>
                  <a:srgbClr val="0000a8"/>
                </a:buClr>
                <a:buFont typeface="Wingdings" charset="2"/>
                <a:buChar char=""/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fixed number of sessions only in congestion avoidance 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Rectangle 4"/>
            <p:cNvSpPr/>
            <p:nvPr/>
          </p:nvSpPr>
          <p:spPr>
            <a:xfrm>
              <a:off x="7983000" y="3468600"/>
              <a:ext cx="3863520" cy="2449800"/>
            </a:xfrm>
            <a:prstGeom prst="rect">
              <a:avLst/>
            </a:prstGeom>
            <a:noFill/>
            <a:ln w="222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67" name="Rectangle 6"/>
            <p:cNvSpPr/>
            <p:nvPr/>
          </p:nvSpPr>
          <p:spPr>
            <a:xfrm>
              <a:off x="8338320" y="3328920"/>
              <a:ext cx="1762200" cy="255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68" name="TextBox 5"/>
            <p:cNvSpPr/>
            <p:nvPr/>
          </p:nvSpPr>
          <p:spPr>
            <a:xfrm>
              <a:off x="8332560" y="3205440"/>
              <a:ext cx="1767960" cy="52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i="1" lang="en-US" sz="2800" strike="noStrike" u="none">
                  <a:solidFill>
                    <a:srgbClr val="c00000"/>
                  </a:solidFill>
                  <a:effectLst/>
                  <a:uFillTx/>
                  <a:latin typeface="Calibri"/>
                </a:rPr>
                <a:t>Is</a:t>
              </a:r>
              <a:r>
                <a:rPr b="0" lang="en-US" sz="2800" strike="noStrike" u="none">
                  <a:solidFill>
                    <a:srgbClr val="c00000"/>
                  </a:solidFill>
                  <a:effectLst/>
                  <a:uFillTx/>
                  <a:latin typeface="Calibri"/>
                </a:rPr>
                <a:t> TCP fair?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9" name="Oval 8"/>
          <p:cNvSpPr/>
          <p:nvPr/>
        </p:nvSpPr>
        <p:spPr>
          <a:xfrm>
            <a:off x="2998440" y="5695200"/>
            <a:ext cx="165960" cy="1659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sldNum" idx="46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rPr>
              <a:t>Transport Layer: 3-</a:t>
            </a:r>
            <a:fld id="{180BCBA9-276B-4C7F-9890-C5E6DC77209E}" type="slidenum">
              <a: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rPr>
              <a:t>6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7" dur="indefinite" restart="never" nodeType="tmRoot">
          <p:childTnLst>
            <p:seq>
              <p:cTn id="148" dur="indefinite" nodeType="mainSeq">
                <p:childTnLst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53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155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0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nodeType="click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66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0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76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0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nodeType="click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86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00"/>
                            </p:stCondLst>
                            <p:childTnLst>
                              <p:par>
                                <p:cTn id="18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0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96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201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06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1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780480" y="261000"/>
            <a:ext cx="1083420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00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8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Fairness: must all network apps be “fair”?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2" name="Rectangle 3"/>
          <p:cNvSpPr/>
          <p:nvPr/>
        </p:nvSpPr>
        <p:spPr>
          <a:xfrm>
            <a:off x="749160" y="1219320"/>
            <a:ext cx="5206680" cy="46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99"/>
                </a:solidFill>
                <a:effectLst/>
                <a:uFillTx/>
                <a:latin typeface="Calibri"/>
              </a:rPr>
              <a:t>Fairness and UDP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multimedia apps often do not use TCP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 not want rate throttled by congestion control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instead use UDP: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send audio/video at constant rate, tolerate packet loss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there is no “Internet police” policing use of congestion control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4"/>
          <p:cNvSpPr/>
          <p:nvPr/>
        </p:nvSpPr>
        <p:spPr>
          <a:xfrm>
            <a:off x="6210360" y="1193760"/>
            <a:ext cx="5574960" cy="50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99"/>
                </a:solidFill>
                <a:effectLst/>
                <a:uFillTx/>
                <a:latin typeface="Calibri"/>
              </a:rPr>
              <a:t>Fairness, parallel TCP connections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application can open </a:t>
            </a: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multiple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parallel connections between two hosts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web browsers do this , e.g., link of rate R with 9 existing connections: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new app asks for 1 TCP, gets rate R/10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new app asks for 11 TCPs, gets R/2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sldNum" idx="47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rPr>
              <a:t>Transport Layer: 3-</a:t>
            </a:r>
            <a:fld id="{E7778226-715E-4B98-A8D6-CFE669D380CD}" type="slidenum">
              <a:rPr b="0" lang="en-US" sz="1100" strike="noStrike" u="none">
                <a:solidFill>
                  <a:srgbClr val="808080"/>
                </a:solidFill>
                <a:effectLst/>
                <a:uFillTx/>
                <a:latin typeface="Calibri"/>
              </a:rPr>
              <a:t>7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2" dur="indefinite" restart="never" nodeType="tmRoot">
          <p:childTnLst>
            <p:seq>
              <p:cTn id="213" dur="indefinite" nodeType="mainSeq">
                <p:childTnLst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8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/>
          </p:nvPr>
        </p:nvSpPr>
        <p:spPr>
          <a:xfrm>
            <a:off x="872640" y="1409040"/>
            <a:ext cx="5557680" cy="484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52440" indent="-29376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IP address:</a:t>
            </a:r>
            <a:r>
              <a:rPr b="0" lang="en-US" sz="2800" strike="noStrike" u="non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32-bit identifier associated with each host or router </a:t>
            </a:r>
            <a:r>
              <a:rPr b="0" i="1" lang="en-US" sz="2800" strike="noStrike" u="none">
                <a:solidFill>
                  <a:srgbClr val="0000a3"/>
                </a:solidFill>
                <a:effectLst/>
                <a:uFillTx/>
                <a:latin typeface="Calibri"/>
                <a:ea typeface="ＭＳ Ｐゴシック"/>
              </a:rPr>
              <a:t>interface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9376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interface: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connection between host/router and physical link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522360" indent="-2984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router’s typically have multiple interfaces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522360" indent="-2984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host typically has one or two interfaces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(e.g., wired Ethernet, wireless 802.11)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844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title"/>
          </p:nvPr>
        </p:nvSpPr>
        <p:spPr>
          <a:xfrm>
            <a:off x="838080" y="3110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rgbClr val="0000a3"/>
                </a:solidFill>
                <a:effectLst/>
                <a:uFillTx/>
                <a:latin typeface="Calibri Light"/>
                <a:ea typeface="ＭＳ Ｐゴシック"/>
              </a:rPr>
              <a:t>IP addressing: introduction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7" name="Freeform 140"/>
          <p:cNvSpPr/>
          <p:nvPr/>
        </p:nvSpPr>
        <p:spPr>
          <a:xfrm rot="16200000">
            <a:off x="8946000" y="3046680"/>
            <a:ext cx="845640" cy="1593360"/>
          </a:xfrm>
          <a:custGeom>
            <a:avLst/>
            <a:gdLst>
              <a:gd name="textAreaLeft" fmla="*/ 0 w 845640"/>
              <a:gd name="textAreaRight" fmla="*/ 846000 w 845640"/>
              <a:gd name="textAreaTop" fmla="*/ 0 h 1593360"/>
              <a:gd name="textAreaBottom" fmla="*/ 1593720 h 1593360"/>
              <a:gd name="GluePoint1X" fmla="*/ 2147483647 w 10315"/>
              <a:gd name="GluePoint1Y" fmla="*/ 2147483647 h 10000"/>
              <a:gd name="GluePoint2X" fmla="*/ 2147483647 w 10315"/>
              <a:gd name="GluePoint2Y" fmla="*/ 2147483647 h 10000"/>
              <a:gd name="GluePoint3X" fmla="*/ 2147483647 w 10315"/>
              <a:gd name="GluePoint3Y" fmla="*/ 2147483647 h 10000"/>
              <a:gd name="GluePoint4X" fmla="*/ 2147483647 w 10315"/>
              <a:gd name="GluePoint4Y" fmla="*/ 2147483647 h 10000"/>
              <a:gd name="GluePoint5X" fmla="*/ 2147483647 w 10315"/>
              <a:gd name="GluePoint5Y" fmla="*/ 2147483647 h 10000"/>
              <a:gd name="GluePoint6X" fmla="*/ 2147483647 w 10315"/>
              <a:gd name="GluePoint6Y" fmla="*/ 2147483647 h 10000"/>
              <a:gd name="GluePoint7X" fmla="*/ 2147483647 w 10315"/>
              <a:gd name="GluePoint7Y" fmla="*/ 2147483647 h 10000"/>
              <a:gd name="GluePoint8X" fmla="*/ 2147483647 w 10315"/>
              <a:gd name="GluePoint8Y" fmla="*/ 2147483647 h 10000"/>
              <a:gd name="GluePoint9X" fmla="*/ 2147483647 w 10315"/>
              <a:gd name="GluePoint9Y" fmla="*/ 2147483647 h 10000"/>
              <a:gd name="GluePoint10X" fmla="*/ 2147483647 w 10315"/>
              <a:gd name="GluePoint10Y" fmla="*/ 2147483647 h 10000"/>
              <a:gd name="GluePoint11X" fmla="*/ 2147483647 w 10315"/>
              <a:gd name="GluePoint11Y" fmla="*/ 2147483647 h 10000"/>
              <a:gd name="GluePoint12X" fmla="*/ 2147483647 w 10315"/>
              <a:gd name="GluePoint12Y" fmla="*/ 2147483647 h 10000"/>
              <a:gd name="GluePoint13X" fmla="*/ 2147483647 w 10315"/>
              <a:gd name="GluePoint13Y" fmla="*/ 2147483647 h 10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8" name="Freeform 140"/>
          <p:cNvSpPr/>
          <p:nvPr/>
        </p:nvSpPr>
        <p:spPr>
          <a:xfrm rot="10800000">
            <a:off x="9944640" y="1720800"/>
            <a:ext cx="845640" cy="1593360"/>
          </a:xfrm>
          <a:custGeom>
            <a:avLst/>
            <a:gdLst>
              <a:gd name="textAreaLeft" fmla="*/ 0 w 845640"/>
              <a:gd name="textAreaRight" fmla="*/ 846000 w 845640"/>
              <a:gd name="textAreaTop" fmla="*/ 0 h 1593360"/>
              <a:gd name="textAreaBottom" fmla="*/ 1593720 h 1593360"/>
              <a:gd name="GluePoint1X" fmla="*/ 2147483647 w 10315"/>
              <a:gd name="GluePoint1Y" fmla="*/ 2147483647 h 10000"/>
              <a:gd name="GluePoint2X" fmla="*/ 2147483647 w 10315"/>
              <a:gd name="GluePoint2Y" fmla="*/ 2147483647 h 10000"/>
              <a:gd name="GluePoint3X" fmla="*/ 2147483647 w 10315"/>
              <a:gd name="GluePoint3Y" fmla="*/ 2147483647 h 10000"/>
              <a:gd name="GluePoint4X" fmla="*/ 2147483647 w 10315"/>
              <a:gd name="GluePoint4Y" fmla="*/ 2147483647 h 10000"/>
              <a:gd name="GluePoint5X" fmla="*/ 2147483647 w 10315"/>
              <a:gd name="GluePoint5Y" fmla="*/ 2147483647 h 10000"/>
              <a:gd name="GluePoint6X" fmla="*/ 2147483647 w 10315"/>
              <a:gd name="GluePoint6Y" fmla="*/ 2147483647 h 10000"/>
              <a:gd name="GluePoint7X" fmla="*/ 2147483647 w 10315"/>
              <a:gd name="GluePoint7Y" fmla="*/ 2147483647 h 10000"/>
              <a:gd name="GluePoint8X" fmla="*/ 2147483647 w 10315"/>
              <a:gd name="GluePoint8Y" fmla="*/ 2147483647 h 10000"/>
              <a:gd name="GluePoint9X" fmla="*/ 2147483647 w 10315"/>
              <a:gd name="GluePoint9Y" fmla="*/ 2147483647 h 10000"/>
              <a:gd name="GluePoint10X" fmla="*/ 2147483647 w 10315"/>
              <a:gd name="GluePoint10Y" fmla="*/ 2147483647 h 10000"/>
              <a:gd name="GluePoint11X" fmla="*/ 2147483647 w 10315"/>
              <a:gd name="GluePoint11Y" fmla="*/ 2147483647 h 10000"/>
              <a:gd name="GluePoint12X" fmla="*/ 2147483647 w 10315"/>
              <a:gd name="GluePoint12Y" fmla="*/ 2147483647 h 10000"/>
              <a:gd name="GluePoint13X" fmla="*/ 2147483647 w 10315"/>
              <a:gd name="GluePoint13Y" fmla="*/ 2147483647 h 10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9" name="Freeform 140"/>
          <p:cNvSpPr/>
          <p:nvPr/>
        </p:nvSpPr>
        <p:spPr>
          <a:xfrm>
            <a:off x="7908840" y="1302840"/>
            <a:ext cx="1037880" cy="1926720"/>
          </a:xfrm>
          <a:custGeom>
            <a:avLst/>
            <a:gdLst>
              <a:gd name="textAreaLeft" fmla="*/ 0 w 1037880"/>
              <a:gd name="textAreaRight" fmla="*/ 1038240 w 1037880"/>
              <a:gd name="textAreaTop" fmla="*/ 0 h 1926720"/>
              <a:gd name="textAreaBottom" fmla="*/ 1927080 h 1926720"/>
              <a:gd name="GluePoint1X" fmla="*/ 2147483647 w 1223"/>
              <a:gd name="GluePoint1Y" fmla="*/ 2147483647 h 1291"/>
              <a:gd name="GluePoint2X" fmla="*/ 2147483647 w 1223"/>
              <a:gd name="GluePoint2Y" fmla="*/ 2147483647 h 1291"/>
              <a:gd name="GluePoint3X" fmla="*/ 2147483647 w 1223"/>
              <a:gd name="GluePoint3Y" fmla="*/ 2147483647 h 1291"/>
              <a:gd name="GluePoint4X" fmla="*/ 2147483647 w 1223"/>
              <a:gd name="GluePoint4Y" fmla="*/ 2147483647 h 1291"/>
              <a:gd name="GluePoint5X" fmla="*/ 2147483647 w 1223"/>
              <a:gd name="GluePoint5Y" fmla="*/ 2147483647 h 1291"/>
              <a:gd name="GluePoint6X" fmla="*/ 2147483647 w 1223"/>
              <a:gd name="GluePoint6Y" fmla="*/ 2147483647 h 1291"/>
              <a:gd name="GluePoint7X" fmla="*/ 2147483647 w 1223"/>
              <a:gd name="GluePoint7Y" fmla="*/ 2147483647 h 1291"/>
              <a:gd name="GluePoint8X" fmla="*/ 2147483647 w 1223"/>
              <a:gd name="GluePoint8Y" fmla="*/ 2147483647 h 1291"/>
              <a:gd name="GluePoint9X" fmla="*/ 2147483647 w 1223"/>
              <a:gd name="GluePoint9Y" fmla="*/ 2147483647 h 1291"/>
              <a:gd name="GluePoint10X" fmla="*/ 2147483647 w 1223"/>
              <a:gd name="GluePoint10Y" fmla="*/ 2147483647 h 1291"/>
              <a:gd name="GluePoint11X" fmla="*/ 2147483647 w 1223"/>
              <a:gd name="GluePoint11Y" fmla="*/ 2147483647 h 1291"/>
              <a:gd name="GluePoint12X" fmla="*/ 2147483647 w 1223"/>
              <a:gd name="GluePoint12Y" fmla="*/ 2147483647 h 1291"/>
              <a:gd name="GluePoint13X" fmla="*/ 2147483647 w 1223"/>
              <a:gd name="GluePoint13Y" fmla="*/ 2147483647 h 1291"/>
              <a:gd name="GluePoint14X" fmla="*/ 2147483647 w 1223"/>
              <a:gd name="GluePoint14Y" fmla="*/ 2147483647 h 12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</a:cxnLst>
            <a:rect l="textAreaLeft" t="textAreaTop" r="textAreaRight" b="textAreaBottom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0" name="Text Box 26"/>
          <p:cNvSpPr/>
          <p:nvPr/>
        </p:nvSpPr>
        <p:spPr>
          <a:xfrm>
            <a:off x="7291440" y="1132920"/>
            <a:ext cx="8251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223.1.1.1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1" name="Group 27"/>
          <p:cNvGrpSpPr/>
          <p:nvPr/>
        </p:nvGrpSpPr>
        <p:grpSpPr>
          <a:xfrm>
            <a:off x="6558120" y="2093400"/>
            <a:ext cx="920160" cy="275760"/>
            <a:chOff x="6558120" y="2093400"/>
            <a:chExt cx="920160" cy="275760"/>
          </a:xfrm>
        </p:grpSpPr>
        <p:sp>
          <p:nvSpPr>
            <p:cNvPr id="282" name="Rectangle 28"/>
            <p:cNvSpPr/>
            <p:nvPr/>
          </p:nvSpPr>
          <p:spPr>
            <a:xfrm>
              <a:off x="6645240" y="2171160"/>
              <a:ext cx="833040" cy="1807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283" name="Text Box 29"/>
            <p:cNvSpPr/>
            <p:nvPr/>
          </p:nvSpPr>
          <p:spPr>
            <a:xfrm>
              <a:off x="6558120" y="2093400"/>
              <a:ext cx="826560" cy="27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223.1.1.2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4" name="Text Box 30"/>
          <p:cNvSpPr/>
          <p:nvPr/>
        </p:nvSpPr>
        <p:spPr>
          <a:xfrm>
            <a:off x="7396200" y="3088440"/>
            <a:ext cx="8265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223.1.1.3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Box 31"/>
          <p:cNvSpPr/>
          <p:nvPr/>
        </p:nvSpPr>
        <p:spPr>
          <a:xfrm>
            <a:off x="8365680" y="2275920"/>
            <a:ext cx="8265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223.1.1.4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Box 33"/>
          <p:cNvSpPr/>
          <p:nvPr/>
        </p:nvSpPr>
        <p:spPr>
          <a:xfrm>
            <a:off x="9578880" y="2277000"/>
            <a:ext cx="82656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223.1.2.9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Box 41"/>
          <p:cNvSpPr/>
          <p:nvPr/>
        </p:nvSpPr>
        <p:spPr>
          <a:xfrm>
            <a:off x="10148040" y="3220200"/>
            <a:ext cx="8265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223.1.2.2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Box 44"/>
          <p:cNvSpPr/>
          <p:nvPr/>
        </p:nvSpPr>
        <p:spPr>
          <a:xfrm>
            <a:off x="10107720" y="1703520"/>
            <a:ext cx="8265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223.1.2.1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Line 45"/>
          <p:cNvSpPr/>
          <p:nvPr/>
        </p:nvSpPr>
        <p:spPr>
          <a:xfrm>
            <a:off x="9359640" y="2734920"/>
            <a:ext cx="360" cy="87912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0" name="Text Box 53"/>
          <p:cNvSpPr/>
          <p:nvPr/>
        </p:nvSpPr>
        <p:spPr>
          <a:xfrm>
            <a:off x="9955080" y="4195080"/>
            <a:ext cx="8265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223.1.3.2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Box 56"/>
          <p:cNvSpPr/>
          <p:nvPr/>
        </p:nvSpPr>
        <p:spPr>
          <a:xfrm>
            <a:off x="8712360" y="4199760"/>
            <a:ext cx="82656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223.1.3.1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2" name="Group 57"/>
          <p:cNvGrpSpPr/>
          <p:nvPr/>
        </p:nvGrpSpPr>
        <p:grpSpPr>
          <a:xfrm>
            <a:off x="8885160" y="2996640"/>
            <a:ext cx="912600" cy="275760"/>
            <a:chOff x="8885160" y="2996640"/>
            <a:chExt cx="912600" cy="275760"/>
          </a:xfrm>
        </p:grpSpPr>
        <p:sp>
          <p:nvSpPr>
            <p:cNvPr id="293" name="Rectangle 58"/>
            <p:cNvSpPr/>
            <p:nvPr/>
          </p:nvSpPr>
          <p:spPr>
            <a:xfrm>
              <a:off x="8943840" y="3039480"/>
              <a:ext cx="847440" cy="1807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294" name="Text Box 59"/>
            <p:cNvSpPr/>
            <p:nvPr/>
          </p:nvSpPr>
          <p:spPr>
            <a:xfrm>
              <a:off x="8885160" y="2996640"/>
              <a:ext cx="912600" cy="27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223.1.3.27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5" name="Group 4"/>
          <p:cNvGrpSpPr/>
          <p:nvPr/>
        </p:nvGrpSpPr>
        <p:grpSpPr>
          <a:xfrm>
            <a:off x="6858360" y="5763600"/>
            <a:ext cx="5043240" cy="947160"/>
            <a:chOff x="6858360" y="5763600"/>
            <a:chExt cx="5043240" cy="947160"/>
          </a:xfrm>
        </p:grpSpPr>
        <p:sp>
          <p:nvSpPr>
            <p:cNvPr id="296" name="Text Box 60"/>
            <p:cNvSpPr/>
            <p:nvPr/>
          </p:nvSpPr>
          <p:spPr>
            <a:xfrm>
              <a:off x="6858360" y="5763600"/>
              <a:ext cx="5043240" cy="38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223.1.1.1 = 11011111 00000001 00000001 00000001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Freeform 61"/>
            <p:cNvSpPr/>
            <p:nvPr/>
          </p:nvSpPr>
          <p:spPr>
            <a:xfrm>
              <a:off x="8036280" y="6058080"/>
              <a:ext cx="891720" cy="105840"/>
            </a:xfrm>
            <a:custGeom>
              <a:avLst/>
              <a:gdLst>
                <a:gd name="textAreaLeft" fmla="*/ 0 w 891720"/>
                <a:gd name="textAreaRight" fmla="*/ 892080 w 891720"/>
                <a:gd name="textAreaTop" fmla="*/ 0 h 105840"/>
                <a:gd name="textAreaBottom" fmla="*/ 106200 h 105840"/>
                <a:gd name="GluePoint1X" fmla="*/ 0 w 562"/>
                <a:gd name="GluePoint1Y" fmla="*/ 0 h 58"/>
                <a:gd name="GluePoint2X" fmla="*/ 0 w 562"/>
                <a:gd name="GluePoint2Y" fmla="*/ 2147483647 h 58"/>
                <a:gd name="GluePoint3X" fmla="*/ 2147483647 w 562"/>
                <a:gd name="GluePoint3Y" fmla="*/ 2147483647 h 58"/>
                <a:gd name="GluePoint4X" fmla="*/ 2147483647 w 562"/>
                <a:gd name="GluePoint4Y" fmla="*/ 2147483647 h 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62" h="58">
                  <a:moveTo>
                    <a:pt x="0" y="0"/>
                  </a:moveTo>
                  <a:lnTo>
                    <a:pt x="0" y="58"/>
                  </a:lnTo>
                  <a:lnTo>
                    <a:pt x="562" y="58"/>
                  </a:lnTo>
                  <a:lnTo>
                    <a:pt x="562" y="1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298" name="Freeform 62"/>
            <p:cNvSpPr/>
            <p:nvPr/>
          </p:nvSpPr>
          <p:spPr>
            <a:xfrm>
              <a:off x="8998560" y="6080040"/>
              <a:ext cx="891720" cy="91080"/>
            </a:xfrm>
            <a:custGeom>
              <a:avLst/>
              <a:gdLst>
                <a:gd name="textAreaLeft" fmla="*/ 0 w 891720"/>
                <a:gd name="textAreaRight" fmla="*/ 892080 w 891720"/>
                <a:gd name="textAreaTop" fmla="*/ 0 h 91080"/>
                <a:gd name="textAreaBottom" fmla="*/ 91440 h 91080"/>
                <a:gd name="GluePoint1X" fmla="*/ 0 w 562"/>
                <a:gd name="GluePoint1Y" fmla="*/ 0 h 50"/>
                <a:gd name="GluePoint2X" fmla="*/ 0 w 562"/>
                <a:gd name="GluePoint2Y" fmla="*/ 2147483647 h 50"/>
                <a:gd name="GluePoint3X" fmla="*/ 2147483647 w 562"/>
                <a:gd name="GluePoint3Y" fmla="*/ 2147483647 h 50"/>
                <a:gd name="GluePoint4X" fmla="*/ 2147483647 w 562"/>
                <a:gd name="GluePoint4Y" fmla="*/ 2147483647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299" name="Freeform 63"/>
            <p:cNvSpPr/>
            <p:nvPr/>
          </p:nvSpPr>
          <p:spPr>
            <a:xfrm>
              <a:off x="9963720" y="6083640"/>
              <a:ext cx="869760" cy="91080"/>
            </a:xfrm>
            <a:custGeom>
              <a:avLst/>
              <a:gdLst>
                <a:gd name="textAreaLeft" fmla="*/ 0 w 869760"/>
                <a:gd name="textAreaRight" fmla="*/ 870120 w 869760"/>
                <a:gd name="textAreaTop" fmla="*/ 0 h 91080"/>
                <a:gd name="textAreaBottom" fmla="*/ 91440 h 91080"/>
                <a:gd name="GluePoint1X" fmla="*/ 0 w 562"/>
                <a:gd name="GluePoint1Y" fmla="*/ 0 h 50"/>
                <a:gd name="GluePoint2X" fmla="*/ 0 w 562"/>
                <a:gd name="GluePoint2Y" fmla="*/ 2147483647 h 50"/>
                <a:gd name="GluePoint3X" fmla="*/ 2147483647 w 562"/>
                <a:gd name="GluePoint3Y" fmla="*/ 2147483647 h 50"/>
                <a:gd name="GluePoint4X" fmla="*/ 2147483647 w 562"/>
                <a:gd name="GluePoint4Y" fmla="*/ 2147483647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300" name="Freeform 64"/>
            <p:cNvSpPr/>
            <p:nvPr/>
          </p:nvSpPr>
          <p:spPr>
            <a:xfrm>
              <a:off x="10928880" y="6087240"/>
              <a:ext cx="869760" cy="91080"/>
            </a:xfrm>
            <a:custGeom>
              <a:avLst/>
              <a:gdLst>
                <a:gd name="textAreaLeft" fmla="*/ 0 w 869760"/>
                <a:gd name="textAreaRight" fmla="*/ 870120 w 869760"/>
                <a:gd name="textAreaTop" fmla="*/ 0 h 91080"/>
                <a:gd name="textAreaBottom" fmla="*/ 91440 h 91080"/>
                <a:gd name="GluePoint1X" fmla="*/ 0 w 562"/>
                <a:gd name="GluePoint1Y" fmla="*/ 0 h 50"/>
                <a:gd name="GluePoint2X" fmla="*/ 0 w 562"/>
                <a:gd name="GluePoint2Y" fmla="*/ 2147483647 h 50"/>
                <a:gd name="GluePoint3X" fmla="*/ 2147483647 w 562"/>
                <a:gd name="GluePoint3Y" fmla="*/ 2147483647 h 50"/>
                <a:gd name="GluePoint4X" fmla="*/ 2147483647 w 562"/>
                <a:gd name="GluePoint4Y" fmla="*/ 2147483647 h 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301" name="Text Box 65"/>
            <p:cNvSpPr/>
            <p:nvPr/>
          </p:nvSpPr>
          <p:spPr>
            <a:xfrm>
              <a:off x="8234640" y="6312240"/>
              <a:ext cx="522000" cy="38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223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Text Box 66"/>
            <p:cNvSpPr/>
            <p:nvPr/>
          </p:nvSpPr>
          <p:spPr>
            <a:xfrm>
              <a:off x="9277920" y="6323400"/>
              <a:ext cx="296640" cy="38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Text Box 67"/>
            <p:cNvSpPr/>
            <p:nvPr/>
          </p:nvSpPr>
          <p:spPr>
            <a:xfrm>
              <a:off x="11235240" y="6323400"/>
              <a:ext cx="296640" cy="38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Text Box 68"/>
            <p:cNvSpPr/>
            <p:nvPr/>
          </p:nvSpPr>
          <p:spPr>
            <a:xfrm>
              <a:off x="10216080" y="6323400"/>
              <a:ext cx="296640" cy="38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5" name="Group 73"/>
          <p:cNvGrpSpPr/>
          <p:nvPr/>
        </p:nvGrpSpPr>
        <p:grpSpPr>
          <a:xfrm>
            <a:off x="7116840" y="1378800"/>
            <a:ext cx="641160" cy="558360"/>
            <a:chOff x="7116840" y="1378800"/>
            <a:chExt cx="641160" cy="558360"/>
          </a:xfrm>
        </p:grpSpPr>
        <p:pic>
          <p:nvPicPr>
            <p:cNvPr id="306" name="Picture 74" descr="desktop_computer_stylized_medium"/>
            <p:cNvPicPr/>
            <p:nvPr/>
          </p:nvPicPr>
          <p:blipFill>
            <a:blip r:embed="rId1"/>
            <a:stretch/>
          </p:blipFill>
          <p:spPr>
            <a:xfrm flipH="1">
              <a:off x="7116840" y="1378800"/>
              <a:ext cx="641160" cy="558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7" name="Freeform 75"/>
            <p:cNvSpPr/>
            <p:nvPr/>
          </p:nvSpPr>
          <p:spPr>
            <a:xfrm flipH="1">
              <a:off x="7389360" y="1432440"/>
              <a:ext cx="311400" cy="255600"/>
            </a:xfrm>
            <a:custGeom>
              <a:avLst/>
              <a:gdLst>
                <a:gd name="textAreaLeft" fmla="*/ -360 w 311400"/>
                <a:gd name="textAreaRight" fmla="*/ 311400 w 311400"/>
                <a:gd name="textAreaTop" fmla="*/ 0 h 255600"/>
                <a:gd name="textAreaBottom" fmla="*/ 255960 h 255600"/>
                <a:gd name="GluePoint1X" fmla="*/ 0 w 356"/>
                <a:gd name="GluePoint1Y" fmla="*/ 0 h 368"/>
                <a:gd name="GluePoint2X" fmla="*/ 18034 w 356"/>
                <a:gd name="GluePoint2Y" fmla="*/ 1220 h 368"/>
                <a:gd name="GluePoint3X" fmla="*/ 21394 w 356"/>
                <a:gd name="GluePoint3Y" fmla="*/ 25425 h 368"/>
                <a:gd name="GluePoint4X" fmla="*/ 4715 w 356"/>
                <a:gd name="GluePoint4Y" fmla="*/ 31797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</p:grpSp>
      <p:grpSp>
        <p:nvGrpSpPr>
          <p:cNvPr id="308" name="Group 80"/>
          <p:cNvGrpSpPr/>
          <p:nvPr/>
        </p:nvGrpSpPr>
        <p:grpSpPr>
          <a:xfrm>
            <a:off x="7112160" y="1977480"/>
            <a:ext cx="641160" cy="558360"/>
            <a:chOff x="7112160" y="1977480"/>
            <a:chExt cx="641160" cy="558360"/>
          </a:xfrm>
        </p:grpSpPr>
        <p:pic>
          <p:nvPicPr>
            <p:cNvPr id="309" name="Picture 81" descr="desktop_computer_stylized_medium"/>
            <p:cNvPicPr/>
            <p:nvPr/>
          </p:nvPicPr>
          <p:blipFill>
            <a:blip r:embed="rId2"/>
            <a:stretch/>
          </p:blipFill>
          <p:spPr>
            <a:xfrm flipH="1">
              <a:off x="7112160" y="1977480"/>
              <a:ext cx="641160" cy="558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10" name="Freeform 82"/>
            <p:cNvSpPr/>
            <p:nvPr/>
          </p:nvSpPr>
          <p:spPr>
            <a:xfrm flipH="1">
              <a:off x="7384680" y="2031120"/>
              <a:ext cx="311400" cy="255600"/>
            </a:xfrm>
            <a:custGeom>
              <a:avLst/>
              <a:gdLst>
                <a:gd name="textAreaLeft" fmla="*/ -360 w 311400"/>
                <a:gd name="textAreaRight" fmla="*/ 311400 w 311400"/>
                <a:gd name="textAreaTop" fmla="*/ 0 h 255600"/>
                <a:gd name="textAreaBottom" fmla="*/ 255960 h 255600"/>
                <a:gd name="GluePoint1X" fmla="*/ 0 w 356"/>
                <a:gd name="GluePoint1Y" fmla="*/ 0 h 368"/>
                <a:gd name="GluePoint2X" fmla="*/ 18034 w 356"/>
                <a:gd name="GluePoint2Y" fmla="*/ 1220 h 368"/>
                <a:gd name="GluePoint3X" fmla="*/ 21394 w 356"/>
                <a:gd name="GluePoint3Y" fmla="*/ 25425 h 368"/>
                <a:gd name="GluePoint4X" fmla="*/ 4715 w 356"/>
                <a:gd name="GluePoint4Y" fmla="*/ 31797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</p:grpSp>
      <p:grpSp>
        <p:nvGrpSpPr>
          <p:cNvPr id="311" name="Group 83"/>
          <p:cNvGrpSpPr/>
          <p:nvPr/>
        </p:nvGrpSpPr>
        <p:grpSpPr>
          <a:xfrm>
            <a:off x="7140600" y="2586960"/>
            <a:ext cx="641160" cy="558360"/>
            <a:chOff x="7140600" y="2586960"/>
            <a:chExt cx="641160" cy="558360"/>
          </a:xfrm>
        </p:grpSpPr>
        <p:pic>
          <p:nvPicPr>
            <p:cNvPr id="312" name="Picture 84" descr="desktop_computer_stylized_medium"/>
            <p:cNvPicPr/>
            <p:nvPr/>
          </p:nvPicPr>
          <p:blipFill>
            <a:blip r:embed="rId3"/>
            <a:stretch/>
          </p:blipFill>
          <p:spPr>
            <a:xfrm flipH="1">
              <a:off x="7140600" y="2586960"/>
              <a:ext cx="641160" cy="558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13" name="Freeform 85"/>
            <p:cNvSpPr/>
            <p:nvPr/>
          </p:nvSpPr>
          <p:spPr>
            <a:xfrm flipH="1">
              <a:off x="7413120" y="2640600"/>
              <a:ext cx="311400" cy="255600"/>
            </a:xfrm>
            <a:custGeom>
              <a:avLst/>
              <a:gdLst>
                <a:gd name="textAreaLeft" fmla="*/ -360 w 311400"/>
                <a:gd name="textAreaRight" fmla="*/ 311400 w 311400"/>
                <a:gd name="textAreaTop" fmla="*/ 0 h 255600"/>
                <a:gd name="textAreaBottom" fmla="*/ 255960 h 255600"/>
                <a:gd name="GluePoint1X" fmla="*/ 0 w 356"/>
                <a:gd name="GluePoint1Y" fmla="*/ 0 h 368"/>
                <a:gd name="GluePoint2X" fmla="*/ 18034 w 356"/>
                <a:gd name="GluePoint2Y" fmla="*/ 1220 h 368"/>
                <a:gd name="GluePoint3X" fmla="*/ 21394 w 356"/>
                <a:gd name="GluePoint3Y" fmla="*/ 25425 h 368"/>
                <a:gd name="GluePoint4X" fmla="*/ 4715 w 356"/>
                <a:gd name="GluePoint4Y" fmla="*/ 31797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</p:grpSp>
      <p:grpSp>
        <p:nvGrpSpPr>
          <p:cNvPr id="314" name="Group 87"/>
          <p:cNvGrpSpPr/>
          <p:nvPr/>
        </p:nvGrpSpPr>
        <p:grpSpPr>
          <a:xfrm>
            <a:off x="10799640" y="1536120"/>
            <a:ext cx="641160" cy="558360"/>
            <a:chOff x="10799640" y="1536120"/>
            <a:chExt cx="641160" cy="558360"/>
          </a:xfrm>
        </p:grpSpPr>
        <p:pic>
          <p:nvPicPr>
            <p:cNvPr id="315" name="Picture 88" descr="desktop_computer_stylized_medium"/>
            <p:cNvPicPr/>
            <p:nvPr/>
          </p:nvPicPr>
          <p:blipFill>
            <a:blip r:embed="rId4"/>
            <a:stretch/>
          </p:blipFill>
          <p:spPr>
            <a:xfrm>
              <a:off x="10799640" y="1536120"/>
              <a:ext cx="641160" cy="558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16" name="Freeform 89"/>
            <p:cNvSpPr/>
            <p:nvPr/>
          </p:nvSpPr>
          <p:spPr>
            <a:xfrm>
              <a:off x="10856160" y="1589760"/>
              <a:ext cx="311400" cy="255600"/>
            </a:xfrm>
            <a:custGeom>
              <a:avLst/>
              <a:gdLst>
                <a:gd name="textAreaLeft" fmla="*/ 0 w 311400"/>
                <a:gd name="textAreaRight" fmla="*/ 311760 w 311400"/>
                <a:gd name="textAreaTop" fmla="*/ 0 h 255600"/>
                <a:gd name="textAreaBottom" fmla="*/ 255960 h 255600"/>
                <a:gd name="GluePoint1X" fmla="*/ 0 w 356"/>
                <a:gd name="GluePoint1Y" fmla="*/ 0 h 368"/>
                <a:gd name="GluePoint2X" fmla="*/ 18034 w 356"/>
                <a:gd name="GluePoint2Y" fmla="*/ 1220 h 368"/>
                <a:gd name="GluePoint3X" fmla="*/ 21394 w 356"/>
                <a:gd name="GluePoint3Y" fmla="*/ 25425 h 368"/>
                <a:gd name="GluePoint4X" fmla="*/ 4715 w 356"/>
                <a:gd name="GluePoint4Y" fmla="*/ 31797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</p:grpSp>
      <p:grpSp>
        <p:nvGrpSpPr>
          <p:cNvPr id="317" name="Group 90"/>
          <p:cNvGrpSpPr/>
          <p:nvPr/>
        </p:nvGrpSpPr>
        <p:grpSpPr>
          <a:xfrm>
            <a:off x="10814040" y="2815560"/>
            <a:ext cx="641160" cy="558360"/>
            <a:chOff x="10814040" y="2815560"/>
            <a:chExt cx="641160" cy="558360"/>
          </a:xfrm>
        </p:grpSpPr>
        <p:pic>
          <p:nvPicPr>
            <p:cNvPr id="318" name="Picture 91" descr="desktop_computer_stylized_medium"/>
            <p:cNvPicPr/>
            <p:nvPr/>
          </p:nvPicPr>
          <p:blipFill>
            <a:blip r:embed="rId5"/>
            <a:stretch/>
          </p:blipFill>
          <p:spPr>
            <a:xfrm>
              <a:off x="10814040" y="2815560"/>
              <a:ext cx="641160" cy="558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19" name="Freeform 92"/>
            <p:cNvSpPr/>
            <p:nvPr/>
          </p:nvSpPr>
          <p:spPr>
            <a:xfrm>
              <a:off x="10870200" y="2869200"/>
              <a:ext cx="311400" cy="255600"/>
            </a:xfrm>
            <a:custGeom>
              <a:avLst/>
              <a:gdLst>
                <a:gd name="textAreaLeft" fmla="*/ 0 w 311400"/>
                <a:gd name="textAreaRight" fmla="*/ 311760 w 311400"/>
                <a:gd name="textAreaTop" fmla="*/ 0 h 255600"/>
                <a:gd name="textAreaBottom" fmla="*/ 255960 h 255600"/>
                <a:gd name="GluePoint1X" fmla="*/ 0 w 356"/>
                <a:gd name="GluePoint1Y" fmla="*/ 0 h 368"/>
                <a:gd name="GluePoint2X" fmla="*/ 18034 w 356"/>
                <a:gd name="GluePoint2Y" fmla="*/ 1220 h 368"/>
                <a:gd name="GluePoint3X" fmla="*/ 21394 w 356"/>
                <a:gd name="GluePoint3Y" fmla="*/ 25425 h 368"/>
                <a:gd name="GluePoint4X" fmla="*/ 4715 w 356"/>
                <a:gd name="GluePoint4Y" fmla="*/ 31797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</p:grpSp>
      <p:grpSp>
        <p:nvGrpSpPr>
          <p:cNvPr id="320" name="Group 93"/>
          <p:cNvGrpSpPr/>
          <p:nvPr/>
        </p:nvGrpSpPr>
        <p:grpSpPr>
          <a:xfrm>
            <a:off x="9715680" y="4339440"/>
            <a:ext cx="641160" cy="558360"/>
            <a:chOff x="9715680" y="4339440"/>
            <a:chExt cx="641160" cy="558360"/>
          </a:xfrm>
        </p:grpSpPr>
        <p:pic>
          <p:nvPicPr>
            <p:cNvPr id="321" name="Picture 94" descr="desktop_computer_stylized_medium"/>
            <p:cNvPicPr/>
            <p:nvPr/>
          </p:nvPicPr>
          <p:blipFill>
            <a:blip r:embed="rId6"/>
            <a:stretch/>
          </p:blipFill>
          <p:spPr>
            <a:xfrm>
              <a:off x="9715680" y="4339440"/>
              <a:ext cx="641160" cy="558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22" name="Freeform 95"/>
            <p:cNvSpPr/>
            <p:nvPr/>
          </p:nvSpPr>
          <p:spPr>
            <a:xfrm>
              <a:off x="9771840" y="4393080"/>
              <a:ext cx="311400" cy="255600"/>
            </a:xfrm>
            <a:custGeom>
              <a:avLst/>
              <a:gdLst>
                <a:gd name="textAreaLeft" fmla="*/ 0 w 311400"/>
                <a:gd name="textAreaRight" fmla="*/ 311760 w 311400"/>
                <a:gd name="textAreaTop" fmla="*/ 0 h 255600"/>
                <a:gd name="textAreaBottom" fmla="*/ 255960 h 255600"/>
                <a:gd name="GluePoint1X" fmla="*/ 0 w 356"/>
                <a:gd name="GluePoint1Y" fmla="*/ 0 h 368"/>
                <a:gd name="GluePoint2X" fmla="*/ 18034 w 356"/>
                <a:gd name="GluePoint2Y" fmla="*/ 1220 h 368"/>
                <a:gd name="GluePoint3X" fmla="*/ 21394 w 356"/>
                <a:gd name="GluePoint3Y" fmla="*/ 25425 h 368"/>
                <a:gd name="GluePoint4X" fmla="*/ 4715 w 356"/>
                <a:gd name="GluePoint4Y" fmla="*/ 31797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</p:grpSp>
      <p:grpSp>
        <p:nvGrpSpPr>
          <p:cNvPr id="323" name="Group 96"/>
          <p:cNvGrpSpPr/>
          <p:nvPr/>
        </p:nvGrpSpPr>
        <p:grpSpPr>
          <a:xfrm>
            <a:off x="8551800" y="4380840"/>
            <a:ext cx="641160" cy="558360"/>
            <a:chOff x="8551800" y="4380840"/>
            <a:chExt cx="641160" cy="558360"/>
          </a:xfrm>
        </p:grpSpPr>
        <p:pic>
          <p:nvPicPr>
            <p:cNvPr id="324" name="Picture 97" descr="desktop_computer_stylized_medium"/>
            <p:cNvPicPr/>
            <p:nvPr/>
          </p:nvPicPr>
          <p:blipFill>
            <a:blip r:embed="rId7"/>
            <a:stretch/>
          </p:blipFill>
          <p:spPr>
            <a:xfrm>
              <a:off x="8551800" y="4380840"/>
              <a:ext cx="641160" cy="558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25" name="Freeform 98"/>
            <p:cNvSpPr/>
            <p:nvPr/>
          </p:nvSpPr>
          <p:spPr>
            <a:xfrm>
              <a:off x="8607960" y="4434480"/>
              <a:ext cx="311400" cy="255600"/>
            </a:xfrm>
            <a:custGeom>
              <a:avLst/>
              <a:gdLst>
                <a:gd name="textAreaLeft" fmla="*/ 0 w 311400"/>
                <a:gd name="textAreaRight" fmla="*/ 311760 w 311400"/>
                <a:gd name="textAreaTop" fmla="*/ 0 h 255600"/>
                <a:gd name="textAreaBottom" fmla="*/ 255960 h 255600"/>
                <a:gd name="GluePoint1X" fmla="*/ 0 w 356"/>
                <a:gd name="GluePoint1Y" fmla="*/ 0 h 368"/>
                <a:gd name="GluePoint2X" fmla="*/ 18034 w 356"/>
                <a:gd name="GluePoint2Y" fmla="*/ 1220 h 368"/>
                <a:gd name="GluePoint3X" fmla="*/ 21394 w 356"/>
                <a:gd name="GluePoint3Y" fmla="*/ 25425 h 368"/>
                <a:gd name="GluePoint4X" fmla="*/ 4715 w 356"/>
                <a:gd name="GluePoint4Y" fmla="*/ 31797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</p:grpSp>
      <p:cxnSp>
        <p:nvCxnSpPr>
          <p:cNvPr id="326" name="Straight Connector 138"/>
          <p:cNvCxnSpPr/>
          <p:nvPr/>
        </p:nvCxnSpPr>
        <p:spPr>
          <a:xfrm>
            <a:off x="7697160" y="1785600"/>
            <a:ext cx="34344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27" name="Straight Connector 139"/>
          <p:cNvCxnSpPr/>
          <p:nvPr/>
        </p:nvCxnSpPr>
        <p:spPr>
          <a:xfrm>
            <a:off x="7706880" y="2384640"/>
            <a:ext cx="34308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28" name="Straight Connector 140"/>
          <p:cNvCxnSpPr/>
          <p:nvPr/>
        </p:nvCxnSpPr>
        <p:spPr>
          <a:xfrm>
            <a:off x="7734240" y="2997720"/>
            <a:ext cx="34308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29" name="Straight Connector 141"/>
          <p:cNvCxnSpPr/>
          <p:nvPr/>
        </p:nvCxnSpPr>
        <p:spPr>
          <a:xfrm>
            <a:off x="8364240" y="2578320"/>
            <a:ext cx="79488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30" name="Straight Connector 142"/>
          <p:cNvCxnSpPr/>
          <p:nvPr/>
        </p:nvCxnSpPr>
        <p:spPr>
          <a:xfrm>
            <a:off x="9547560" y="2584440"/>
            <a:ext cx="97560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grpSp>
        <p:nvGrpSpPr>
          <p:cNvPr id="331" name="Group 144"/>
          <p:cNvGrpSpPr/>
          <p:nvPr/>
        </p:nvGrpSpPr>
        <p:grpSpPr>
          <a:xfrm>
            <a:off x="9053640" y="2438640"/>
            <a:ext cx="632520" cy="300600"/>
            <a:chOff x="9053640" y="2438640"/>
            <a:chExt cx="632520" cy="300600"/>
          </a:xfrm>
        </p:grpSpPr>
        <p:sp>
          <p:nvSpPr>
            <p:cNvPr id="332" name="Freeform 145"/>
            <p:cNvSpPr/>
            <p:nvPr/>
          </p:nvSpPr>
          <p:spPr>
            <a:xfrm>
              <a:off x="9053640" y="2542680"/>
              <a:ext cx="632520" cy="196560"/>
            </a:xfrm>
            <a:custGeom>
              <a:avLst/>
              <a:gdLst>
                <a:gd name="textAreaLeft" fmla="*/ 0 w 632520"/>
                <a:gd name="textAreaRight" fmla="*/ 632880 w 632520"/>
                <a:gd name="textAreaTop" fmla="*/ 0 h 196560"/>
                <a:gd name="textAreaBottom" fmla="*/ 196920 h 19656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3" name="Oval 146"/>
            <p:cNvSpPr/>
            <p:nvPr/>
          </p:nvSpPr>
          <p:spPr>
            <a:xfrm>
              <a:off x="9054000" y="2438640"/>
              <a:ext cx="631800" cy="1944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4" name="Group 147"/>
            <p:cNvGrpSpPr/>
            <p:nvPr/>
          </p:nvGrpSpPr>
          <p:grpSpPr>
            <a:xfrm>
              <a:off x="9147600" y="2463120"/>
              <a:ext cx="444960" cy="142920"/>
              <a:chOff x="9147600" y="2463120"/>
              <a:chExt cx="444960" cy="142920"/>
            </a:xfrm>
          </p:grpSpPr>
          <p:sp>
            <p:nvSpPr>
              <p:cNvPr id="335" name="Freeform 148"/>
              <p:cNvSpPr/>
              <p:nvPr/>
            </p:nvSpPr>
            <p:spPr>
              <a:xfrm>
                <a:off x="9159840" y="2463120"/>
                <a:ext cx="420840" cy="79920"/>
              </a:xfrm>
              <a:custGeom>
                <a:avLst/>
                <a:gdLst>
                  <a:gd name="textAreaLeft" fmla="*/ 0 w 420840"/>
                  <a:gd name="textAreaRight" fmla="*/ 421200 w 420840"/>
                  <a:gd name="textAreaTop" fmla="*/ 0 h 79920"/>
                  <a:gd name="textAreaBottom" fmla="*/ 80280 h 7992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35280" bIns="3528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36" name="Freeform 149"/>
              <p:cNvSpPr/>
              <p:nvPr/>
            </p:nvSpPr>
            <p:spPr>
              <a:xfrm>
                <a:off x="9435600" y="2531880"/>
                <a:ext cx="156960" cy="687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68760"/>
                  <a:gd name="textAreaBottom" fmla="*/ 69120 h 687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24120" bIns="2412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37" name="Freeform 150"/>
              <p:cNvSpPr/>
              <p:nvPr/>
            </p:nvSpPr>
            <p:spPr>
              <a:xfrm>
                <a:off x="9147600" y="2531880"/>
                <a:ext cx="154080" cy="67680"/>
              </a:xfrm>
              <a:custGeom>
                <a:avLst/>
                <a:gdLst>
                  <a:gd name="textAreaLeft" fmla="*/ 0 w 154080"/>
                  <a:gd name="textAreaRight" fmla="*/ 154440 w 154080"/>
                  <a:gd name="textAreaTop" fmla="*/ 0 h 67680"/>
                  <a:gd name="textAreaBottom" fmla="*/ 68040 h 676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23040" bIns="2304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338" name="Freeform 151"/>
              <p:cNvSpPr/>
              <p:nvPr/>
            </p:nvSpPr>
            <p:spPr>
              <a:xfrm>
                <a:off x="9201240" y="2498040"/>
                <a:ext cx="335160" cy="108000"/>
              </a:xfrm>
              <a:custGeom>
                <a:avLst/>
                <a:gdLst>
                  <a:gd name="textAreaLeft" fmla="*/ 0 w 335160"/>
                  <a:gd name="textAreaRight" fmla="*/ 335520 w 335160"/>
                  <a:gd name="textAreaTop" fmla="*/ 0 h 108000"/>
                  <a:gd name="textAreaBottom" fmla="*/ 108360 h 10800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cxnSp>
        <p:nvCxnSpPr>
          <p:cNvPr id="339" name="Straight Connector 152"/>
          <p:cNvCxnSpPr/>
          <p:nvPr/>
        </p:nvCxnSpPr>
        <p:spPr>
          <a:xfrm>
            <a:off x="10629720" y="1942200"/>
            <a:ext cx="26136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40" name="Straight Connector 154"/>
          <p:cNvCxnSpPr/>
          <p:nvPr/>
        </p:nvCxnSpPr>
        <p:spPr>
          <a:xfrm>
            <a:off x="10631160" y="3225240"/>
            <a:ext cx="26136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41" name="Straight Connector 156"/>
          <p:cNvCxnSpPr/>
          <p:nvPr/>
        </p:nvCxnSpPr>
        <p:spPr>
          <a:xfrm>
            <a:off x="8740800" y="4181760"/>
            <a:ext cx="360" cy="23328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42" name="Straight Connector 157"/>
          <p:cNvCxnSpPr/>
          <p:nvPr/>
        </p:nvCxnSpPr>
        <p:spPr>
          <a:xfrm>
            <a:off x="9886320" y="4143960"/>
            <a:ext cx="360" cy="23328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sp>
        <p:nvSpPr>
          <p:cNvPr id="343" name="TextBox 3"/>
          <p:cNvSpPr/>
          <p:nvPr/>
        </p:nvSpPr>
        <p:spPr>
          <a:xfrm>
            <a:off x="6841800" y="5290560"/>
            <a:ext cx="4652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dotted-decimal IP address notation: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48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4-</a:t>
            </a:r>
            <a:fld id="{FBB4F7EA-7E79-4A62-8D66-B6A4FD222055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8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9" dur="indefinite" restart="never" nodeType="tmRoot">
          <p:childTnLst>
            <p:seq>
              <p:cTn id="220" dur="indefinite" nodeType="mainSeq">
                <p:childTnLst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5" dur="500"/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0" dur="500"/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3" dur="500"/>
                                        <p:tgtEl>
                                          <p:spTgt spid="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6" dur="500"/>
                                        <p:tgtEl>
                                          <p:spTgt spid="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1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4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838080" y="3110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rgbClr val="0000a3"/>
                </a:solidFill>
                <a:effectLst/>
                <a:uFillTx/>
                <a:latin typeface="Calibri Light"/>
                <a:ea typeface="ＭＳ Ｐゴシック"/>
              </a:rPr>
              <a:t>Subnets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6" name="Freeform 140"/>
          <p:cNvSpPr/>
          <p:nvPr/>
        </p:nvSpPr>
        <p:spPr>
          <a:xfrm rot="16200000">
            <a:off x="8946000" y="3046680"/>
            <a:ext cx="845640" cy="1593360"/>
          </a:xfrm>
          <a:custGeom>
            <a:avLst/>
            <a:gdLst>
              <a:gd name="textAreaLeft" fmla="*/ 0 w 845640"/>
              <a:gd name="textAreaRight" fmla="*/ 846000 w 845640"/>
              <a:gd name="textAreaTop" fmla="*/ 0 h 1593360"/>
              <a:gd name="textAreaBottom" fmla="*/ 1593720 h 1593360"/>
              <a:gd name="GluePoint1X" fmla="*/ 2147483647 w 10315"/>
              <a:gd name="GluePoint1Y" fmla="*/ 2147483647 h 10000"/>
              <a:gd name="GluePoint2X" fmla="*/ 2147483647 w 10315"/>
              <a:gd name="GluePoint2Y" fmla="*/ 2147483647 h 10000"/>
              <a:gd name="GluePoint3X" fmla="*/ 2147483647 w 10315"/>
              <a:gd name="GluePoint3Y" fmla="*/ 2147483647 h 10000"/>
              <a:gd name="GluePoint4X" fmla="*/ 2147483647 w 10315"/>
              <a:gd name="GluePoint4Y" fmla="*/ 2147483647 h 10000"/>
              <a:gd name="GluePoint5X" fmla="*/ 2147483647 w 10315"/>
              <a:gd name="GluePoint5Y" fmla="*/ 2147483647 h 10000"/>
              <a:gd name="GluePoint6X" fmla="*/ 2147483647 w 10315"/>
              <a:gd name="GluePoint6Y" fmla="*/ 2147483647 h 10000"/>
              <a:gd name="GluePoint7X" fmla="*/ 2147483647 w 10315"/>
              <a:gd name="GluePoint7Y" fmla="*/ 2147483647 h 10000"/>
              <a:gd name="GluePoint8X" fmla="*/ 2147483647 w 10315"/>
              <a:gd name="GluePoint8Y" fmla="*/ 2147483647 h 10000"/>
              <a:gd name="GluePoint9X" fmla="*/ 2147483647 w 10315"/>
              <a:gd name="GluePoint9Y" fmla="*/ 2147483647 h 10000"/>
              <a:gd name="GluePoint10X" fmla="*/ 2147483647 w 10315"/>
              <a:gd name="GluePoint10Y" fmla="*/ 2147483647 h 10000"/>
              <a:gd name="GluePoint11X" fmla="*/ 2147483647 w 10315"/>
              <a:gd name="GluePoint11Y" fmla="*/ 2147483647 h 10000"/>
              <a:gd name="GluePoint12X" fmla="*/ 2147483647 w 10315"/>
              <a:gd name="GluePoint12Y" fmla="*/ 2147483647 h 10000"/>
              <a:gd name="GluePoint13X" fmla="*/ 2147483647 w 10315"/>
              <a:gd name="GluePoint13Y" fmla="*/ 2147483647 h 10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7" name="Freeform 140"/>
          <p:cNvSpPr/>
          <p:nvPr/>
        </p:nvSpPr>
        <p:spPr>
          <a:xfrm rot="10800000">
            <a:off x="9944640" y="1720800"/>
            <a:ext cx="845640" cy="1593360"/>
          </a:xfrm>
          <a:custGeom>
            <a:avLst/>
            <a:gdLst>
              <a:gd name="textAreaLeft" fmla="*/ 0 w 845640"/>
              <a:gd name="textAreaRight" fmla="*/ 846000 w 845640"/>
              <a:gd name="textAreaTop" fmla="*/ 0 h 1593360"/>
              <a:gd name="textAreaBottom" fmla="*/ 1593720 h 1593360"/>
              <a:gd name="GluePoint1X" fmla="*/ 2147483647 w 10315"/>
              <a:gd name="GluePoint1Y" fmla="*/ 2147483647 h 10000"/>
              <a:gd name="GluePoint2X" fmla="*/ 2147483647 w 10315"/>
              <a:gd name="GluePoint2Y" fmla="*/ 2147483647 h 10000"/>
              <a:gd name="GluePoint3X" fmla="*/ 2147483647 w 10315"/>
              <a:gd name="GluePoint3Y" fmla="*/ 2147483647 h 10000"/>
              <a:gd name="GluePoint4X" fmla="*/ 2147483647 w 10315"/>
              <a:gd name="GluePoint4Y" fmla="*/ 2147483647 h 10000"/>
              <a:gd name="GluePoint5X" fmla="*/ 2147483647 w 10315"/>
              <a:gd name="GluePoint5Y" fmla="*/ 2147483647 h 10000"/>
              <a:gd name="GluePoint6X" fmla="*/ 2147483647 w 10315"/>
              <a:gd name="GluePoint6Y" fmla="*/ 2147483647 h 10000"/>
              <a:gd name="GluePoint7X" fmla="*/ 2147483647 w 10315"/>
              <a:gd name="GluePoint7Y" fmla="*/ 2147483647 h 10000"/>
              <a:gd name="GluePoint8X" fmla="*/ 2147483647 w 10315"/>
              <a:gd name="GluePoint8Y" fmla="*/ 2147483647 h 10000"/>
              <a:gd name="GluePoint9X" fmla="*/ 2147483647 w 10315"/>
              <a:gd name="GluePoint9Y" fmla="*/ 2147483647 h 10000"/>
              <a:gd name="GluePoint10X" fmla="*/ 2147483647 w 10315"/>
              <a:gd name="GluePoint10Y" fmla="*/ 2147483647 h 10000"/>
              <a:gd name="GluePoint11X" fmla="*/ 2147483647 w 10315"/>
              <a:gd name="GluePoint11Y" fmla="*/ 2147483647 h 10000"/>
              <a:gd name="GluePoint12X" fmla="*/ 2147483647 w 10315"/>
              <a:gd name="GluePoint12Y" fmla="*/ 2147483647 h 10000"/>
              <a:gd name="GluePoint13X" fmla="*/ 2147483647 w 10315"/>
              <a:gd name="GluePoint13Y" fmla="*/ 2147483647 h 10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8" name="Freeform 140"/>
          <p:cNvSpPr/>
          <p:nvPr/>
        </p:nvSpPr>
        <p:spPr>
          <a:xfrm>
            <a:off x="7908840" y="1302840"/>
            <a:ext cx="1037880" cy="1926720"/>
          </a:xfrm>
          <a:custGeom>
            <a:avLst/>
            <a:gdLst>
              <a:gd name="textAreaLeft" fmla="*/ 0 w 1037880"/>
              <a:gd name="textAreaRight" fmla="*/ 1038240 w 1037880"/>
              <a:gd name="textAreaTop" fmla="*/ 0 h 1926720"/>
              <a:gd name="textAreaBottom" fmla="*/ 1927080 h 1926720"/>
              <a:gd name="GluePoint1X" fmla="*/ 2147483647 w 1223"/>
              <a:gd name="GluePoint1Y" fmla="*/ 2147483647 h 1291"/>
              <a:gd name="GluePoint2X" fmla="*/ 2147483647 w 1223"/>
              <a:gd name="GluePoint2Y" fmla="*/ 2147483647 h 1291"/>
              <a:gd name="GluePoint3X" fmla="*/ 2147483647 w 1223"/>
              <a:gd name="GluePoint3Y" fmla="*/ 2147483647 h 1291"/>
              <a:gd name="GluePoint4X" fmla="*/ 2147483647 w 1223"/>
              <a:gd name="GluePoint4Y" fmla="*/ 2147483647 h 1291"/>
              <a:gd name="GluePoint5X" fmla="*/ 2147483647 w 1223"/>
              <a:gd name="GluePoint5Y" fmla="*/ 2147483647 h 1291"/>
              <a:gd name="GluePoint6X" fmla="*/ 2147483647 w 1223"/>
              <a:gd name="GluePoint6Y" fmla="*/ 2147483647 h 1291"/>
              <a:gd name="GluePoint7X" fmla="*/ 2147483647 w 1223"/>
              <a:gd name="GluePoint7Y" fmla="*/ 2147483647 h 1291"/>
              <a:gd name="GluePoint8X" fmla="*/ 2147483647 w 1223"/>
              <a:gd name="GluePoint8Y" fmla="*/ 2147483647 h 1291"/>
              <a:gd name="GluePoint9X" fmla="*/ 2147483647 w 1223"/>
              <a:gd name="GluePoint9Y" fmla="*/ 2147483647 h 1291"/>
              <a:gd name="GluePoint10X" fmla="*/ 2147483647 w 1223"/>
              <a:gd name="GluePoint10Y" fmla="*/ 2147483647 h 1291"/>
              <a:gd name="GluePoint11X" fmla="*/ 2147483647 w 1223"/>
              <a:gd name="GluePoint11Y" fmla="*/ 2147483647 h 1291"/>
              <a:gd name="GluePoint12X" fmla="*/ 2147483647 w 1223"/>
              <a:gd name="GluePoint12Y" fmla="*/ 2147483647 h 1291"/>
              <a:gd name="GluePoint13X" fmla="*/ 2147483647 w 1223"/>
              <a:gd name="GluePoint13Y" fmla="*/ 2147483647 h 1291"/>
              <a:gd name="GluePoint14X" fmla="*/ 2147483647 w 1223"/>
              <a:gd name="GluePoint14Y" fmla="*/ 2147483647 h 12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</a:cxnLst>
            <a:rect l="textAreaLeft" t="textAreaTop" r="textAreaRight" b="textAreaBottom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9" name="Text Box 26"/>
          <p:cNvSpPr/>
          <p:nvPr/>
        </p:nvSpPr>
        <p:spPr>
          <a:xfrm>
            <a:off x="7291440" y="1132920"/>
            <a:ext cx="8251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223.1.1.1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50" name="Group 27"/>
          <p:cNvGrpSpPr/>
          <p:nvPr/>
        </p:nvGrpSpPr>
        <p:grpSpPr>
          <a:xfrm>
            <a:off x="6558120" y="2093400"/>
            <a:ext cx="920160" cy="275760"/>
            <a:chOff x="6558120" y="2093400"/>
            <a:chExt cx="920160" cy="275760"/>
          </a:xfrm>
        </p:grpSpPr>
        <p:sp>
          <p:nvSpPr>
            <p:cNvPr id="351" name="Rectangle 28"/>
            <p:cNvSpPr/>
            <p:nvPr/>
          </p:nvSpPr>
          <p:spPr>
            <a:xfrm>
              <a:off x="6645240" y="2171160"/>
              <a:ext cx="833040" cy="1807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352" name="Text Box 29"/>
            <p:cNvSpPr/>
            <p:nvPr/>
          </p:nvSpPr>
          <p:spPr>
            <a:xfrm>
              <a:off x="6558120" y="2093400"/>
              <a:ext cx="826560" cy="27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223.1.1.2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3" name="Text Box 30"/>
          <p:cNvSpPr/>
          <p:nvPr/>
        </p:nvSpPr>
        <p:spPr>
          <a:xfrm>
            <a:off x="7396200" y="3088440"/>
            <a:ext cx="8265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223.1.1.3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Box 31"/>
          <p:cNvSpPr/>
          <p:nvPr/>
        </p:nvSpPr>
        <p:spPr>
          <a:xfrm>
            <a:off x="8365680" y="2275920"/>
            <a:ext cx="8265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223.1.1.4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Box 33"/>
          <p:cNvSpPr/>
          <p:nvPr/>
        </p:nvSpPr>
        <p:spPr>
          <a:xfrm>
            <a:off x="9578880" y="2277000"/>
            <a:ext cx="82656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223.1.2.9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Box 41"/>
          <p:cNvSpPr/>
          <p:nvPr/>
        </p:nvSpPr>
        <p:spPr>
          <a:xfrm>
            <a:off x="10148040" y="3220200"/>
            <a:ext cx="8265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223.1.2.2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Box 44"/>
          <p:cNvSpPr/>
          <p:nvPr/>
        </p:nvSpPr>
        <p:spPr>
          <a:xfrm>
            <a:off x="10107720" y="1703520"/>
            <a:ext cx="8265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223.1.2.1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Line 45"/>
          <p:cNvSpPr/>
          <p:nvPr/>
        </p:nvSpPr>
        <p:spPr>
          <a:xfrm>
            <a:off x="9359640" y="2734920"/>
            <a:ext cx="360" cy="87912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9" name="Text Box 53"/>
          <p:cNvSpPr/>
          <p:nvPr/>
        </p:nvSpPr>
        <p:spPr>
          <a:xfrm>
            <a:off x="9955080" y="4195080"/>
            <a:ext cx="8265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223.1.3.2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Box 56"/>
          <p:cNvSpPr/>
          <p:nvPr/>
        </p:nvSpPr>
        <p:spPr>
          <a:xfrm>
            <a:off x="8712360" y="4199760"/>
            <a:ext cx="82656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223.1.3.1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1" name="Group 57"/>
          <p:cNvGrpSpPr/>
          <p:nvPr/>
        </p:nvGrpSpPr>
        <p:grpSpPr>
          <a:xfrm>
            <a:off x="8885160" y="2996640"/>
            <a:ext cx="912600" cy="275760"/>
            <a:chOff x="8885160" y="2996640"/>
            <a:chExt cx="912600" cy="275760"/>
          </a:xfrm>
        </p:grpSpPr>
        <p:sp>
          <p:nvSpPr>
            <p:cNvPr id="362" name="Rectangle 58"/>
            <p:cNvSpPr/>
            <p:nvPr/>
          </p:nvSpPr>
          <p:spPr>
            <a:xfrm>
              <a:off x="8943840" y="3039480"/>
              <a:ext cx="847440" cy="1807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363" name="Text Box 59"/>
            <p:cNvSpPr/>
            <p:nvPr/>
          </p:nvSpPr>
          <p:spPr>
            <a:xfrm>
              <a:off x="8885160" y="2996640"/>
              <a:ext cx="912600" cy="27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223.1.3.27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4" name="Group 73"/>
          <p:cNvGrpSpPr/>
          <p:nvPr/>
        </p:nvGrpSpPr>
        <p:grpSpPr>
          <a:xfrm>
            <a:off x="7116840" y="1378800"/>
            <a:ext cx="641160" cy="558360"/>
            <a:chOff x="7116840" y="1378800"/>
            <a:chExt cx="641160" cy="558360"/>
          </a:xfrm>
        </p:grpSpPr>
        <p:pic>
          <p:nvPicPr>
            <p:cNvPr id="365" name="Picture 74" descr="desktop_computer_stylized_medium"/>
            <p:cNvPicPr/>
            <p:nvPr/>
          </p:nvPicPr>
          <p:blipFill>
            <a:blip r:embed="rId1"/>
            <a:stretch/>
          </p:blipFill>
          <p:spPr>
            <a:xfrm flipH="1">
              <a:off x="7116840" y="1378800"/>
              <a:ext cx="641160" cy="558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66" name="Freeform 75"/>
            <p:cNvSpPr/>
            <p:nvPr/>
          </p:nvSpPr>
          <p:spPr>
            <a:xfrm flipH="1">
              <a:off x="7389360" y="1432440"/>
              <a:ext cx="311400" cy="255600"/>
            </a:xfrm>
            <a:custGeom>
              <a:avLst/>
              <a:gdLst>
                <a:gd name="textAreaLeft" fmla="*/ -360 w 311400"/>
                <a:gd name="textAreaRight" fmla="*/ 311400 w 311400"/>
                <a:gd name="textAreaTop" fmla="*/ 0 h 255600"/>
                <a:gd name="textAreaBottom" fmla="*/ 255960 h 255600"/>
                <a:gd name="GluePoint1X" fmla="*/ 0 w 356"/>
                <a:gd name="GluePoint1Y" fmla="*/ 0 h 368"/>
                <a:gd name="GluePoint2X" fmla="*/ 18034 w 356"/>
                <a:gd name="GluePoint2Y" fmla="*/ 1220 h 368"/>
                <a:gd name="GluePoint3X" fmla="*/ 21394 w 356"/>
                <a:gd name="GluePoint3Y" fmla="*/ 25425 h 368"/>
                <a:gd name="GluePoint4X" fmla="*/ 4715 w 356"/>
                <a:gd name="GluePoint4Y" fmla="*/ 31797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</p:grpSp>
      <p:grpSp>
        <p:nvGrpSpPr>
          <p:cNvPr id="367" name="Group 80"/>
          <p:cNvGrpSpPr/>
          <p:nvPr/>
        </p:nvGrpSpPr>
        <p:grpSpPr>
          <a:xfrm>
            <a:off x="7112160" y="1977480"/>
            <a:ext cx="641160" cy="558360"/>
            <a:chOff x="7112160" y="1977480"/>
            <a:chExt cx="641160" cy="558360"/>
          </a:xfrm>
        </p:grpSpPr>
        <p:pic>
          <p:nvPicPr>
            <p:cNvPr id="368" name="Picture 81" descr="desktop_computer_stylized_medium"/>
            <p:cNvPicPr/>
            <p:nvPr/>
          </p:nvPicPr>
          <p:blipFill>
            <a:blip r:embed="rId2"/>
            <a:stretch/>
          </p:blipFill>
          <p:spPr>
            <a:xfrm flipH="1">
              <a:off x="7112160" y="1977480"/>
              <a:ext cx="641160" cy="558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69" name="Freeform 82"/>
            <p:cNvSpPr/>
            <p:nvPr/>
          </p:nvSpPr>
          <p:spPr>
            <a:xfrm flipH="1">
              <a:off x="7384680" y="2031120"/>
              <a:ext cx="311400" cy="255600"/>
            </a:xfrm>
            <a:custGeom>
              <a:avLst/>
              <a:gdLst>
                <a:gd name="textAreaLeft" fmla="*/ -360 w 311400"/>
                <a:gd name="textAreaRight" fmla="*/ 311400 w 311400"/>
                <a:gd name="textAreaTop" fmla="*/ 0 h 255600"/>
                <a:gd name="textAreaBottom" fmla="*/ 255960 h 255600"/>
                <a:gd name="GluePoint1X" fmla="*/ 0 w 356"/>
                <a:gd name="GluePoint1Y" fmla="*/ 0 h 368"/>
                <a:gd name="GluePoint2X" fmla="*/ 18034 w 356"/>
                <a:gd name="GluePoint2Y" fmla="*/ 1220 h 368"/>
                <a:gd name="GluePoint3X" fmla="*/ 21394 w 356"/>
                <a:gd name="GluePoint3Y" fmla="*/ 25425 h 368"/>
                <a:gd name="GluePoint4X" fmla="*/ 4715 w 356"/>
                <a:gd name="GluePoint4Y" fmla="*/ 31797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</p:grpSp>
      <p:grpSp>
        <p:nvGrpSpPr>
          <p:cNvPr id="370" name="Group 83"/>
          <p:cNvGrpSpPr/>
          <p:nvPr/>
        </p:nvGrpSpPr>
        <p:grpSpPr>
          <a:xfrm>
            <a:off x="7140600" y="2586960"/>
            <a:ext cx="641160" cy="558360"/>
            <a:chOff x="7140600" y="2586960"/>
            <a:chExt cx="641160" cy="558360"/>
          </a:xfrm>
        </p:grpSpPr>
        <p:pic>
          <p:nvPicPr>
            <p:cNvPr id="371" name="Picture 84" descr="desktop_computer_stylized_medium"/>
            <p:cNvPicPr/>
            <p:nvPr/>
          </p:nvPicPr>
          <p:blipFill>
            <a:blip r:embed="rId3"/>
            <a:stretch/>
          </p:blipFill>
          <p:spPr>
            <a:xfrm flipH="1">
              <a:off x="7140600" y="2586960"/>
              <a:ext cx="641160" cy="558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72" name="Freeform 85"/>
            <p:cNvSpPr/>
            <p:nvPr/>
          </p:nvSpPr>
          <p:spPr>
            <a:xfrm flipH="1">
              <a:off x="7413120" y="2640600"/>
              <a:ext cx="311400" cy="255600"/>
            </a:xfrm>
            <a:custGeom>
              <a:avLst/>
              <a:gdLst>
                <a:gd name="textAreaLeft" fmla="*/ -360 w 311400"/>
                <a:gd name="textAreaRight" fmla="*/ 311400 w 311400"/>
                <a:gd name="textAreaTop" fmla="*/ 0 h 255600"/>
                <a:gd name="textAreaBottom" fmla="*/ 255960 h 255600"/>
                <a:gd name="GluePoint1X" fmla="*/ 0 w 356"/>
                <a:gd name="GluePoint1Y" fmla="*/ 0 h 368"/>
                <a:gd name="GluePoint2X" fmla="*/ 18034 w 356"/>
                <a:gd name="GluePoint2Y" fmla="*/ 1220 h 368"/>
                <a:gd name="GluePoint3X" fmla="*/ 21394 w 356"/>
                <a:gd name="GluePoint3Y" fmla="*/ 25425 h 368"/>
                <a:gd name="GluePoint4X" fmla="*/ 4715 w 356"/>
                <a:gd name="GluePoint4Y" fmla="*/ 31797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</p:grpSp>
      <p:grpSp>
        <p:nvGrpSpPr>
          <p:cNvPr id="373" name="Group 87"/>
          <p:cNvGrpSpPr/>
          <p:nvPr/>
        </p:nvGrpSpPr>
        <p:grpSpPr>
          <a:xfrm>
            <a:off x="10799640" y="1536120"/>
            <a:ext cx="641160" cy="558360"/>
            <a:chOff x="10799640" y="1536120"/>
            <a:chExt cx="641160" cy="558360"/>
          </a:xfrm>
        </p:grpSpPr>
        <p:pic>
          <p:nvPicPr>
            <p:cNvPr id="374" name="Picture 88" descr="desktop_computer_stylized_medium"/>
            <p:cNvPicPr/>
            <p:nvPr/>
          </p:nvPicPr>
          <p:blipFill>
            <a:blip r:embed="rId4"/>
            <a:stretch/>
          </p:blipFill>
          <p:spPr>
            <a:xfrm>
              <a:off x="10799640" y="1536120"/>
              <a:ext cx="641160" cy="558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75" name="Freeform 89"/>
            <p:cNvSpPr/>
            <p:nvPr/>
          </p:nvSpPr>
          <p:spPr>
            <a:xfrm>
              <a:off x="10856160" y="1589760"/>
              <a:ext cx="311400" cy="255600"/>
            </a:xfrm>
            <a:custGeom>
              <a:avLst/>
              <a:gdLst>
                <a:gd name="textAreaLeft" fmla="*/ 0 w 311400"/>
                <a:gd name="textAreaRight" fmla="*/ 311760 w 311400"/>
                <a:gd name="textAreaTop" fmla="*/ 0 h 255600"/>
                <a:gd name="textAreaBottom" fmla="*/ 255960 h 255600"/>
                <a:gd name="GluePoint1X" fmla="*/ 0 w 356"/>
                <a:gd name="GluePoint1Y" fmla="*/ 0 h 368"/>
                <a:gd name="GluePoint2X" fmla="*/ 18034 w 356"/>
                <a:gd name="GluePoint2Y" fmla="*/ 1220 h 368"/>
                <a:gd name="GluePoint3X" fmla="*/ 21394 w 356"/>
                <a:gd name="GluePoint3Y" fmla="*/ 25425 h 368"/>
                <a:gd name="GluePoint4X" fmla="*/ 4715 w 356"/>
                <a:gd name="GluePoint4Y" fmla="*/ 31797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</p:grpSp>
      <p:grpSp>
        <p:nvGrpSpPr>
          <p:cNvPr id="376" name="Group 90"/>
          <p:cNvGrpSpPr/>
          <p:nvPr/>
        </p:nvGrpSpPr>
        <p:grpSpPr>
          <a:xfrm>
            <a:off x="10814040" y="2815560"/>
            <a:ext cx="641160" cy="558360"/>
            <a:chOff x="10814040" y="2815560"/>
            <a:chExt cx="641160" cy="558360"/>
          </a:xfrm>
        </p:grpSpPr>
        <p:pic>
          <p:nvPicPr>
            <p:cNvPr id="377" name="Picture 91" descr="desktop_computer_stylized_medium"/>
            <p:cNvPicPr/>
            <p:nvPr/>
          </p:nvPicPr>
          <p:blipFill>
            <a:blip r:embed="rId5"/>
            <a:stretch/>
          </p:blipFill>
          <p:spPr>
            <a:xfrm>
              <a:off x="10814040" y="2815560"/>
              <a:ext cx="641160" cy="558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78" name="Freeform 92"/>
            <p:cNvSpPr/>
            <p:nvPr/>
          </p:nvSpPr>
          <p:spPr>
            <a:xfrm>
              <a:off x="10870200" y="2869200"/>
              <a:ext cx="311400" cy="255600"/>
            </a:xfrm>
            <a:custGeom>
              <a:avLst/>
              <a:gdLst>
                <a:gd name="textAreaLeft" fmla="*/ 0 w 311400"/>
                <a:gd name="textAreaRight" fmla="*/ 311760 w 311400"/>
                <a:gd name="textAreaTop" fmla="*/ 0 h 255600"/>
                <a:gd name="textAreaBottom" fmla="*/ 255960 h 255600"/>
                <a:gd name="GluePoint1X" fmla="*/ 0 w 356"/>
                <a:gd name="GluePoint1Y" fmla="*/ 0 h 368"/>
                <a:gd name="GluePoint2X" fmla="*/ 18034 w 356"/>
                <a:gd name="GluePoint2Y" fmla="*/ 1220 h 368"/>
                <a:gd name="GluePoint3X" fmla="*/ 21394 w 356"/>
                <a:gd name="GluePoint3Y" fmla="*/ 25425 h 368"/>
                <a:gd name="GluePoint4X" fmla="*/ 4715 w 356"/>
                <a:gd name="GluePoint4Y" fmla="*/ 31797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</p:grpSp>
      <p:grpSp>
        <p:nvGrpSpPr>
          <p:cNvPr id="379" name="Group 93"/>
          <p:cNvGrpSpPr/>
          <p:nvPr/>
        </p:nvGrpSpPr>
        <p:grpSpPr>
          <a:xfrm>
            <a:off x="9715680" y="4339440"/>
            <a:ext cx="641160" cy="558360"/>
            <a:chOff x="9715680" y="4339440"/>
            <a:chExt cx="641160" cy="558360"/>
          </a:xfrm>
        </p:grpSpPr>
        <p:pic>
          <p:nvPicPr>
            <p:cNvPr id="380" name="Picture 94" descr="desktop_computer_stylized_medium"/>
            <p:cNvPicPr/>
            <p:nvPr/>
          </p:nvPicPr>
          <p:blipFill>
            <a:blip r:embed="rId6"/>
            <a:stretch/>
          </p:blipFill>
          <p:spPr>
            <a:xfrm>
              <a:off x="9715680" y="4339440"/>
              <a:ext cx="641160" cy="558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81" name="Freeform 95"/>
            <p:cNvSpPr/>
            <p:nvPr/>
          </p:nvSpPr>
          <p:spPr>
            <a:xfrm>
              <a:off x="9771840" y="4393080"/>
              <a:ext cx="311400" cy="255600"/>
            </a:xfrm>
            <a:custGeom>
              <a:avLst/>
              <a:gdLst>
                <a:gd name="textAreaLeft" fmla="*/ 0 w 311400"/>
                <a:gd name="textAreaRight" fmla="*/ 311760 w 311400"/>
                <a:gd name="textAreaTop" fmla="*/ 0 h 255600"/>
                <a:gd name="textAreaBottom" fmla="*/ 255960 h 255600"/>
                <a:gd name="GluePoint1X" fmla="*/ 0 w 356"/>
                <a:gd name="GluePoint1Y" fmla="*/ 0 h 368"/>
                <a:gd name="GluePoint2X" fmla="*/ 18034 w 356"/>
                <a:gd name="GluePoint2Y" fmla="*/ 1220 h 368"/>
                <a:gd name="GluePoint3X" fmla="*/ 21394 w 356"/>
                <a:gd name="GluePoint3Y" fmla="*/ 25425 h 368"/>
                <a:gd name="GluePoint4X" fmla="*/ 4715 w 356"/>
                <a:gd name="GluePoint4Y" fmla="*/ 31797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</p:grpSp>
      <p:grpSp>
        <p:nvGrpSpPr>
          <p:cNvPr id="382" name="Group 96"/>
          <p:cNvGrpSpPr/>
          <p:nvPr/>
        </p:nvGrpSpPr>
        <p:grpSpPr>
          <a:xfrm>
            <a:off x="8551800" y="4380840"/>
            <a:ext cx="641160" cy="558360"/>
            <a:chOff x="8551800" y="4380840"/>
            <a:chExt cx="641160" cy="558360"/>
          </a:xfrm>
        </p:grpSpPr>
        <p:pic>
          <p:nvPicPr>
            <p:cNvPr id="383" name="Picture 97" descr="desktop_computer_stylized_medium"/>
            <p:cNvPicPr/>
            <p:nvPr/>
          </p:nvPicPr>
          <p:blipFill>
            <a:blip r:embed="rId7"/>
            <a:stretch/>
          </p:blipFill>
          <p:spPr>
            <a:xfrm>
              <a:off x="8551800" y="4380840"/>
              <a:ext cx="641160" cy="558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84" name="Freeform 98"/>
            <p:cNvSpPr/>
            <p:nvPr/>
          </p:nvSpPr>
          <p:spPr>
            <a:xfrm>
              <a:off x="8607960" y="4434480"/>
              <a:ext cx="311400" cy="255600"/>
            </a:xfrm>
            <a:custGeom>
              <a:avLst/>
              <a:gdLst>
                <a:gd name="textAreaLeft" fmla="*/ 0 w 311400"/>
                <a:gd name="textAreaRight" fmla="*/ 311760 w 311400"/>
                <a:gd name="textAreaTop" fmla="*/ 0 h 255600"/>
                <a:gd name="textAreaBottom" fmla="*/ 255960 h 255600"/>
                <a:gd name="GluePoint1X" fmla="*/ 0 w 356"/>
                <a:gd name="GluePoint1Y" fmla="*/ 0 h 368"/>
                <a:gd name="GluePoint2X" fmla="*/ 18034 w 356"/>
                <a:gd name="GluePoint2Y" fmla="*/ 1220 h 368"/>
                <a:gd name="GluePoint3X" fmla="*/ 21394 w 356"/>
                <a:gd name="GluePoint3Y" fmla="*/ 25425 h 368"/>
                <a:gd name="GluePoint4X" fmla="*/ 4715 w 356"/>
                <a:gd name="GluePoint4Y" fmla="*/ 31797 h 368"/>
                <a:gd name="GluePoint5X" fmla="*/ 0 w 356"/>
                <a:gd name="GluePoint5Y" fmla="*/ 0 h 3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</p:grpSp>
      <p:cxnSp>
        <p:nvCxnSpPr>
          <p:cNvPr id="385" name="Straight Connector 138"/>
          <p:cNvCxnSpPr/>
          <p:nvPr/>
        </p:nvCxnSpPr>
        <p:spPr>
          <a:xfrm>
            <a:off x="7697160" y="1785600"/>
            <a:ext cx="34344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86" name="Straight Connector 139"/>
          <p:cNvCxnSpPr/>
          <p:nvPr/>
        </p:nvCxnSpPr>
        <p:spPr>
          <a:xfrm>
            <a:off x="7698600" y="2384640"/>
            <a:ext cx="34344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87" name="Straight Connector 140"/>
          <p:cNvCxnSpPr/>
          <p:nvPr/>
        </p:nvCxnSpPr>
        <p:spPr>
          <a:xfrm>
            <a:off x="7705800" y="2997720"/>
            <a:ext cx="34308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88" name="Straight Connector 152"/>
          <p:cNvCxnSpPr/>
          <p:nvPr/>
        </p:nvCxnSpPr>
        <p:spPr>
          <a:xfrm>
            <a:off x="10629720" y="1942200"/>
            <a:ext cx="26136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89" name="Straight Connector 154"/>
          <p:cNvCxnSpPr/>
          <p:nvPr/>
        </p:nvCxnSpPr>
        <p:spPr>
          <a:xfrm>
            <a:off x="10631160" y="3221280"/>
            <a:ext cx="26136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90" name="Straight Connector 156"/>
          <p:cNvCxnSpPr/>
          <p:nvPr/>
        </p:nvCxnSpPr>
        <p:spPr>
          <a:xfrm>
            <a:off x="8740800" y="4181760"/>
            <a:ext cx="360" cy="23328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91" name="Straight Connector 157"/>
          <p:cNvCxnSpPr/>
          <p:nvPr/>
        </p:nvCxnSpPr>
        <p:spPr>
          <a:xfrm>
            <a:off x="9886320" y="4143960"/>
            <a:ext cx="360" cy="23328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sp>
        <p:nvSpPr>
          <p:cNvPr id="392" name="Rectangle 3"/>
          <p:cNvSpPr/>
          <p:nvPr/>
        </p:nvSpPr>
        <p:spPr>
          <a:xfrm>
            <a:off x="910800" y="1504440"/>
            <a:ext cx="5504400" cy="22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marL="235080" indent="-23508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i="1" lang="en-US" sz="3200" strike="noStrike" u="none">
                <a:solidFill>
                  <a:srgbClr val="000099"/>
                </a:solidFill>
                <a:effectLst/>
                <a:uFillTx/>
                <a:latin typeface="Calibri"/>
                <a:ea typeface="ＭＳ Ｐゴシック"/>
              </a:rPr>
              <a:t>What’s a subnet 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480" indent="-23328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device interfaces that can physically reach each other </a:t>
            </a:r>
            <a:r>
              <a:rPr b="0" lang="en-US" sz="2800" strike="noStrike" u="non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without passing through an intervening router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3" name="Straight Connector 164"/>
          <p:cNvCxnSpPr/>
          <p:nvPr/>
        </p:nvCxnSpPr>
        <p:spPr>
          <a:xfrm>
            <a:off x="8364240" y="2578320"/>
            <a:ext cx="79488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394" name="Straight Connector 165"/>
          <p:cNvCxnSpPr/>
          <p:nvPr/>
        </p:nvCxnSpPr>
        <p:spPr>
          <a:xfrm>
            <a:off x="9547560" y="2584440"/>
            <a:ext cx="97560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grpSp>
        <p:nvGrpSpPr>
          <p:cNvPr id="395" name="Group 144"/>
          <p:cNvGrpSpPr/>
          <p:nvPr/>
        </p:nvGrpSpPr>
        <p:grpSpPr>
          <a:xfrm>
            <a:off x="9053640" y="2438640"/>
            <a:ext cx="632520" cy="300600"/>
            <a:chOff x="9053640" y="2438640"/>
            <a:chExt cx="632520" cy="300600"/>
          </a:xfrm>
        </p:grpSpPr>
        <p:sp>
          <p:nvSpPr>
            <p:cNvPr id="396" name="Freeform 145"/>
            <p:cNvSpPr/>
            <p:nvPr/>
          </p:nvSpPr>
          <p:spPr>
            <a:xfrm>
              <a:off x="9053640" y="2542680"/>
              <a:ext cx="632520" cy="196560"/>
            </a:xfrm>
            <a:custGeom>
              <a:avLst/>
              <a:gdLst>
                <a:gd name="textAreaLeft" fmla="*/ 0 w 632520"/>
                <a:gd name="textAreaRight" fmla="*/ 632880 w 632520"/>
                <a:gd name="textAreaTop" fmla="*/ 0 h 196560"/>
                <a:gd name="textAreaBottom" fmla="*/ 196920 h 19656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7" name="Oval 146"/>
            <p:cNvSpPr/>
            <p:nvPr/>
          </p:nvSpPr>
          <p:spPr>
            <a:xfrm>
              <a:off x="9054000" y="2438640"/>
              <a:ext cx="631800" cy="19440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8" name="Group 147"/>
            <p:cNvGrpSpPr/>
            <p:nvPr/>
          </p:nvGrpSpPr>
          <p:grpSpPr>
            <a:xfrm>
              <a:off x="9147600" y="2463120"/>
              <a:ext cx="444960" cy="142920"/>
              <a:chOff x="9147600" y="2463120"/>
              <a:chExt cx="444960" cy="142920"/>
            </a:xfrm>
          </p:grpSpPr>
          <p:sp>
            <p:nvSpPr>
              <p:cNvPr id="399" name="Freeform 148"/>
              <p:cNvSpPr/>
              <p:nvPr/>
            </p:nvSpPr>
            <p:spPr>
              <a:xfrm>
                <a:off x="9159840" y="2463120"/>
                <a:ext cx="420840" cy="79920"/>
              </a:xfrm>
              <a:custGeom>
                <a:avLst/>
                <a:gdLst>
                  <a:gd name="textAreaLeft" fmla="*/ 0 w 420840"/>
                  <a:gd name="textAreaRight" fmla="*/ 421200 w 420840"/>
                  <a:gd name="textAreaTop" fmla="*/ 0 h 79920"/>
                  <a:gd name="textAreaBottom" fmla="*/ 80280 h 7992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35280" bIns="3528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400" name="Freeform 149"/>
              <p:cNvSpPr/>
              <p:nvPr/>
            </p:nvSpPr>
            <p:spPr>
              <a:xfrm>
                <a:off x="9435600" y="2531880"/>
                <a:ext cx="156960" cy="687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68760"/>
                  <a:gd name="textAreaBottom" fmla="*/ 69120 h 6876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24120" bIns="2412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401" name="Freeform 150"/>
              <p:cNvSpPr/>
              <p:nvPr/>
            </p:nvSpPr>
            <p:spPr>
              <a:xfrm>
                <a:off x="9147600" y="2531880"/>
                <a:ext cx="154080" cy="67680"/>
              </a:xfrm>
              <a:custGeom>
                <a:avLst/>
                <a:gdLst>
                  <a:gd name="textAreaLeft" fmla="*/ 0 w 154080"/>
                  <a:gd name="textAreaRight" fmla="*/ 154440 w 154080"/>
                  <a:gd name="textAreaTop" fmla="*/ 0 h 67680"/>
                  <a:gd name="textAreaBottom" fmla="*/ 68040 h 6768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23040" bIns="2304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402" name="Freeform 151"/>
              <p:cNvSpPr/>
              <p:nvPr/>
            </p:nvSpPr>
            <p:spPr>
              <a:xfrm>
                <a:off x="9201240" y="2498040"/>
                <a:ext cx="335160" cy="108000"/>
              </a:xfrm>
              <a:custGeom>
                <a:avLst/>
                <a:gdLst>
                  <a:gd name="textAreaLeft" fmla="*/ 0 w 335160"/>
                  <a:gd name="textAreaRight" fmla="*/ 335520 w 335160"/>
                  <a:gd name="textAreaTop" fmla="*/ 0 h 108000"/>
                  <a:gd name="textAreaBottom" fmla="*/ 108360 h 10800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403" name="Text Box 56"/>
          <p:cNvSpPr/>
          <p:nvPr/>
        </p:nvSpPr>
        <p:spPr>
          <a:xfrm>
            <a:off x="7810200" y="5139000"/>
            <a:ext cx="37238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network consisting of 3 subnets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Rectangle 3"/>
          <p:cNvSpPr/>
          <p:nvPr/>
        </p:nvSpPr>
        <p:spPr>
          <a:xfrm>
            <a:off x="923760" y="3718440"/>
            <a:ext cx="6050160" cy="26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marL="235080" indent="-23508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rgbClr val="000099"/>
                </a:solidFill>
                <a:effectLst/>
                <a:uFillTx/>
                <a:latin typeface="Calibri"/>
                <a:ea typeface="ＭＳ Ｐゴシック"/>
              </a:rPr>
              <a:t>IP addresses have structure: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480" indent="-23328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subnet part: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devices in same subnet have common high order bits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2480" indent="-23328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host part: remaining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low order bits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 type="sldNum" idx="49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4-</a:t>
            </a:r>
            <a:fld id="{FF51F5F4-AF58-4E24-8B74-E4C2E3FEDE21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9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5" dur="indefinite" restart="never" nodeType="tmRoot">
          <p:childTnLst>
            <p:seq>
              <p:cTn id="246" dur="indefinite" nodeType="mainSeq">
                <p:childTnLst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1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6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838080" y="3110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rgbClr val="0000a3"/>
                </a:solidFill>
                <a:effectLst/>
                <a:uFillTx/>
                <a:latin typeface="Calibri Light"/>
                <a:ea typeface="ＭＳ Ｐゴシック"/>
              </a:rPr>
              <a:t>Subnets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7" name="Freeform 140"/>
          <p:cNvSpPr/>
          <p:nvPr/>
        </p:nvSpPr>
        <p:spPr>
          <a:xfrm rot="16200000">
            <a:off x="8946000" y="3046680"/>
            <a:ext cx="845640" cy="1593360"/>
          </a:xfrm>
          <a:custGeom>
            <a:avLst/>
            <a:gdLst>
              <a:gd name="textAreaLeft" fmla="*/ 0 w 845640"/>
              <a:gd name="textAreaRight" fmla="*/ 846000 w 845640"/>
              <a:gd name="textAreaTop" fmla="*/ 0 h 1593360"/>
              <a:gd name="textAreaBottom" fmla="*/ 1593720 h 1593360"/>
              <a:gd name="GluePoint1X" fmla="*/ 2147483647 w 10315"/>
              <a:gd name="GluePoint1Y" fmla="*/ 2147483647 h 10000"/>
              <a:gd name="GluePoint2X" fmla="*/ 2147483647 w 10315"/>
              <a:gd name="GluePoint2Y" fmla="*/ 2147483647 h 10000"/>
              <a:gd name="GluePoint3X" fmla="*/ 2147483647 w 10315"/>
              <a:gd name="GluePoint3Y" fmla="*/ 2147483647 h 10000"/>
              <a:gd name="GluePoint4X" fmla="*/ 2147483647 w 10315"/>
              <a:gd name="GluePoint4Y" fmla="*/ 2147483647 h 10000"/>
              <a:gd name="GluePoint5X" fmla="*/ 2147483647 w 10315"/>
              <a:gd name="GluePoint5Y" fmla="*/ 2147483647 h 10000"/>
              <a:gd name="GluePoint6X" fmla="*/ 2147483647 w 10315"/>
              <a:gd name="GluePoint6Y" fmla="*/ 2147483647 h 10000"/>
              <a:gd name="GluePoint7X" fmla="*/ 2147483647 w 10315"/>
              <a:gd name="GluePoint7Y" fmla="*/ 2147483647 h 10000"/>
              <a:gd name="GluePoint8X" fmla="*/ 2147483647 w 10315"/>
              <a:gd name="GluePoint8Y" fmla="*/ 2147483647 h 10000"/>
              <a:gd name="GluePoint9X" fmla="*/ 2147483647 w 10315"/>
              <a:gd name="GluePoint9Y" fmla="*/ 2147483647 h 10000"/>
              <a:gd name="GluePoint10X" fmla="*/ 2147483647 w 10315"/>
              <a:gd name="GluePoint10Y" fmla="*/ 2147483647 h 10000"/>
              <a:gd name="GluePoint11X" fmla="*/ 2147483647 w 10315"/>
              <a:gd name="GluePoint11Y" fmla="*/ 2147483647 h 10000"/>
              <a:gd name="GluePoint12X" fmla="*/ 2147483647 w 10315"/>
              <a:gd name="GluePoint12Y" fmla="*/ 2147483647 h 10000"/>
              <a:gd name="GluePoint13X" fmla="*/ 2147483647 w 10315"/>
              <a:gd name="GluePoint13Y" fmla="*/ 2147483647 h 10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408" name="Freeform 140"/>
          <p:cNvSpPr/>
          <p:nvPr/>
        </p:nvSpPr>
        <p:spPr>
          <a:xfrm rot="10800000">
            <a:off x="9944640" y="1720800"/>
            <a:ext cx="845640" cy="1593360"/>
          </a:xfrm>
          <a:custGeom>
            <a:avLst/>
            <a:gdLst>
              <a:gd name="textAreaLeft" fmla="*/ 0 w 845640"/>
              <a:gd name="textAreaRight" fmla="*/ 846000 w 845640"/>
              <a:gd name="textAreaTop" fmla="*/ 0 h 1593360"/>
              <a:gd name="textAreaBottom" fmla="*/ 1593720 h 1593360"/>
              <a:gd name="GluePoint1X" fmla="*/ 2147483647 w 10315"/>
              <a:gd name="GluePoint1Y" fmla="*/ 2147483647 h 10000"/>
              <a:gd name="GluePoint2X" fmla="*/ 2147483647 w 10315"/>
              <a:gd name="GluePoint2Y" fmla="*/ 2147483647 h 10000"/>
              <a:gd name="GluePoint3X" fmla="*/ 2147483647 w 10315"/>
              <a:gd name="GluePoint3Y" fmla="*/ 2147483647 h 10000"/>
              <a:gd name="GluePoint4X" fmla="*/ 2147483647 w 10315"/>
              <a:gd name="GluePoint4Y" fmla="*/ 2147483647 h 10000"/>
              <a:gd name="GluePoint5X" fmla="*/ 2147483647 w 10315"/>
              <a:gd name="GluePoint5Y" fmla="*/ 2147483647 h 10000"/>
              <a:gd name="GluePoint6X" fmla="*/ 2147483647 w 10315"/>
              <a:gd name="GluePoint6Y" fmla="*/ 2147483647 h 10000"/>
              <a:gd name="GluePoint7X" fmla="*/ 2147483647 w 10315"/>
              <a:gd name="GluePoint7Y" fmla="*/ 2147483647 h 10000"/>
              <a:gd name="GluePoint8X" fmla="*/ 2147483647 w 10315"/>
              <a:gd name="GluePoint8Y" fmla="*/ 2147483647 h 10000"/>
              <a:gd name="GluePoint9X" fmla="*/ 2147483647 w 10315"/>
              <a:gd name="GluePoint9Y" fmla="*/ 2147483647 h 10000"/>
              <a:gd name="GluePoint10X" fmla="*/ 2147483647 w 10315"/>
              <a:gd name="GluePoint10Y" fmla="*/ 2147483647 h 10000"/>
              <a:gd name="GluePoint11X" fmla="*/ 2147483647 w 10315"/>
              <a:gd name="GluePoint11Y" fmla="*/ 2147483647 h 10000"/>
              <a:gd name="GluePoint12X" fmla="*/ 2147483647 w 10315"/>
              <a:gd name="GluePoint12Y" fmla="*/ 2147483647 h 10000"/>
              <a:gd name="GluePoint13X" fmla="*/ 2147483647 w 10315"/>
              <a:gd name="GluePoint13Y" fmla="*/ 2147483647 h 10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409" name="Freeform 140"/>
          <p:cNvSpPr/>
          <p:nvPr/>
        </p:nvSpPr>
        <p:spPr>
          <a:xfrm>
            <a:off x="7908840" y="1302840"/>
            <a:ext cx="1037880" cy="1926720"/>
          </a:xfrm>
          <a:custGeom>
            <a:avLst/>
            <a:gdLst>
              <a:gd name="textAreaLeft" fmla="*/ 0 w 1037880"/>
              <a:gd name="textAreaRight" fmla="*/ 1038240 w 1037880"/>
              <a:gd name="textAreaTop" fmla="*/ 0 h 1926720"/>
              <a:gd name="textAreaBottom" fmla="*/ 1927080 h 1926720"/>
              <a:gd name="GluePoint1X" fmla="*/ 2147483647 w 1223"/>
              <a:gd name="GluePoint1Y" fmla="*/ 2147483647 h 1291"/>
              <a:gd name="GluePoint2X" fmla="*/ 2147483647 w 1223"/>
              <a:gd name="GluePoint2Y" fmla="*/ 2147483647 h 1291"/>
              <a:gd name="GluePoint3X" fmla="*/ 2147483647 w 1223"/>
              <a:gd name="GluePoint3Y" fmla="*/ 2147483647 h 1291"/>
              <a:gd name="GluePoint4X" fmla="*/ 2147483647 w 1223"/>
              <a:gd name="GluePoint4Y" fmla="*/ 2147483647 h 1291"/>
              <a:gd name="GluePoint5X" fmla="*/ 2147483647 w 1223"/>
              <a:gd name="GluePoint5Y" fmla="*/ 2147483647 h 1291"/>
              <a:gd name="GluePoint6X" fmla="*/ 2147483647 w 1223"/>
              <a:gd name="GluePoint6Y" fmla="*/ 2147483647 h 1291"/>
              <a:gd name="GluePoint7X" fmla="*/ 2147483647 w 1223"/>
              <a:gd name="GluePoint7Y" fmla="*/ 2147483647 h 1291"/>
              <a:gd name="GluePoint8X" fmla="*/ 2147483647 w 1223"/>
              <a:gd name="GluePoint8Y" fmla="*/ 2147483647 h 1291"/>
              <a:gd name="GluePoint9X" fmla="*/ 2147483647 w 1223"/>
              <a:gd name="GluePoint9Y" fmla="*/ 2147483647 h 1291"/>
              <a:gd name="GluePoint10X" fmla="*/ 2147483647 w 1223"/>
              <a:gd name="GluePoint10Y" fmla="*/ 2147483647 h 1291"/>
              <a:gd name="GluePoint11X" fmla="*/ 2147483647 w 1223"/>
              <a:gd name="GluePoint11Y" fmla="*/ 2147483647 h 1291"/>
              <a:gd name="GluePoint12X" fmla="*/ 2147483647 w 1223"/>
              <a:gd name="GluePoint12Y" fmla="*/ 2147483647 h 1291"/>
              <a:gd name="GluePoint13X" fmla="*/ 2147483647 w 1223"/>
              <a:gd name="GluePoint13Y" fmla="*/ 2147483647 h 1291"/>
              <a:gd name="GluePoint14X" fmla="*/ 2147483647 w 1223"/>
              <a:gd name="GluePoint14Y" fmla="*/ 2147483647 h 12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</a:cxnLst>
            <a:rect l="textAreaLeft" t="textAreaTop" r="textAreaRight" b="textAreaBottom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410" name="Text Box 26"/>
          <p:cNvSpPr/>
          <p:nvPr/>
        </p:nvSpPr>
        <p:spPr>
          <a:xfrm>
            <a:off x="7291440" y="1132920"/>
            <a:ext cx="8251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223.1.1.1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1" name="Group 27"/>
          <p:cNvGrpSpPr/>
          <p:nvPr/>
        </p:nvGrpSpPr>
        <p:grpSpPr>
          <a:xfrm>
            <a:off x="6558120" y="2093400"/>
            <a:ext cx="920160" cy="275760"/>
            <a:chOff x="6558120" y="2093400"/>
            <a:chExt cx="920160" cy="275760"/>
          </a:xfrm>
        </p:grpSpPr>
        <p:sp>
          <p:nvSpPr>
            <p:cNvPr id="412" name="Rectangle 28"/>
            <p:cNvSpPr/>
            <p:nvPr/>
          </p:nvSpPr>
          <p:spPr>
            <a:xfrm>
              <a:off x="6645240" y="2171160"/>
              <a:ext cx="833040" cy="1807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413" name="Text Box 29"/>
            <p:cNvSpPr/>
            <p:nvPr/>
          </p:nvSpPr>
          <p:spPr>
            <a:xfrm>
              <a:off x="6558120" y="2093400"/>
              <a:ext cx="826560" cy="27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223.1.1.2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4" name="Text Box 30"/>
          <p:cNvSpPr/>
          <p:nvPr/>
        </p:nvSpPr>
        <p:spPr>
          <a:xfrm>
            <a:off x="7396200" y="3088440"/>
            <a:ext cx="8265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223.1.1.3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Box 31"/>
          <p:cNvSpPr/>
          <p:nvPr/>
        </p:nvSpPr>
        <p:spPr>
          <a:xfrm>
            <a:off x="8365680" y="2275920"/>
            <a:ext cx="8265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223.1.1.4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Box 33"/>
          <p:cNvSpPr/>
          <p:nvPr/>
        </p:nvSpPr>
        <p:spPr>
          <a:xfrm>
            <a:off x="9578880" y="2277000"/>
            <a:ext cx="82656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223.1.2.9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Box 41"/>
          <p:cNvSpPr/>
          <p:nvPr/>
        </p:nvSpPr>
        <p:spPr>
          <a:xfrm>
            <a:off x="10148040" y="3220200"/>
            <a:ext cx="8265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223.1.2.2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Box 44"/>
          <p:cNvSpPr/>
          <p:nvPr/>
        </p:nvSpPr>
        <p:spPr>
          <a:xfrm>
            <a:off x="10107720" y="1703520"/>
            <a:ext cx="8265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223.1.2.1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Line 45"/>
          <p:cNvSpPr/>
          <p:nvPr/>
        </p:nvSpPr>
        <p:spPr>
          <a:xfrm>
            <a:off x="9359640" y="2734920"/>
            <a:ext cx="360" cy="87912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420" name="Text Box 53"/>
          <p:cNvSpPr/>
          <p:nvPr/>
        </p:nvSpPr>
        <p:spPr>
          <a:xfrm>
            <a:off x="9955080" y="4195080"/>
            <a:ext cx="8265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223.1.3.2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Box 56"/>
          <p:cNvSpPr/>
          <p:nvPr/>
        </p:nvSpPr>
        <p:spPr>
          <a:xfrm>
            <a:off x="8712360" y="4199760"/>
            <a:ext cx="82656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223.1.3.1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2" name="Group 57"/>
          <p:cNvGrpSpPr/>
          <p:nvPr/>
        </p:nvGrpSpPr>
        <p:grpSpPr>
          <a:xfrm>
            <a:off x="8885160" y="2996640"/>
            <a:ext cx="912600" cy="275760"/>
            <a:chOff x="8885160" y="2996640"/>
            <a:chExt cx="912600" cy="275760"/>
          </a:xfrm>
        </p:grpSpPr>
        <p:sp>
          <p:nvSpPr>
            <p:cNvPr id="423" name="Rectangle 58"/>
            <p:cNvSpPr/>
            <p:nvPr/>
          </p:nvSpPr>
          <p:spPr>
            <a:xfrm>
              <a:off x="8943840" y="3039480"/>
              <a:ext cx="847440" cy="1807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424" name="Text Box 59"/>
            <p:cNvSpPr/>
            <p:nvPr/>
          </p:nvSpPr>
          <p:spPr>
            <a:xfrm>
              <a:off x="8885160" y="2996640"/>
              <a:ext cx="912600" cy="27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223.1.3.27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25" name="Straight Connector 138"/>
          <p:cNvCxnSpPr/>
          <p:nvPr/>
        </p:nvCxnSpPr>
        <p:spPr>
          <a:xfrm>
            <a:off x="7697160" y="1785600"/>
            <a:ext cx="34344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426" name="Straight Connector 139"/>
          <p:cNvCxnSpPr/>
          <p:nvPr/>
        </p:nvCxnSpPr>
        <p:spPr>
          <a:xfrm>
            <a:off x="7698600" y="2384640"/>
            <a:ext cx="34344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427" name="Straight Connector 140"/>
          <p:cNvCxnSpPr/>
          <p:nvPr/>
        </p:nvCxnSpPr>
        <p:spPr>
          <a:xfrm>
            <a:off x="7705800" y="2997720"/>
            <a:ext cx="34308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428" name="Straight Connector 152"/>
          <p:cNvCxnSpPr/>
          <p:nvPr/>
        </p:nvCxnSpPr>
        <p:spPr>
          <a:xfrm>
            <a:off x="10629720" y="1942200"/>
            <a:ext cx="26136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429" name="Straight Connector 154"/>
          <p:cNvCxnSpPr/>
          <p:nvPr/>
        </p:nvCxnSpPr>
        <p:spPr>
          <a:xfrm>
            <a:off x="10631160" y="3221280"/>
            <a:ext cx="26136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430" name="Straight Connector 156"/>
          <p:cNvCxnSpPr/>
          <p:nvPr/>
        </p:nvCxnSpPr>
        <p:spPr>
          <a:xfrm>
            <a:off x="8740800" y="4181760"/>
            <a:ext cx="360" cy="23328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431" name="Straight Connector 157"/>
          <p:cNvCxnSpPr/>
          <p:nvPr/>
        </p:nvCxnSpPr>
        <p:spPr>
          <a:xfrm>
            <a:off x="9886320" y="4143960"/>
            <a:ext cx="360" cy="23328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sp>
        <p:nvSpPr>
          <p:cNvPr id="432" name="Rectangle 3"/>
          <p:cNvSpPr/>
          <p:nvPr/>
        </p:nvSpPr>
        <p:spPr>
          <a:xfrm>
            <a:off x="910800" y="1504440"/>
            <a:ext cx="5504400" cy="49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US" sz="3200" strike="noStrike" u="none">
                <a:solidFill>
                  <a:srgbClr val="cc0000"/>
                </a:solidFill>
                <a:effectLst/>
                <a:uFillTx/>
                <a:latin typeface="Calibri"/>
              </a:rPr>
              <a:t>Recipe for defining subnets: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detach each interface from its host or router, creating “islands” of isolated networks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each isolated network is called a </a:t>
            </a:r>
            <a:r>
              <a:rPr b="0" i="1" lang="en-US" sz="3200" strike="noStrike" u="none">
                <a:solidFill>
                  <a:srgbClr val="cc0000"/>
                </a:solidFill>
                <a:effectLst/>
                <a:uFillTx/>
                <a:latin typeface="Calibri"/>
              </a:rPr>
              <a:t>subnet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3" name="Straight Connector 164"/>
          <p:cNvCxnSpPr/>
          <p:nvPr/>
        </p:nvCxnSpPr>
        <p:spPr>
          <a:xfrm>
            <a:off x="8364240" y="2578320"/>
            <a:ext cx="79488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434" name="Straight Connector 165"/>
          <p:cNvCxnSpPr/>
          <p:nvPr/>
        </p:nvCxnSpPr>
        <p:spPr>
          <a:xfrm>
            <a:off x="9547560" y="2584440"/>
            <a:ext cx="975600" cy="3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grpSp>
        <p:nvGrpSpPr>
          <p:cNvPr id="435" name="Group 1"/>
          <p:cNvGrpSpPr/>
          <p:nvPr/>
        </p:nvGrpSpPr>
        <p:grpSpPr>
          <a:xfrm>
            <a:off x="7112160" y="1378800"/>
            <a:ext cx="4343040" cy="3560400"/>
            <a:chOff x="7112160" y="1378800"/>
            <a:chExt cx="4343040" cy="3560400"/>
          </a:xfrm>
        </p:grpSpPr>
        <p:grpSp>
          <p:nvGrpSpPr>
            <p:cNvPr id="436" name="Group 73"/>
            <p:cNvGrpSpPr/>
            <p:nvPr/>
          </p:nvGrpSpPr>
          <p:grpSpPr>
            <a:xfrm>
              <a:off x="7116840" y="1378800"/>
              <a:ext cx="641160" cy="558360"/>
              <a:chOff x="7116840" y="1378800"/>
              <a:chExt cx="641160" cy="558360"/>
            </a:xfrm>
          </p:grpSpPr>
          <p:pic>
            <p:nvPicPr>
              <p:cNvPr id="437" name="Picture 74" descr="desktop_computer_stylized_medium"/>
              <p:cNvPicPr/>
              <p:nvPr/>
            </p:nvPicPr>
            <p:blipFill>
              <a:blip r:embed="rId1"/>
              <a:stretch/>
            </p:blipFill>
            <p:spPr>
              <a:xfrm flipH="1">
                <a:off x="7116840" y="1378800"/>
                <a:ext cx="641160" cy="558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438" name="Freeform 75"/>
              <p:cNvSpPr/>
              <p:nvPr/>
            </p:nvSpPr>
            <p:spPr>
              <a:xfrm flipH="1">
                <a:off x="7389360" y="1432440"/>
                <a:ext cx="311400" cy="255600"/>
              </a:xfrm>
              <a:custGeom>
                <a:avLst/>
                <a:gdLst>
                  <a:gd name="textAreaLeft" fmla="*/ -360 w 311400"/>
                  <a:gd name="textAreaRight" fmla="*/ 311400 w 311400"/>
                  <a:gd name="textAreaTop" fmla="*/ 0 h 255600"/>
                  <a:gd name="textAreaBottom" fmla="*/ 255960 h 255600"/>
                  <a:gd name="GluePoint1X" fmla="*/ 0 w 356"/>
                  <a:gd name="GluePoint1Y" fmla="*/ 0 h 368"/>
                  <a:gd name="GluePoint2X" fmla="*/ 18034 w 356"/>
                  <a:gd name="GluePoint2Y" fmla="*/ 1220 h 368"/>
                  <a:gd name="GluePoint3X" fmla="*/ 21394 w 356"/>
                  <a:gd name="GluePoint3Y" fmla="*/ 25425 h 368"/>
                  <a:gd name="GluePoint4X" fmla="*/ 4715 w 356"/>
                  <a:gd name="GluePoint4Y" fmla="*/ 31797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</p:grpSp>
        <p:grpSp>
          <p:nvGrpSpPr>
            <p:cNvPr id="439" name="Group 80"/>
            <p:cNvGrpSpPr/>
            <p:nvPr/>
          </p:nvGrpSpPr>
          <p:grpSpPr>
            <a:xfrm>
              <a:off x="7112160" y="1977480"/>
              <a:ext cx="641160" cy="558360"/>
              <a:chOff x="7112160" y="1977480"/>
              <a:chExt cx="641160" cy="558360"/>
            </a:xfrm>
          </p:grpSpPr>
          <p:pic>
            <p:nvPicPr>
              <p:cNvPr id="440" name="Picture 81" descr="desktop_computer_stylized_medium"/>
              <p:cNvPicPr/>
              <p:nvPr/>
            </p:nvPicPr>
            <p:blipFill>
              <a:blip r:embed="rId2"/>
              <a:stretch/>
            </p:blipFill>
            <p:spPr>
              <a:xfrm flipH="1">
                <a:off x="7112160" y="1977480"/>
                <a:ext cx="641160" cy="558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441" name="Freeform 82"/>
              <p:cNvSpPr/>
              <p:nvPr/>
            </p:nvSpPr>
            <p:spPr>
              <a:xfrm flipH="1">
                <a:off x="7384680" y="2031120"/>
                <a:ext cx="311400" cy="255600"/>
              </a:xfrm>
              <a:custGeom>
                <a:avLst/>
                <a:gdLst>
                  <a:gd name="textAreaLeft" fmla="*/ -360 w 311400"/>
                  <a:gd name="textAreaRight" fmla="*/ 311400 w 311400"/>
                  <a:gd name="textAreaTop" fmla="*/ 0 h 255600"/>
                  <a:gd name="textAreaBottom" fmla="*/ 255960 h 255600"/>
                  <a:gd name="GluePoint1X" fmla="*/ 0 w 356"/>
                  <a:gd name="GluePoint1Y" fmla="*/ 0 h 368"/>
                  <a:gd name="GluePoint2X" fmla="*/ 18034 w 356"/>
                  <a:gd name="GluePoint2Y" fmla="*/ 1220 h 368"/>
                  <a:gd name="GluePoint3X" fmla="*/ 21394 w 356"/>
                  <a:gd name="GluePoint3Y" fmla="*/ 25425 h 368"/>
                  <a:gd name="GluePoint4X" fmla="*/ 4715 w 356"/>
                  <a:gd name="GluePoint4Y" fmla="*/ 31797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</p:grpSp>
        <p:grpSp>
          <p:nvGrpSpPr>
            <p:cNvPr id="442" name="Group 83"/>
            <p:cNvGrpSpPr/>
            <p:nvPr/>
          </p:nvGrpSpPr>
          <p:grpSpPr>
            <a:xfrm>
              <a:off x="7140600" y="2586960"/>
              <a:ext cx="641160" cy="558360"/>
              <a:chOff x="7140600" y="2586960"/>
              <a:chExt cx="641160" cy="558360"/>
            </a:xfrm>
          </p:grpSpPr>
          <p:pic>
            <p:nvPicPr>
              <p:cNvPr id="443" name="Picture 84" descr="desktop_computer_stylized_medium"/>
              <p:cNvPicPr/>
              <p:nvPr/>
            </p:nvPicPr>
            <p:blipFill>
              <a:blip r:embed="rId3"/>
              <a:stretch/>
            </p:blipFill>
            <p:spPr>
              <a:xfrm flipH="1">
                <a:off x="7140600" y="2586960"/>
                <a:ext cx="641160" cy="558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444" name="Freeform 85"/>
              <p:cNvSpPr/>
              <p:nvPr/>
            </p:nvSpPr>
            <p:spPr>
              <a:xfrm flipH="1">
                <a:off x="7413120" y="2640600"/>
                <a:ext cx="311400" cy="255600"/>
              </a:xfrm>
              <a:custGeom>
                <a:avLst/>
                <a:gdLst>
                  <a:gd name="textAreaLeft" fmla="*/ -360 w 311400"/>
                  <a:gd name="textAreaRight" fmla="*/ 311400 w 311400"/>
                  <a:gd name="textAreaTop" fmla="*/ 0 h 255600"/>
                  <a:gd name="textAreaBottom" fmla="*/ 255960 h 255600"/>
                  <a:gd name="GluePoint1X" fmla="*/ 0 w 356"/>
                  <a:gd name="GluePoint1Y" fmla="*/ 0 h 368"/>
                  <a:gd name="GluePoint2X" fmla="*/ 18034 w 356"/>
                  <a:gd name="GluePoint2Y" fmla="*/ 1220 h 368"/>
                  <a:gd name="GluePoint3X" fmla="*/ 21394 w 356"/>
                  <a:gd name="GluePoint3Y" fmla="*/ 25425 h 368"/>
                  <a:gd name="GluePoint4X" fmla="*/ 4715 w 356"/>
                  <a:gd name="GluePoint4Y" fmla="*/ 31797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</p:grpSp>
        <p:grpSp>
          <p:nvGrpSpPr>
            <p:cNvPr id="445" name="Group 87"/>
            <p:cNvGrpSpPr/>
            <p:nvPr/>
          </p:nvGrpSpPr>
          <p:grpSpPr>
            <a:xfrm>
              <a:off x="10799640" y="1536120"/>
              <a:ext cx="641160" cy="558360"/>
              <a:chOff x="10799640" y="1536120"/>
              <a:chExt cx="641160" cy="558360"/>
            </a:xfrm>
          </p:grpSpPr>
          <p:pic>
            <p:nvPicPr>
              <p:cNvPr id="446" name="Picture 88" descr="desktop_computer_stylized_medium"/>
              <p:cNvPicPr/>
              <p:nvPr/>
            </p:nvPicPr>
            <p:blipFill>
              <a:blip r:embed="rId4"/>
              <a:stretch/>
            </p:blipFill>
            <p:spPr>
              <a:xfrm>
                <a:off x="10799640" y="1536120"/>
                <a:ext cx="641160" cy="558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447" name="Freeform 89"/>
              <p:cNvSpPr/>
              <p:nvPr/>
            </p:nvSpPr>
            <p:spPr>
              <a:xfrm>
                <a:off x="10856160" y="1589760"/>
                <a:ext cx="311400" cy="255600"/>
              </a:xfrm>
              <a:custGeom>
                <a:avLst/>
                <a:gdLst>
                  <a:gd name="textAreaLeft" fmla="*/ 0 w 311400"/>
                  <a:gd name="textAreaRight" fmla="*/ 311760 w 311400"/>
                  <a:gd name="textAreaTop" fmla="*/ 0 h 255600"/>
                  <a:gd name="textAreaBottom" fmla="*/ 255960 h 255600"/>
                  <a:gd name="GluePoint1X" fmla="*/ 0 w 356"/>
                  <a:gd name="GluePoint1Y" fmla="*/ 0 h 368"/>
                  <a:gd name="GluePoint2X" fmla="*/ 18034 w 356"/>
                  <a:gd name="GluePoint2Y" fmla="*/ 1220 h 368"/>
                  <a:gd name="GluePoint3X" fmla="*/ 21394 w 356"/>
                  <a:gd name="GluePoint3Y" fmla="*/ 25425 h 368"/>
                  <a:gd name="GluePoint4X" fmla="*/ 4715 w 356"/>
                  <a:gd name="GluePoint4Y" fmla="*/ 31797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</p:grpSp>
        <p:grpSp>
          <p:nvGrpSpPr>
            <p:cNvPr id="448" name="Group 90"/>
            <p:cNvGrpSpPr/>
            <p:nvPr/>
          </p:nvGrpSpPr>
          <p:grpSpPr>
            <a:xfrm>
              <a:off x="10814040" y="2815560"/>
              <a:ext cx="641160" cy="558360"/>
              <a:chOff x="10814040" y="2815560"/>
              <a:chExt cx="641160" cy="558360"/>
            </a:xfrm>
          </p:grpSpPr>
          <p:pic>
            <p:nvPicPr>
              <p:cNvPr id="449" name="Picture 91" descr="desktop_computer_stylized_medium"/>
              <p:cNvPicPr/>
              <p:nvPr/>
            </p:nvPicPr>
            <p:blipFill>
              <a:blip r:embed="rId5"/>
              <a:stretch/>
            </p:blipFill>
            <p:spPr>
              <a:xfrm>
                <a:off x="10814040" y="2815560"/>
                <a:ext cx="641160" cy="558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450" name="Freeform 92"/>
              <p:cNvSpPr/>
              <p:nvPr/>
            </p:nvSpPr>
            <p:spPr>
              <a:xfrm>
                <a:off x="10870200" y="2869200"/>
                <a:ext cx="311400" cy="255600"/>
              </a:xfrm>
              <a:custGeom>
                <a:avLst/>
                <a:gdLst>
                  <a:gd name="textAreaLeft" fmla="*/ 0 w 311400"/>
                  <a:gd name="textAreaRight" fmla="*/ 311760 w 311400"/>
                  <a:gd name="textAreaTop" fmla="*/ 0 h 255600"/>
                  <a:gd name="textAreaBottom" fmla="*/ 255960 h 255600"/>
                  <a:gd name="GluePoint1X" fmla="*/ 0 w 356"/>
                  <a:gd name="GluePoint1Y" fmla="*/ 0 h 368"/>
                  <a:gd name="GluePoint2X" fmla="*/ 18034 w 356"/>
                  <a:gd name="GluePoint2Y" fmla="*/ 1220 h 368"/>
                  <a:gd name="GluePoint3X" fmla="*/ 21394 w 356"/>
                  <a:gd name="GluePoint3Y" fmla="*/ 25425 h 368"/>
                  <a:gd name="GluePoint4X" fmla="*/ 4715 w 356"/>
                  <a:gd name="GluePoint4Y" fmla="*/ 31797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</p:grpSp>
        <p:grpSp>
          <p:nvGrpSpPr>
            <p:cNvPr id="451" name="Group 93"/>
            <p:cNvGrpSpPr/>
            <p:nvPr/>
          </p:nvGrpSpPr>
          <p:grpSpPr>
            <a:xfrm>
              <a:off x="9715680" y="4339440"/>
              <a:ext cx="641160" cy="558360"/>
              <a:chOff x="9715680" y="4339440"/>
              <a:chExt cx="641160" cy="558360"/>
            </a:xfrm>
          </p:grpSpPr>
          <p:pic>
            <p:nvPicPr>
              <p:cNvPr id="452" name="Picture 94" descr="desktop_computer_stylized_medium"/>
              <p:cNvPicPr/>
              <p:nvPr/>
            </p:nvPicPr>
            <p:blipFill>
              <a:blip r:embed="rId6"/>
              <a:stretch/>
            </p:blipFill>
            <p:spPr>
              <a:xfrm>
                <a:off x="9715680" y="4339440"/>
                <a:ext cx="641160" cy="558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453" name="Freeform 95"/>
              <p:cNvSpPr/>
              <p:nvPr/>
            </p:nvSpPr>
            <p:spPr>
              <a:xfrm>
                <a:off x="9771840" y="4393080"/>
                <a:ext cx="311400" cy="255600"/>
              </a:xfrm>
              <a:custGeom>
                <a:avLst/>
                <a:gdLst>
                  <a:gd name="textAreaLeft" fmla="*/ 0 w 311400"/>
                  <a:gd name="textAreaRight" fmla="*/ 311760 w 311400"/>
                  <a:gd name="textAreaTop" fmla="*/ 0 h 255600"/>
                  <a:gd name="textAreaBottom" fmla="*/ 255960 h 255600"/>
                  <a:gd name="GluePoint1X" fmla="*/ 0 w 356"/>
                  <a:gd name="GluePoint1Y" fmla="*/ 0 h 368"/>
                  <a:gd name="GluePoint2X" fmla="*/ 18034 w 356"/>
                  <a:gd name="GluePoint2Y" fmla="*/ 1220 h 368"/>
                  <a:gd name="GluePoint3X" fmla="*/ 21394 w 356"/>
                  <a:gd name="GluePoint3Y" fmla="*/ 25425 h 368"/>
                  <a:gd name="GluePoint4X" fmla="*/ 4715 w 356"/>
                  <a:gd name="GluePoint4Y" fmla="*/ 31797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</p:grpSp>
        <p:grpSp>
          <p:nvGrpSpPr>
            <p:cNvPr id="454" name="Group 96"/>
            <p:cNvGrpSpPr/>
            <p:nvPr/>
          </p:nvGrpSpPr>
          <p:grpSpPr>
            <a:xfrm>
              <a:off x="8551800" y="4380840"/>
              <a:ext cx="641160" cy="558360"/>
              <a:chOff x="8551800" y="4380840"/>
              <a:chExt cx="641160" cy="558360"/>
            </a:xfrm>
          </p:grpSpPr>
          <p:pic>
            <p:nvPicPr>
              <p:cNvPr id="455" name="Picture 97" descr="desktop_computer_stylized_medium"/>
              <p:cNvPicPr/>
              <p:nvPr/>
            </p:nvPicPr>
            <p:blipFill>
              <a:blip r:embed="rId7"/>
              <a:stretch/>
            </p:blipFill>
            <p:spPr>
              <a:xfrm>
                <a:off x="8551800" y="4380840"/>
                <a:ext cx="641160" cy="558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456" name="Freeform 98"/>
              <p:cNvSpPr/>
              <p:nvPr/>
            </p:nvSpPr>
            <p:spPr>
              <a:xfrm>
                <a:off x="8607960" y="4434480"/>
                <a:ext cx="311400" cy="255600"/>
              </a:xfrm>
              <a:custGeom>
                <a:avLst/>
                <a:gdLst>
                  <a:gd name="textAreaLeft" fmla="*/ 0 w 311400"/>
                  <a:gd name="textAreaRight" fmla="*/ 311760 w 311400"/>
                  <a:gd name="textAreaTop" fmla="*/ 0 h 255600"/>
                  <a:gd name="textAreaBottom" fmla="*/ 255960 h 255600"/>
                  <a:gd name="GluePoint1X" fmla="*/ 0 w 356"/>
                  <a:gd name="GluePoint1Y" fmla="*/ 0 h 368"/>
                  <a:gd name="GluePoint2X" fmla="*/ 18034 w 356"/>
                  <a:gd name="GluePoint2Y" fmla="*/ 1220 h 368"/>
                  <a:gd name="GluePoint3X" fmla="*/ 21394 w 356"/>
                  <a:gd name="GluePoint3Y" fmla="*/ 25425 h 368"/>
                  <a:gd name="GluePoint4X" fmla="*/ 4715 w 356"/>
                  <a:gd name="GluePoint4Y" fmla="*/ 31797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</p:grpSp>
        <p:grpSp>
          <p:nvGrpSpPr>
            <p:cNvPr id="457" name="Group 144"/>
            <p:cNvGrpSpPr/>
            <p:nvPr/>
          </p:nvGrpSpPr>
          <p:grpSpPr>
            <a:xfrm>
              <a:off x="9053640" y="2438640"/>
              <a:ext cx="632520" cy="300600"/>
              <a:chOff x="9053640" y="2438640"/>
              <a:chExt cx="632520" cy="300600"/>
            </a:xfrm>
          </p:grpSpPr>
          <p:sp>
            <p:nvSpPr>
              <p:cNvPr id="458" name="Freeform 145"/>
              <p:cNvSpPr/>
              <p:nvPr/>
            </p:nvSpPr>
            <p:spPr>
              <a:xfrm>
                <a:off x="9053640" y="2542680"/>
                <a:ext cx="632520" cy="196560"/>
              </a:xfrm>
              <a:custGeom>
                <a:avLst/>
                <a:gdLst>
                  <a:gd name="textAreaLeft" fmla="*/ 0 w 632520"/>
                  <a:gd name="textAreaRight" fmla="*/ 632880 w 632520"/>
                  <a:gd name="textAreaTop" fmla="*/ 0 h 196560"/>
                  <a:gd name="textAreaBottom" fmla="*/ 196920 h 19656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9" name="Oval 146"/>
              <p:cNvSpPr/>
              <p:nvPr/>
            </p:nvSpPr>
            <p:spPr>
              <a:xfrm>
                <a:off x="9054000" y="2438640"/>
                <a:ext cx="631800" cy="19440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460" name="Group 147"/>
              <p:cNvGrpSpPr/>
              <p:nvPr/>
            </p:nvGrpSpPr>
            <p:grpSpPr>
              <a:xfrm>
                <a:off x="9147600" y="2463120"/>
                <a:ext cx="444960" cy="142920"/>
                <a:chOff x="9147600" y="2463120"/>
                <a:chExt cx="444960" cy="142920"/>
              </a:xfrm>
            </p:grpSpPr>
            <p:sp>
              <p:nvSpPr>
                <p:cNvPr id="461" name="Freeform 148"/>
                <p:cNvSpPr/>
                <p:nvPr/>
              </p:nvSpPr>
              <p:spPr>
                <a:xfrm>
                  <a:off x="9159840" y="2463120"/>
                  <a:ext cx="420840" cy="79920"/>
                </a:xfrm>
                <a:custGeom>
                  <a:avLst/>
                  <a:gdLst>
                    <a:gd name="textAreaLeft" fmla="*/ 0 w 420840"/>
                    <a:gd name="textAreaRight" fmla="*/ 421200 w 420840"/>
                    <a:gd name="textAreaTop" fmla="*/ 0 h 79920"/>
                    <a:gd name="textAreaBottom" fmla="*/ 80280 h 7992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35280" bIns="3528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462" name="Freeform 149"/>
                <p:cNvSpPr/>
                <p:nvPr/>
              </p:nvSpPr>
              <p:spPr>
                <a:xfrm>
                  <a:off x="9435600" y="2531880"/>
                  <a:ext cx="156960" cy="6876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68760"/>
                    <a:gd name="textAreaBottom" fmla="*/ 69120 h 6876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24120" bIns="2412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463" name="Freeform 150"/>
                <p:cNvSpPr/>
                <p:nvPr/>
              </p:nvSpPr>
              <p:spPr>
                <a:xfrm>
                  <a:off x="9147600" y="2531880"/>
                  <a:ext cx="154080" cy="67680"/>
                </a:xfrm>
                <a:custGeom>
                  <a:avLst/>
                  <a:gdLst>
                    <a:gd name="textAreaLeft" fmla="*/ 0 w 154080"/>
                    <a:gd name="textAreaRight" fmla="*/ 154440 w 154080"/>
                    <a:gd name="textAreaTop" fmla="*/ 0 h 67680"/>
                    <a:gd name="textAreaBottom" fmla="*/ 68040 h 6768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23040" bIns="2304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464" name="Freeform 151"/>
                <p:cNvSpPr/>
                <p:nvPr/>
              </p:nvSpPr>
              <p:spPr>
                <a:xfrm>
                  <a:off x="9201240" y="2498040"/>
                  <a:ext cx="335160" cy="108000"/>
                </a:xfrm>
                <a:custGeom>
                  <a:avLst/>
                  <a:gdLst>
                    <a:gd name="textAreaLeft" fmla="*/ 0 w 335160"/>
                    <a:gd name="textAreaRight" fmla="*/ 335520 w 335160"/>
                    <a:gd name="textAreaTop" fmla="*/ 0 h 108000"/>
                    <a:gd name="textAreaBottom" fmla="*/ 108360 h 10800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sp>
        <p:nvSpPr>
          <p:cNvPr id="465" name="Text Box 61"/>
          <p:cNvSpPr/>
          <p:nvPr/>
        </p:nvSpPr>
        <p:spPr>
          <a:xfrm>
            <a:off x="6283080" y="5092200"/>
            <a:ext cx="586332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subnet mask: /24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(high-order 24 bits: subnet part of IP address)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66" name="Group 5"/>
          <p:cNvGrpSpPr/>
          <p:nvPr/>
        </p:nvGrpSpPr>
        <p:grpSpPr>
          <a:xfrm>
            <a:off x="6239520" y="3859560"/>
            <a:ext cx="2574360" cy="707400"/>
            <a:chOff x="6239520" y="3859560"/>
            <a:chExt cx="2574360" cy="707400"/>
          </a:xfrm>
        </p:grpSpPr>
        <p:sp>
          <p:nvSpPr>
            <p:cNvPr id="467" name="Text Box 193"/>
            <p:cNvSpPr/>
            <p:nvPr/>
          </p:nvSpPr>
          <p:spPr>
            <a:xfrm>
              <a:off x="6239520" y="3859560"/>
              <a:ext cx="1607760" cy="70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i="1" lang="en-US" sz="2000" strike="noStrike" u="none">
                  <a:solidFill>
                    <a:srgbClr val="cc0000"/>
                  </a:solidFill>
                  <a:effectLst/>
                  <a:uFillTx/>
                  <a:latin typeface="Arial"/>
                  <a:ea typeface="ＭＳ Ｐゴシック"/>
                </a:rPr>
                <a:t>subnet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i="1" lang="en-US" sz="2000" strike="noStrike" u="none">
                  <a:solidFill>
                    <a:srgbClr val="cc0000"/>
                  </a:solidFill>
                  <a:effectLst/>
                  <a:uFillTx/>
                  <a:latin typeface="Arial"/>
                  <a:ea typeface="ＭＳ Ｐゴシック"/>
                </a:rPr>
                <a:t>223.1.3.0/24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68" name="Straight Connector 4"/>
            <p:cNvCxnSpPr/>
            <p:nvPr/>
          </p:nvCxnSpPr>
          <p:spPr>
            <a:xfrm>
              <a:off x="7794720" y="4062240"/>
              <a:ext cx="1019520" cy="360"/>
            </a:xfrm>
            <a:prstGeom prst="straightConnector1">
              <a:avLst/>
            </a:prstGeom>
            <a:ln w="15875">
              <a:solidFill>
                <a:srgbClr val="c00000"/>
              </a:solidFill>
            </a:ln>
          </p:spPr>
        </p:cxnSp>
      </p:grpSp>
      <p:grpSp>
        <p:nvGrpSpPr>
          <p:cNvPr id="469" name="Group 8"/>
          <p:cNvGrpSpPr/>
          <p:nvPr/>
        </p:nvGrpSpPr>
        <p:grpSpPr>
          <a:xfrm>
            <a:off x="7255440" y="607680"/>
            <a:ext cx="2491200" cy="1475640"/>
            <a:chOff x="7255440" y="607680"/>
            <a:chExt cx="2491200" cy="1475640"/>
          </a:xfrm>
        </p:grpSpPr>
        <p:sp>
          <p:nvSpPr>
            <p:cNvPr id="470" name="Text Box 191"/>
            <p:cNvSpPr/>
            <p:nvPr/>
          </p:nvSpPr>
          <p:spPr>
            <a:xfrm>
              <a:off x="7255440" y="607680"/>
              <a:ext cx="249120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i="1" lang="en-US" sz="2000" strike="noStrike" u="none">
                  <a:solidFill>
                    <a:srgbClr val="cc0000"/>
                  </a:solidFill>
                  <a:effectLst/>
                  <a:uFillTx/>
                  <a:latin typeface="Arial"/>
                  <a:ea typeface="ＭＳ Ｐゴシック"/>
                </a:rPr>
                <a:t>subnet 223.1.1.0/24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71" name="Straight Connector 7"/>
            <p:cNvCxnSpPr/>
            <p:nvPr/>
          </p:nvCxnSpPr>
          <p:spPr>
            <a:xfrm>
              <a:off x="8289360" y="944280"/>
              <a:ext cx="360" cy="1139400"/>
            </a:xfrm>
            <a:prstGeom prst="straightConnector1">
              <a:avLst/>
            </a:prstGeom>
            <a:ln w="19050">
              <a:solidFill>
                <a:srgbClr val="c00000"/>
              </a:solidFill>
            </a:ln>
          </p:spPr>
        </p:cxnSp>
      </p:grpSp>
      <p:grpSp>
        <p:nvGrpSpPr>
          <p:cNvPr id="472" name="Group 9"/>
          <p:cNvGrpSpPr/>
          <p:nvPr/>
        </p:nvGrpSpPr>
        <p:grpSpPr>
          <a:xfrm>
            <a:off x="9531000" y="1000800"/>
            <a:ext cx="2491200" cy="1474920"/>
            <a:chOff x="9531000" y="1000800"/>
            <a:chExt cx="2491200" cy="1474920"/>
          </a:xfrm>
        </p:grpSpPr>
        <p:sp>
          <p:nvSpPr>
            <p:cNvPr id="473" name="Text Box 192"/>
            <p:cNvSpPr/>
            <p:nvPr/>
          </p:nvSpPr>
          <p:spPr>
            <a:xfrm>
              <a:off x="9531000" y="1000800"/>
              <a:ext cx="249120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i="1" lang="en-US" sz="2000" strike="noStrike" u="none">
                  <a:solidFill>
                    <a:srgbClr val="cc0000"/>
                  </a:solidFill>
                  <a:effectLst/>
                  <a:uFillTx/>
                  <a:latin typeface="Arial"/>
                  <a:ea typeface="ＭＳ Ｐゴシック"/>
                </a:rPr>
                <a:t>subnet 223.1.2.0/24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74" name="Straight Connector 82"/>
            <p:cNvCxnSpPr/>
            <p:nvPr/>
          </p:nvCxnSpPr>
          <p:spPr>
            <a:xfrm>
              <a:off x="10630440" y="1336320"/>
              <a:ext cx="360" cy="1139760"/>
            </a:xfrm>
            <a:prstGeom prst="straightConnector1">
              <a:avLst/>
            </a:prstGeom>
            <a:ln w="19050">
              <a:solidFill>
                <a:srgbClr val="c00000"/>
              </a:solidFill>
            </a:ln>
          </p:spPr>
        </p:cxnSp>
      </p:grpSp>
      <p:sp>
        <p:nvSpPr>
          <p:cNvPr id="475" name="PlaceHolder 2"/>
          <p:cNvSpPr>
            <a:spLocks noGrp="1"/>
          </p:cNvSpPr>
          <p:nvPr>
            <p:ph type="sldNum" idx="50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4-</a:t>
            </a:r>
            <a:fld id="{1B3BA008-0616-41ED-A0C7-BDFC8C8FA838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10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7" dur="indefinite" restart="never" nodeType="tmRoot">
          <p:childTnLst>
            <p:seq>
              <p:cTn id="258" dur="indefinite" nodeType="mainSeq">
                <p:childTnLst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3" dur="500"/>
                                        <p:tgtEl>
                                          <p:spTgt spid="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267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3" dur="500"/>
                                        <p:tgtEl>
                                          <p:spTgt spid="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8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1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6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1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838080" y="311040"/>
            <a:ext cx="364356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rgbClr val="0000a3"/>
                </a:solidFill>
                <a:effectLst/>
                <a:uFillTx/>
                <a:latin typeface="Calibri Light"/>
                <a:ea typeface="ＭＳ Ｐゴシック"/>
              </a:rPr>
              <a:t>Subnets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7" name="Rectangle 3"/>
          <p:cNvSpPr/>
          <p:nvPr/>
        </p:nvSpPr>
        <p:spPr>
          <a:xfrm>
            <a:off x="1015560" y="1485360"/>
            <a:ext cx="2992320" cy="28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marL="473040" indent="-34308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where are the subnets?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3040" indent="-34308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what are the /24 subnet addresses?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Freeform 2"/>
          <p:cNvSpPr/>
          <p:nvPr/>
        </p:nvSpPr>
        <p:spPr>
          <a:xfrm>
            <a:off x="7898040" y="2985480"/>
            <a:ext cx="1267920" cy="1463400"/>
          </a:xfrm>
          <a:custGeom>
            <a:avLst/>
            <a:gdLst>
              <a:gd name="textAreaLeft" fmla="*/ 0 w 1267920"/>
              <a:gd name="textAreaRight" fmla="*/ 1268280 w 1267920"/>
              <a:gd name="textAreaTop" fmla="*/ 0 h 1463400"/>
              <a:gd name="textAreaBottom" fmla="*/ 1463760 h 1463400"/>
              <a:gd name="GluePoint1X" fmla="*/ 2147483647 w 799"/>
              <a:gd name="GluePoint1Y" fmla="*/ 2147483647 h 922"/>
              <a:gd name="GluePoint2X" fmla="*/ 2147483647 w 799"/>
              <a:gd name="GluePoint2Y" fmla="*/ 2147483647 h 922"/>
              <a:gd name="GluePoint3X" fmla="*/ 2147483647 w 799"/>
              <a:gd name="GluePoint3Y" fmla="*/ 2147483647 h 922"/>
              <a:gd name="GluePoint4X" fmla="*/ 2147483647 w 799"/>
              <a:gd name="GluePoint4Y" fmla="*/ 2147483647 h 922"/>
              <a:gd name="GluePoint5X" fmla="*/ 2147483647 w 799"/>
              <a:gd name="GluePoint5Y" fmla="*/ 2147483647 h 922"/>
              <a:gd name="GluePoint6X" fmla="*/ 2147483647 w 799"/>
              <a:gd name="GluePoint6Y" fmla="*/ 0 h 922"/>
              <a:gd name="GluePoint7X" fmla="*/ 2147483647 w 799"/>
              <a:gd name="GluePoint7Y" fmla="*/ 2147483647 h 9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799" h="922">
                <a:moveTo>
                  <a:pt x="6" y="66"/>
                </a:moveTo>
                <a:cubicBezTo>
                  <a:pt x="13" y="117"/>
                  <a:pt x="234" y="314"/>
                  <a:pt x="341" y="446"/>
                </a:cubicBezTo>
                <a:cubicBezTo>
                  <a:pt x="448" y="578"/>
                  <a:pt x="577" y="794"/>
                  <a:pt x="648" y="858"/>
                </a:cubicBezTo>
                <a:cubicBezTo>
                  <a:pt x="719" y="922"/>
                  <a:pt x="799" y="912"/>
                  <a:pt x="768" y="828"/>
                </a:cubicBezTo>
                <a:cubicBezTo>
                  <a:pt x="737" y="744"/>
                  <a:pt x="581" y="492"/>
                  <a:pt x="463" y="354"/>
                </a:cubicBezTo>
                <a:cubicBezTo>
                  <a:pt x="345" y="216"/>
                  <a:pt x="136" y="48"/>
                  <a:pt x="60" y="0"/>
                </a:cubicBezTo>
                <a:cubicBezTo>
                  <a:pt x="25" y="47"/>
                  <a:pt x="0" y="15"/>
                  <a:pt x="6" y="66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9" name="Freeform 3"/>
          <p:cNvSpPr/>
          <p:nvPr/>
        </p:nvSpPr>
        <p:spPr>
          <a:xfrm>
            <a:off x="6699960" y="4496760"/>
            <a:ext cx="2098440" cy="360720"/>
          </a:xfrm>
          <a:custGeom>
            <a:avLst/>
            <a:gdLst>
              <a:gd name="textAreaLeft" fmla="*/ 0 w 2098440"/>
              <a:gd name="textAreaRight" fmla="*/ 2098800 w 2098440"/>
              <a:gd name="textAreaTop" fmla="*/ 0 h 360720"/>
              <a:gd name="textAreaBottom" fmla="*/ 361080 h 360720"/>
              <a:gd name="GluePoint1X" fmla="*/ 2147483647 w 1422"/>
              <a:gd name="GluePoint1Y" fmla="*/ 2147483647 h 206"/>
              <a:gd name="GluePoint2X" fmla="*/ 2147483647 w 1422"/>
              <a:gd name="GluePoint2Y" fmla="*/ 2147483647 h 206"/>
              <a:gd name="GluePoint3X" fmla="*/ 2147483647 w 1422"/>
              <a:gd name="GluePoint3Y" fmla="*/ 2147483647 h 206"/>
              <a:gd name="GluePoint4X" fmla="*/ 2147483647 w 1422"/>
              <a:gd name="GluePoint4Y" fmla="*/ 2147483647 h 206"/>
              <a:gd name="GluePoint5X" fmla="*/ 2147483647 w 1422"/>
              <a:gd name="GluePoint5Y" fmla="*/ 2147483647 h 206"/>
              <a:gd name="GluePoint6X" fmla="*/ 2147483647 w 1422"/>
              <a:gd name="GluePoint6Y" fmla="*/ 2147483647 h 206"/>
              <a:gd name="GluePoint7X" fmla="*/ 2147483647 w 1422"/>
              <a:gd name="GluePoint7Y" fmla="*/ 2147483647 h 20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422" h="206">
                <a:moveTo>
                  <a:pt x="42" y="176"/>
                </a:moveTo>
                <a:cubicBezTo>
                  <a:pt x="84" y="206"/>
                  <a:pt x="437" y="167"/>
                  <a:pt x="641" y="166"/>
                </a:cubicBezTo>
                <a:cubicBezTo>
                  <a:pt x="845" y="165"/>
                  <a:pt x="1153" y="192"/>
                  <a:pt x="1266" y="170"/>
                </a:cubicBezTo>
                <a:cubicBezTo>
                  <a:pt x="1379" y="148"/>
                  <a:pt x="1422" y="58"/>
                  <a:pt x="1320" y="32"/>
                </a:cubicBezTo>
                <a:cubicBezTo>
                  <a:pt x="1218" y="6"/>
                  <a:pt x="869" y="15"/>
                  <a:pt x="657" y="14"/>
                </a:cubicBezTo>
                <a:cubicBezTo>
                  <a:pt x="445" y="13"/>
                  <a:pt x="147" y="0"/>
                  <a:pt x="45" y="27"/>
                </a:cubicBezTo>
                <a:cubicBezTo>
                  <a:pt x="56" y="84"/>
                  <a:pt x="0" y="146"/>
                  <a:pt x="42" y="176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0" name="Freeform 4"/>
          <p:cNvSpPr/>
          <p:nvPr/>
        </p:nvSpPr>
        <p:spPr>
          <a:xfrm>
            <a:off x="6345720" y="2909160"/>
            <a:ext cx="1158480" cy="1547280"/>
          </a:xfrm>
          <a:custGeom>
            <a:avLst/>
            <a:gdLst>
              <a:gd name="textAreaLeft" fmla="*/ 0 w 1158480"/>
              <a:gd name="textAreaRight" fmla="*/ 1158840 w 1158480"/>
              <a:gd name="textAreaTop" fmla="*/ 0 h 1547280"/>
              <a:gd name="textAreaBottom" fmla="*/ 1547640 h 1547280"/>
              <a:gd name="GluePoint1X" fmla="*/ 2147483647 w 730"/>
              <a:gd name="GluePoint1Y" fmla="*/ 2147483647 h 975"/>
              <a:gd name="GluePoint2X" fmla="*/ 2147483647 w 730"/>
              <a:gd name="GluePoint2Y" fmla="*/ 2147483647 h 975"/>
              <a:gd name="GluePoint3X" fmla="*/ 2147483647 w 730"/>
              <a:gd name="GluePoint3Y" fmla="*/ 2147483647 h 975"/>
              <a:gd name="GluePoint4X" fmla="*/ 2147483647 w 730"/>
              <a:gd name="GluePoint4Y" fmla="*/ 2147483647 h 975"/>
              <a:gd name="GluePoint5X" fmla="*/ 2147483647 w 730"/>
              <a:gd name="GluePoint5Y" fmla="*/ 2147483647 h 975"/>
              <a:gd name="GluePoint6X" fmla="*/ 0 w 730"/>
              <a:gd name="GluePoint6Y" fmla="*/ 2147483647 h 975"/>
              <a:gd name="GluePoint7X" fmla="*/ 2147483647 w 730"/>
              <a:gd name="GluePoint7Y" fmla="*/ 2147483647 h 97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730" h="975">
                <a:moveTo>
                  <a:pt x="157" y="952"/>
                </a:moveTo>
                <a:cubicBezTo>
                  <a:pt x="272" y="930"/>
                  <a:pt x="357" y="644"/>
                  <a:pt x="462" y="498"/>
                </a:cubicBezTo>
                <a:cubicBezTo>
                  <a:pt x="554" y="363"/>
                  <a:pt x="686" y="220"/>
                  <a:pt x="708" y="144"/>
                </a:cubicBezTo>
                <a:cubicBezTo>
                  <a:pt x="730" y="68"/>
                  <a:pt x="654" y="0"/>
                  <a:pt x="594" y="42"/>
                </a:cubicBezTo>
                <a:cubicBezTo>
                  <a:pt x="534" y="84"/>
                  <a:pt x="447" y="253"/>
                  <a:pt x="348" y="396"/>
                </a:cubicBezTo>
                <a:cubicBezTo>
                  <a:pt x="249" y="539"/>
                  <a:pt x="32" y="807"/>
                  <a:pt x="0" y="900"/>
                </a:cubicBezTo>
                <a:cubicBezTo>
                  <a:pt x="53" y="924"/>
                  <a:pt x="43" y="975"/>
                  <a:pt x="157" y="952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1" name="Freeform 5"/>
          <p:cNvSpPr/>
          <p:nvPr/>
        </p:nvSpPr>
        <p:spPr>
          <a:xfrm rot="5265600">
            <a:off x="7335000" y="865800"/>
            <a:ext cx="1077840" cy="2161800"/>
          </a:xfrm>
          <a:custGeom>
            <a:avLst/>
            <a:gdLst>
              <a:gd name="textAreaLeft" fmla="*/ 0 w 1077840"/>
              <a:gd name="textAreaRight" fmla="*/ 1078200 w 1077840"/>
              <a:gd name="textAreaTop" fmla="*/ 0 h 2161800"/>
              <a:gd name="textAreaBottom" fmla="*/ 2162160 h 2161800"/>
              <a:gd name="GluePoint1X" fmla="*/ 2147483647 w 1223"/>
              <a:gd name="GluePoint1Y" fmla="*/ 2147483647 h 1291"/>
              <a:gd name="GluePoint2X" fmla="*/ 2147483647 w 1223"/>
              <a:gd name="GluePoint2Y" fmla="*/ 2147483647 h 1291"/>
              <a:gd name="GluePoint3X" fmla="*/ 2147483647 w 1223"/>
              <a:gd name="GluePoint3Y" fmla="*/ 2147483647 h 1291"/>
              <a:gd name="GluePoint4X" fmla="*/ 2147483647 w 1223"/>
              <a:gd name="GluePoint4Y" fmla="*/ 2147483647 h 1291"/>
              <a:gd name="GluePoint5X" fmla="*/ 2147483647 w 1223"/>
              <a:gd name="GluePoint5Y" fmla="*/ 2147483647 h 1291"/>
              <a:gd name="GluePoint6X" fmla="*/ 2147483647 w 1223"/>
              <a:gd name="GluePoint6Y" fmla="*/ 2147483647 h 1291"/>
              <a:gd name="GluePoint7X" fmla="*/ 2147483647 w 1223"/>
              <a:gd name="GluePoint7Y" fmla="*/ 2147483647 h 1291"/>
              <a:gd name="GluePoint8X" fmla="*/ 2147483647 w 1223"/>
              <a:gd name="GluePoint8Y" fmla="*/ 2147483647 h 1291"/>
              <a:gd name="GluePoint9X" fmla="*/ 2147483647 w 1223"/>
              <a:gd name="GluePoint9Y" fmla="*/ 2147483647 h 1291"/>
              <a:gd name="GluePoint10X" fmla="*/ 2147483647 w 1223"/>
              <a:gd name="GluePoint10Y" fmla="*/ 2147483647 h 1291"/>
              <a:gd name="GluePoint11X" fmla="*/ 2147483647 w 1223"/>
              <a:gd name="GluePoint11Y" fmla="*/ 2147483647 h 1291"/>
              <a:gd name="GluePoint12X" fmla="*/ 2147483647 w 1223"/>
              <a:gd name="GluePoint12Y" fmla="*/ 2147483647 h 1291"/>
              <a:gd name="GluePoint13X" fmla="*/ 2147483647 w 1223"/>
              <a:gd name="GluePoint13Y" fmla="*/ 2147483647 h 1291"/>
              <a:gd name="GluePoint14X" fmla="*/ 2147483647 w 1223"/>
              <a:gd name="GluePoint14Y" fmla="*/ 2147483647 h 12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</a:cxnLst>
            <a:rect l="textAreaLeft" t="textAreaTop" r="textAreaRight" b="textAreaBottom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2" name="Line 14"/>
          <p:cNvSpPr/>
          <p:nvPr/>
        </p:nvSpPr>
        <p:spPr>
          <a:xfrm flipH="1">
            <a:off x="7639200" y="1956600"/>
            <a:ext cx="3240" cy="59184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3" name="Text Box 15"/>
          <p:cNvSpPr/>
          <p:nvPr/>
        </p:nvSpPr>
        <p:spPr>
          <a:xfrm>
            <a:off x="6099480" y="1404000"/>
            <a:ext cx="963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223.1.1.1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Rectangle 16"/>
          <p:cNvSpPr/>
          <p:nvPr/>
        </p:nvSpPr>
        <p:spPr>
          <a:xfrm>
            <a:off x="7474680" y="2218680"/>
            <a:ext cx="309240" cy="180720"/>
          </a:xfrm>
          <a:prstGeom prst="rect">
            <a:avLst/>
          </a:pr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  <a:ea typeface="ＭＳ Ｐゴシック"/>
            </a:endParaRPr>
          </a:p>
        </p:txBody>
      </p:sp>
      <p:sp>
        <p:nvSpPr>
          <p:cNvPr id="485" name="Text Box 17"/>
          <p:cNvSpPr/>
          <p:nvPr/>
        </p:nvSpPr>
        <p:spPr>
          <a:xfrm>
            <a:off x="7211880" y="2127600"/>
            <a:ext cx="963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223.1.1.3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Box 18"/>
          <p:cNvSpPr/>
          <p:nvPr/>
        </p:nvSpPr>
        <p:spPr>
          <a:xfrm>
            <a:off x="8487000" y="1514520"/>
            <a:ext cx="963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223.1.1.4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Freeform 19"/>
          <p:cNvSpPr/>
          <p:nvPr/>
        </p:nvSpPr>
        <p:spPr>
          <a:xfrm>
            <a:off x="5405760" y="4847760"/>
            <a:ext cx="1539360" cy="1069920"/>
          </a:xfrm>
          <a:custGeom>
            <a:avLst/>
            <a:gdLst>
              <a:gd name="textAreaLeft" fmla="*/ 0 w 1539360"/>
              <a:gd name="textAreaRight" fmla="*/ 1539720 w 1539360"/>
              <a:gd name="textAreaTop" fmla="*/ 0 h 1069920"/>
              <a:gd name="textAreaBottom" fmla="*/ 1070280 h 1069920"/>
              <a:gd name="GluePoint1X" fmla="*/ 2147483647 w 970"/>
              <a:gd name="GluePoint1Y" fmla="*/ 2147483647 h 939"/>
              <a:gd name="GluePoint2X" fmla="*/ 2147483647 w 970"/>
              <a:gd name="GluePoint2Y" fmla="*/ 2147483647 h 939"/>
              <a:gd name="GluePoint3X" fmla="*/ 2147483647 w 970"/>
              <a:gd name="GluePoint3Y" fmla="*/ 2147483647 h 939"/>
              <a:gd name="GluePoint4X" fmla="*/ 2147483647 w 970"/>
              <a:gd name="GluePoint4Y" fmla="*/ 2147483647 h 939"/>
              <a:gd name="GluePoint5X" fmla="*/ 2147483647 w 970"/>
              <a:gd name="GluePoint5Y" fmla="*/ 2147483647 h 939"/>
              <a:gd name="GluePoint6X" fmla="*/ 2147483647 w 970"/>
              <a:gd name="GluePoint6Y" fmla="*/ 2147483647 h 939"/>
              <a:gd name="GluePoint7X" fmla="*/ 2147483647 w 970"/>
              <a:gd name="GluePoint7Y" fmla="*/ 2147483647 h 939"/>
              <a:gd name="GluePoint8X" fmla="*/ 2147483647 w 970"/>
              <a:gd name="GluePoint8Y" fmla="*/ 2147483647 h 939"/>
              <a:gd name="GluePoint9X" fmla="*/ 2147483647 w 970"/>
              <a:gd name="GluePoint9Y" fmla="*/ 2147483647 h 939"/>
              <a:gd name="GluePoint10X" fmla="*/ 2147483647 w 970"/>
              <a:gd name="GluePoint10Y" fmla="*/ 2147483647 h 939"/>
              <a:gd name="GluePoint11X" fmla="*/ 2147483647 w 970"/>
              <a:gd name="GluePoint11Y" fmla="*/ 2147483647 h 939"/>
              <a:gd name="GluePoint12X" fmla="*/ 2147483647 w 970"/>
              <a:gd name="GluePoint12Y" fmla="*/ 2147483647 h 939"/>
              <a:gd name="GluePoint13X" fmla="*/ 2147483647 w 970"/>
              <a:gd name="GluePoint13Y" fmla="*/ 2147483647 h 93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970" h="939">
                <a:moveTo>
                  <a:pt x="451" y="41"/>
                </a:moveTo>
                <a:cubicBezTo>
                  <a:pt x="415" y="47"/>
                  <a:pt x="452" y="358"/>
                  <a:pt x="388" y="431"/>
                </a:cubicBezTo>
                <a:cubicBezTo>
                  <a:pt x="324" y="504"/>
                  <a:pt x="128" y="419"/>
                  <a:pt x="64" y="479"/>
                </a:cubicBezTo>
                <a:cubicBezTo>
                  <a:pt x="0" y="539"/>
                  <a:pt x="1" y="718"/>
                  <a:pt x="7" y="791"/>
                </a:cubicBezTo>
                <a:cubicBezTo>
                  <a:pt x="13" y="864"/>
                  <a:pt x="31" y="901"/>
                  <a:pt x="100" y="920"/>
                </a:cubicBezTo>
                <a:cubicBezTo>
                  <a:pt x="169" y="939"/>
                  <a:pt x="329" y="908"/>
                  <a:pt x="421" y="905"/>
                </a:cubicBezTo>
                <a:cubicBezTo>
                  <a:pt x="513" y="902"/>
                  <a:pt x="572" y="913"/>
                  <a:pt x="652" y="905"/>
                </a:cubicBezTo>
                <a:cubicBezTo>
                  <a:pt x="732" y="897"/>
                  <a:pt x="860" y="929"/>
                  <a:pt x="904" y="857"/>
                </a:cubicBezTo>
                <a:cubicBezTo>
                  <a:pt x="948" y="785"/>
                  <a:pt x="970" y="542"/>
                  <a:pt x="916" y="473"/>
                </a:cubicBezTo>
                <a:cubicBezTo>
                  <a:pt x="862" y="404"/>
                  <a:pt x="645" y="511"/>
                  <a:pt x="580" y="443"/>
                </a:cubicBezTo>
                <a:cubicBezTo>
                  <a:pt x="515" y="375"/>
                  <a:pt x="534" y="130"/>
                  <a:pt x="526" y="65"/>
                </a:cubicBezTo>
                <a:cubicBezTo>
                  <a:pt x="518" y="0"/>
                  <a:pt x="542" y="57"/>
                  <a:pt x="529" y="53"/>
                </a:cubicBezTo>
                <a:cubicBezTo>
                  <a:pt x="520" y="26"/>
                  <a:pt x="487" y="35"/>
                  <a:pt x="451" y="41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8" name="Line 34"/>
          <p:cNvSpPr/>
          <p:nvPr/>
        </p:nvSpPr>
        <p:spPr>
          <a:xfrm>
            <a:off x="6161040" y="4833000"/>
            <a:ext cx="8280" cy="5619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9" name="Text Box 40"/>
          <p:cNvSpPr/>
          <p:nvPr/>
        </p:nvSpPr>
        <p:spPr>
          <a:xfrm>
            <a:off x="6523560" y="5562000"/>
            <a:ext cx="963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223.1.2.2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Rectangle 42"/>
          <p:cNvSpPr/>
          <p:nvPr/>
        </p:nvSpPr>
        <p:spPr>
          <a:xfrm>
            <a:off x="6109920" y="4958640"/>
            <a:ext cx="128160" cy="180720"/>
          </a:xfrm>
          <a:prstGeom prst="rect">
            <a:avLst/>
          </a:pr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  <a:ea typeface="ＭＳ Ｐゴシック"/>
            </a:endParaRPr>
          </a:p>
        </p:txBody>
      </p:sp>
      <p:sp>
        <p:nvSpPr>
          <p:cNvPr id="491" name="Text Box 43"/>
          <p:cNvSpPr/>
          <p:nvPr/>
        </p:nvSpPr>
        <p:spPr>
          <a:xfrm>
            <a:off x="5577120" y="4875840"/>
            <a:ext cx="963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223.1.2.6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Freeform 45"/>
          <p:cNvSpPr/>
          <p:nvPr/>
        </p:nvSpPr>
        <p:spPr>
          <a:xfrm>
            <a:off x="8423640" y="4858920"/>
            <a:ext cx="1539360" cy="1129320"/>
          </a:xfrm>
          <a:custGeom>
            <a:avLst/>
            <a:gdLst>
              <a:gd name="textAreaLeft" fmla="*/ 0 w 1539360"/>
              <a:gd name="textAreaRight" fmla="*/ 1539720 w 1539360"/>
              <a:gd name="textAreaTop" fmla="*/ 0 h 1129320"/>
              <a:gd name="textAreaBottom" fmla="*/ 1129680 h 1129320"/>
              <a:gd name="GluePoint1X" fmla="*/ 2147483647 w 970"/>
              <a:gd name="GluePoint1Y" fmla="*/ 2147483647 h 939"/>
              <a:gd name="GluePoint2X" fmla="*/ 2147483647 w 970"/>
              <a:gd name="GluePoint2Y" fmla="*/ 2147483647 h 939"/>
              <a:gd name="GluePoint3X" fmla="*/ 2147483647 w 970"/>
              <a:gd name="GluePoint3Y" fmla="*/ 2147483647 h 939"/>
              <a:gd name="GluePoint4X" fmla="*/ 2147483647 w 970"/>
              <a:gd name="GluePoint4Y" fmla="*/ 2147483647 h 939"/>
              <a:gd name="GluePoint5X" fmla="*/ 2147483647 w 970"/>
              <a:gd name="GluePoint5Y" fmla="*/ 2147483647 h 939"/>
              <a:gd name="GluePoint6X" fmla="*/ 2147483647 w 970"/>
              <a:gd name="GluePoint6Y" fmla="*/ 2147483647 h 939"/>
              <a:gd name="GluePoint7X" fmla="*/ 2147483647 w 970"/>
              <a:gd name="GluePoint7Y" fmla="*/ 2147483647 h 939"/>
              <a:gd name="GluePoint8X" fmla="*/ 2147483647 w 970"/>
              <a:gd name="GluePoint8Y" fmla="*/ 2147483647 h 939"/>
              <a:gd name="GluePoint9X" fmla="*/ 2147483647 w 970"/>
              <a:gd name="GluePoint9Y" fmla="*/ 2147483647 h 939"/>
              <a:gd name="GluePoint10X" fmla="*/ 2147483647 w 970"/>
              <a:gd name="GluePoint10Y" fmla="*/ 2147483647 h 939"/>
              <a:gd name="GluePoint11X" fmla="*/ 2147483647 w 970"/>
              <a:gd name="GluePoint11Y" fmla="*/ 2147483647 h 939"/>
              <a:gd name="GluePoint12X" fmla="*/ 2147483647 w 970"/>
              <a:gd name="GluePoint12Y" fmla="*/ 2147483647 h 939"/>
              <a:gd name="GluePoint13X" fmla="*/ 2147483647 w 970"/>
              <a:gd name="GluePoint13Y" fmla="*/ 2147483647 h 93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970" h="939">
                <a:moveTo>
                  <a:pt x="451" y="41"/>
                </a:moveTo>
                <a:cubicBezTo>
                  <a:pt x="415" y="47"/>
                  <a:pt x="452" y="358"/>
                  <a:pt x="388" y="431"/>
                </a:cubicBezTo>
                <a:cubicBezTo>
                  <a:pt x="324" y="504"/>
                  <a:pt x="128" y="419"/>
                  <a:pt x="64" y="479"/>
                </a:cubicBezTo>
                <a:cubicBezTo>
                  <a:pt x="0" y="539"/>
                  <a:pt x="1" y="718"/>
                  <a:pt x="7" y="791"/>
                </a:cubicBezTo>
                <a:cubicBezTo>
                  <a:pt x="13" y="864"/>
                  <a:pt x="31" y="901"/>
                  <a:pt x="100" y="920"/>
                </a:cubicBezTo>
                <a:cubicBezTo>
                  <a:pt x="169" y="939"/>
                  <a:pt x="329" y="908"/>
                  <a:pt x="421" y="905"/>
                </a:cubicBezTo>
                <a:cubicBezTo>
                  <a:pt x="513" y="902"/>
                  <a:pt x="572" y="913"/>
                  <a:pt x="652" y="905"/>
                </a:cubicBezTo>
                <a:cubicBezTo>
                  <a:pt x="732" y="897"/>
                  <a:pt x="860" y="929"/>
                  <a:pt x="904" y="857"/>
                </a:cubicBezTo>
                <a:cubicBezTo>
                  <a:pt x="948" y="785"/>
                  <a:pt x="970" y="542"/>
                  <a:pt x="916" y="473"/>
                </a:cubicBezTo>
                <a:cubicBezTo>
                  <a:pt x="862" y="404"/>
                  <a:pt x="645" y="511"/>
                  <a:pt x="580" y="443"/>
                </a:cubicBezTo>
                <a:cubicBezTo>
                  <a:pt x="515" y="375"/>
                  <a:pt x="534" y="130"/>
                  <a:pt x="526" y="65"/>
                </a:cubicBezTo>
                <a:cubicBezTo>
                  <a:pt x="518" y="0"/>
                  <a:pt x="542" y="57"/>
                  <a:pt x="529" y="53"/>
                </a:cubicBezTo>
                <a:cubicBezTo>
                  <a:pt x="520" y="26"/>
                  <a:pt x="487" y="35"/>
                  <a:pt x="451" y="41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3" name="Line 60"/>
          <p:cNvSpPr/>
          <p:nvPr/>
        </p:nvSpPr>
        <p:spPr>
          <a:xfrm>
            <a:off x="9190080" y="4852080"/>
            <a:ext cx="1800" cy="5205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4" name="Text Box 66"/>
          <p:cNvSpPr/>
          <p:nvPr/>
        </p:nvSpPr>
        <p:spPr>
          <a:xfrm>
            <a:off x="9708480" y="5757840"/>
            <a:ext cx="963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223.1.3.2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Box 67"/>
          <p:cNvSpPr/>
          <p:nvPr/>
        </p:nvSpPr>
        <p:spPr>
          <a:xfrm>
            <a:off x="7937640" y="5659560"/>
            <a:ext cx="963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223.1.3.1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Rectangle 68"/>
          <p:cNvSpPr/>
          <p:nvPr/>
        </p:nvSpPr>
        <p:spPr>
          <a:xfrm>
            <a:off x="9131760" y="4952160"/>
            <a:ext cx="128160" cy="180720"/>
          </a:xfrm>
          <a:prstGeom prst="rect">
            <a:avLst/>
          </a:pr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  <a:ea typeface="ＭＳ Ｐゴシック"/>
            </a:endParaRPr>
          </a:p>
        </p:txBody>
      </p:sp>
      <p:sp>
        <p:nvSpPr>
          <p:cNvPr id="497" name="Text Box 69"/>
          <p:cNvSpPr/>
          <p:nvPr/>
        </p:nvSpPr>
        <p:spPr>
          <a:xfrm>
            <a:off x="8622000" y="4864320"/>
            <a:ext cx="10674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223.1.3.27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Box 86"/>
          <p:cNvSpPr/>
          <p:nvPr/>
        </p:nvSpPr>
        <p:spPr>
          <a:xfrm>
            <a:off x="7401240" y="558360"/>
            <a:ext cx="963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223.1.1.2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Line 87"/>
          <p:cNvSpPr/>
          <p:nvPr/>
        </p:nvSpPr>
        <p:spPr>
          <a:xfrm flipV="1">
            <a:off x="6373800" y="2927880"/>
            <a:ext cx="1114560" cy="154332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00" name="Line 88"/>
          <p:cNvSpPr/>
          <p:nvPr/>
        </p:nvSpPr>
        <p:spPr>
          <a:xfrm flipH="1" flipV="1">
            <a:off x="7888320" y="2908800"/>
            <a:ext cx="1276560" cy="154332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01" name="Line 89"/>
          <p:cNvSpPr/>
          <p:nvPr/>
        </p:nvSpPr>
        <p:spPr>
          <a:xfrm flipH="1" flipV="1">
            <a:off x="6564600" y="4671000"/>
            <a:ext cx="2304720" cy="972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280" bIns="-35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02" name="Text Box 90"/>
          <p:cNvSpPr/>
          <p:nvPr/>
        </p:nvSpPr>
        <p:spPr>
          <a:xfrm>
            <a:off x="7967880" y="2821680"/>
            <a:ext cx="963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223.1.7.0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Box 91"/>
          <p:cNvSpPr/>
          <p:nvPr/>
        </p:nvSpPr>
        <p:spPr>
          <a:xfrm>
            <a:off x="9044280" y="4107600"/>
            <a:ext cx="963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223.1.7.1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Box 92"/>
          <p:cNvSpPr/>
          <p:nvPr/>
        </p:nvSpPr>
        <p:spPr>
          <a:xfrm>
            <a:off x="7805880" y="4365000"/>
            <a:ext cx="963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223.1.8.0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Box 93"/>
          <p:cNvSpPr/>
          <p:nvPr/>
        </p:nvSpPr>
        <p:spPr>
          <a:xfrm>
            <a:off x="6558120" y="4365000"/>
            <a:ext cx="963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223.1.8.1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Box 94"/>
          <p:cNvSpPr/>
          <p:nvPr/>
        </p:nvSpPr>
        <p:spPr>
          <a:xfrm>
            <a:off x="5482080" y="4069440"/>
            <a:ext cx="963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223.1.9.1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Box 95"/>
          <p:cNvSpPr/>
          <p:nvPr/>
        </p:nvSpPr>
        <p:spPr>
          <a:xfrm>
            <a:off x="6348600" y="2831400"/>
            <a:ext cx="963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223.1.9.2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08" name="Straight Connector 6"/>
          <p:cNvCxnSpPr/>
          <p:nvPr/>
        </p:nvCxnSpPr>
        <p:spPr>
          <a:xfrm>
            <a:off x="7907400" y="1333440"/>
            <a:ext cx="360" cy="22320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509" name="Straight Connector 237"/>
          <p:cNvCxnSpPr/>
          <p:nvPr/>
        </p:nvCxnSpPr>
        <p:spPr>
          <a:xfrm>
            <a:off x="7077600" y="1391400"/>
            <a:ext cx="360" cy="22320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510" name="Straight Connector 238"/>
          <p:cNvCxnSpPr/>
          <p:nvPr/>
        </p:nvCxnSpPr>
        <p:spPr>
          <a:xfrm>
            <a:off x="8747640" y="1349640"/>
            <a:ext cx="360" cy="2235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511" name="Straight Connector 239"/>
          <p:cNvCxnSpPr/>
          <p:nvPr/>
        </p:nvCxnSpPr>
        <p:spPr>
          <a:xfrm>
            <a:off x="9721080" y="5845680"/>
            <a:ext cx="360" cy="22320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512" name="Straight Connector 240"/>
          <p:cNvCxnSpPr/>
          <p:nvPr/>
        </p:nvCxnSpPr>
        <p:spPr>
          <a:xfrm>
            <a:off x="8854920" y="5831640"/>
            <a:ext cx="360" cy="22356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513" name="Straight Connector 241"/>
          <p:cNvCxnSpPr/>
          <p:nvPr/>
        </p:nvCxnSpPr>
        <p:spPr>
          <a:xfrm>
            <a:off x="6527520" y="5717520"/>
            <a:ext cx="360" cy="22320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514" name="Straight Connector 242"/>
          <p:cNvCxnSpPr/>
          <p:nvPr/>
        </p:nvCxnSpPr>
        <p:spPr>
          <a:xfrm>
            <a:off x="5734440" y="5755680"/>
            <a:ext cx="360" cy="22320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  <p:grpSp>
        <p:nvGrpSpPr>
          <p:cNvPr id="515" name="Group 1"/>
          <p:cNvGrpSpPr/>
          <p:nvPr/>
        </p:nvGrpSpPr>
        <p:grpSpPr>
          <a:xfrm>
            <a:off x="5270040" y="831600"/>
            <a:ext cx="4571640" cy="5746320"/>
            <a:chOff x="5270040" y="831600"/>
            <a:chExt cx="4571640" cy="5746320"/>
          </a:xfrm>
        </p:grpSpPr>
        <p:grpSp>
          <p:nvGrpSpPr>
            <p:cNvPr id="516" name="Group 127"/>
            <p:cNvGrpSpPr/>
            <p:nvPr/>
          </p:nvGrpSpPr>
          <p:grpSpPr>
            <a:xfrm>
              <a:off x="8260920" y="844200"/>
              <a:ext cx="641160" cy="558360"/>
              <a:chOff x="8260920" y="844200"/>
              <a:chExt cx="641160" cy="558360"/>
            </a:xfrm>
          </p:grpSpPr>
          <p:pic>
            <p:nvPicPr>
              <p:cNvPr id="517" name="Picture 128" descr="desktop_computer_stylized_medium"/>
              <p:cNvPicPr/>
              <p:nvPr/>
            </p:nvPicPr>
            <p:blipFill>
              <a:blip r:embed="rId1"/>
              <a:stretch/>
            </p:blipFill>
            <p:spPr>
              <a:xfrm flipH="1">
                <a:off x="8260920" y="844200"/>
                <a:ext cx="641160" cy="558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518" name="Freeform 129"/>
              <p:cNvSpPr/>
              <p:nvPr/>
            </p:nvSpPr>
            <p:spPr>
              <a:xfrm flipH="1">
                <a:off x="8533080" y="897840"/>
                <a:ext cx="311400" cy="255600"/>
              </a:xfrm>
              <a:custGeom>
                <a:avLst/>
                <a:gdLst>
                  <a:gd name="textAreaLeft" fmla="*/ -360 w 311400"/>
                  <a:gd name="textAreaRight" fmla="*/ 311400 w 311400"/>
                  <a:gd name="textAreaTop" fmla="*/ 0 h 255600"/>
                  <a:gd name="textAreaBottom" fmla="*/ 255960 h 255600"/>
                  <a:gd name="GluePoint1X" fmla="*/ 0 w 356"/>
                  <a:gd name="GluePoint1Y" fmla="*/ 0 h 368"/>
                  <a:gd name="GluePoint2X" fmla="*/ 18034 w 356"/>
                  <a:gd name="GluePoint2Y" fmla="*/ 1220 h 368"/>
                  <a:gd name="GluePoint3X" fmla="*/ 21394 w 356"/>
                  <a:gd name="GluePoint3Y" fmla="*/ 25425 h 368"/>
                  <a:gd name="GluePoint4X" fmla="*/ 4715 w 356"/>
                  <a:gd name="GluePoint4Y" fmla="*/ 31797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519" name="Group 130"/>
            <p:cNvGrpSpPr/>
            <p:nvPr/>
          </p:nvGrpSpPr>
          <p:grpSpPr>
            <a:xfrm>
              <a:off x="6591600" y="876960"/>
              <a:ext cx="641160" cy="558360"/>
              <a:chOff x="6591600" y="876960"/>
              <a:chExt cx="641160" cy="558360"/>
            </a:xfrm>
          </p:grpSpPr>
          <p:pic>
            <p:nvPicPr>
              <p:cNvPr id="520" name="Picture 131" descr="desktop_computer_stylized_medium"/>
              <p:cNvPicPr/>
              <p:nvPr/>
            </p:nvPicPr>
            <p:blipFill>
              <a:blip r:embed="rId2"/>
              <a:stretch/>
            </p:blipFill>
            <p:spPr>
              <a:xfrm flipH="1">
                <a:off x="6591600" y="876960"/>
                <a:ext cx="641160" cy="558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521" name="Freeform 132"/>
              <p:cNvSpPr/>
              <p:nvPr/>
            </p:nvSpPr>
            <p:spPr>
              <a:xfrm flipH="1">
                <a:off x="6864120" y="930600"/>
                <a:ext cx="311400" cy="255600"/>
              </a:xfrm>
              <a:custGeom>
                <a:avLst/>
                <a:gdLst>
                  <a:gd name="textAreaLeft" fmla="*/ -360 w 311400"/>
                  <a:gd name="textAreaRight" fmla="*/ 311400 w 311400"/>
                  <a:gd name="textAreaTop" fmla="*/ 0 h 255600"/>
                  <a:gd name="textAreaBottom" fmla="*/ 255960 h 255600"/>
                  <a:gd name="GluePoint1X" fmla="*/ 0 w 356"/>
                  <a:gd name="GluePoint1Y" fmla="*/ 0 h 368"/>
                  <a:gd name="GluePoint2X" fmla="*/ 18034 w 356"/>
                  <a:gd name="GluePoint2Y" fmla="*/ 1220 h 368"/>
                  <a:gd name="GluePoint3X" fmla="*/ 21394 w 356"/>
                  <a:gd name="GluePoint3Y" fmla="*/ 25425 h 368"/>
                  <a:gd name="GluePoint4X" fmla="*/ 4715 w 356"/>
                  <a:gd name="GluePoint4Y" fmla="*/ 31797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522" name="Group 133"/>
            <p:cNvGrpSpPr/>
            <p:nvPr/>
          </p:nvGrpSpPr>
          <p:grpSpPr>
            <a:xfrm>
              <a:off x="7423560" y="831600"/>
              <a:ext cx="641160" cy="558360"/>
              <a:chOff x="7423560" y="831600"/>
              <a:chExt cx="641160" cy="558360"/>
            </a:xfrm>
          </p:grpSpPr>
          <p:pic>
            <p:nvPicPr>
              <p:cNvPr id="523" name="Picture 134" descr="desktop_computer_stylized_medium"/>
              <p:cNvPicPr/>
              <p:nvPr/>
            </p:nvPicPr>
            <p:blipFill>
              <a:blip r:embed="rId3"/>
              <a:stretch/>
            </p:blipFill>
            <p:spPr>
              <a:xfrm flipH="1">
                <a:off x="7423560" y="831600"/>
                <a:ext cx="641160" cy="558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524" name="Freeform 135"/>
              <p:cNvSpPr/>
              <p:nvPr/>
            </p:nvSpPr>
            <p:spPr>
              <a:xfrm flipH="1">
                <a:off x="7696080" y="884880"/>
                <a:ext cx="311400" cy="255600"/>
              </a:xfrm>
              <a:custGeom>
                <a:avLst/>
                <a:gdLst>
                  <a:gd name="textAreaLeft" fmla="*/ -360 w 311400"/>
                  <a:gd name="textAreaRight" fmla="*/ 311400 w 311400"/>
                  <a:gd name="textAreaTop" fmla="*/ 0 h 255600"/>
                  <a:gd name="textAreaBottom" fmla="*/ 255960 h 255600"/>
                  <a:gd name="GluePoint1X" fmla="*/ 0 w 356"/>
                  <a:gd name="GluePoint1Y" fmla="*/ 0 h 368"/>
                  <a:gd name="GluePoint2X" fmla="*/ 18034 w 356"/>
                  <a:gd name="GluePoint2Y" fmla="*/ 1220 h 368"/>
                  <a:gd name="GluePoint3X" fmla="*/ 21394 w 356"/>
                  <a:gd name="GluePoint3Y" fmla="*/ 25425 h 368"/>
                  <a:gd name="GluePoint4X" fmla="*/ 4715 w 356"/>
                  <a:gd name="GluePoint4Y" fmla="*/ 31797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525" name="Group 213"/>
            <p:cNvGrpSpPr/>
            <p:nvPr/>
          </p:nvGrpSpPr>
          <p:grpSpPr>
            <a:xfrm>
              <a:off x="7299360" y="2519280"/>
              <a:ext cx="764280" cy="449640"/>
              <a:chOff x="7299360" y="2519280"/>
              <a:chExt cx="764280" cy="449640"/>
            </a:xfrm>
          </p:grpSpPr>
          <p:sp>
            <p:nvSpPr>
              <p:cNvPr id="526" name="Freeform 214"/>
              <p:cNvSpPr/>
              <p:nvPr/>
            </p:nvSpPr>
            <p:spPr>
              <a:xfrm>
                <a:off x="7299360" y="2675160"/>
                <a:ext cx="764280" cy="293760"/>
              </a:xfrm>
              <a:custGeom>
                <a:avLst/>
                <a:gdLst>
                  <a:gd name="textAreaLeft" fmla="*/ 0 w 764280"/>
                  <a:gd name="textAreaRight" fmla="*/ 764640 w 764280"/>
                  <a:gd name="textAreaTop" fmla="*/ 0 h 293760"/>
                  <a:gd name="textAreaBottom" fmla="*/ 294120 h 29376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7" name="Oval 215"/>
              <p:cNvSpPr/>
              <p:nvPr/>
            </p:nvSpPr>
            <p:spPr>
              <a:xfrm>
                <a:off x="7299720" y="2519280"/>
                <a:ext cx="763200" cy="29088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28" name="Group 216"/>
              <p:cNvGrpSpPr/>
              <p:nvPr/>
            </p:nvGrpSpPr>
            <p:grpSpPr>
              <a:xfrm>
                <a:off x="7412760" y="2556360"/>
                <a:ext cx="537120" cy="213840"/>
                <a:chOff x="7412760" y="2556360"/>
                <a:chExt cx="537120" cy="213840"/>
              </a:xfrm>
            </p:grpSpPr>
            <p:sp>
              <p:nvSpPr>
                <p:cNvPr id="529" name="Freeform 217"/>
                <p:cNvSpPr/>
                <p:nvPr/>
              </p:nvSpPr>
              <p:spPr>
                <a:xfrm>
                  <a:off x="7427880" y="2556360"/>
                  <a:ext cx="508320" cy="119520"/>
                </a:xfrm>
                <a:custGeom>
                  <a:avLst/>
                  <a:gdLst>
                    <a:gd name="textAreaLeft" fmla="*/ 0 w 508320"/>
                    <a:gd name="textAreaRight" fmla="*/ 508680 w 508320"/>
                    <a:gd name="textAreaTop" fmla="*/ 0 h 119520"/>
                    <a:gd name="textAreaBottom" fmla="*/ 119880 h 11952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30" name="Freeform 218"/>
                <p:cNvSpPr/>
                <p:nvPr/>
              </p:nvSpPr>
              <p:spPr>
                <a:xfrm>
                  <a:off x="7760520" y="2658960"/>
                  <a:ext cx="189360" cy="102600"/>
                </a:xfrm>
                <a:custGeom>
                  <a:avLst/>
                  <a:gdLst>
                    <a:gd name="textAreaLeft" fmla="*/ 0 w 189360"/>
                    <a:gd name="textAreaRight" fmla="*/ 189720 w 189360"/>
                    <a:gd name="textAreaTop" fmla="*/ 0 h 102600"/>
                    <a:gd name="textAreaBottom" fmla="*/ 102960 h 10260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31" name="Freeform 219"/>
                <p:cNvSpPr/>
                <p:nvPr/>
              </p:nvSpPr>
              <p:spPr>
                <a:xfrm>
                  <a:off x="7412760" y="2658960"/>
                  <a:ext cx="186120" cy="101520"/>
                </a:xfrm>
                <a:custGeom>
                  <a:avLst/>
                  <a:gdLst>
                    <a:gd name="textAreaLeft" fmla="*/ 0 w 186120"/>
                    <a:gd name="textAreaRight" fmla="*/ 186480 w 186120"/>
                    <a:gd name="textAreaTop" fmla="*/ 0 h 101520"/>
                    <a:gd name="textAreaBottom" fmla="*/ 101880 h 10152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32" name="Freeform 220"/>
                <p:cNvSpPr/>
                <p:nvPr/>
              </p:nvSpPr>
              <p:spPr>
                <a:xfrm>
                  <a:off x="7477560" y="2608560"/>
                  <a:ext cx="405000" cy="161640"/>
                </a:xfrm>
                <a:custGeom>
                  <a:avLst/>
                  <a:gdLst>
                    <a:gd name="textAreaLeft" fmla="*/ 0 w 405000"/>
                    <a:gd name="textAreaRight" fmla="*/ 405360 w 405000"/>
                    <a:gd name="textAreaTop" fmla="*/ 0 h 161640"/>
                    <a:gd name="textAreaBottom" fmla="*/ 162000 h 16164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grpSp>
          <p:nvGrpSpPr>
            <p:cNvPr id="533" name="Group 221"/>
            <p:cNvGrpSpPr/>
            <p:nvPr/>
          </p:nvGrpSpPr>
          <p:grpSpPr>
            <a:xfrm>
              <a:off x="8800920" y="4395600"/>
              <a:ext cx="764280" cy="449280"/>
              <a:chOff x="8800920" y="4395600"/>
              <a:chExt cx="764280" cy="449280"/>
            </a:xfrm>
          </p:grpSpPr>
          <p:sp>
            <p:nvSpPr>
              <p:cNvPr id="534" name="Freeform 222"/>
              <p:cNvSpPr/>
              <p:nvPr/>
            </p:nvSpPr>
            <p:spPr>
              <a:xfrm>
                <a:off x="8800920" y="4551120"/>
                <a:ext cx="764280" cy="293760"/>
              </a:xfrm>
              <a:custGeom>
                <a:avLst/>
                <a:gdLst>
                  <a:gd name="textAreaLeft" fmla="*/ 0 w 764280"/>
                  <a:gd name="textAreaRight" fmla="*/ 764640 w 764280"/>
                  <a:gd name="textAreaTop" fmla="*/ 0 h 293760"/>
                  <a:gd name="textAreaBottom" fmla="*/ 294120 h 29376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5" name="Oval 223"/>
              <p:cNvSpPr/>
              <p:nvPr/>
            </p:nvSpPr>
            <p:spPr>
              <a:xfrm>
                <a:off x="8801280" y="4395600"/>
                <a:ext cx="763200" cy="29088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36" name="Group 224"/>
              <p:cNvGrpSpPr/>
              <p:nvPr/>
            </p:nvGrpSpPr>
            <p:grpSpPr>
              <a:xfrm>
                <a:off x="8914320" y="4432680"/>
                <a:ext cx="537120" cy="213840"/>
                <a:chOff x="8914320" y="4432680"/>
                <a:chExt cx="537120" cy="213840"/>
              </a:xfrm>
            </p:grpSpPr>
            <p:sp>
              <p:nvSpPr>
                <p:cNvPr id="537" name="Freeform 225"/>
                <p:cNvSpPr/>
                <p:nvPr/>
              </p:nvSpPr>
              <p:spPr>
                <a:xfrm>
                  <a:off x="8929080" y="4432680"/>
                  <a:ext cx="508320" cy="119520"/>
                </a:xfrm>
                <a:custGeom>
                  <a:avLst/>
                  <a:gdLst>
                    <a:gd name="textAreaLeft" fmla="*/ 0 w 508320"/>
                    <a:gd name="textAreaRight" fmla="*/ 508680 w 508320"/>
                    <a:gd name="textAreaTop" fmla="*/ 0 h 119520"/>
                    <a:gd name="textAreaBottom" fmla="*/ 119880 h 11952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38" name="Freeform 226"/>
                <p:cNvSpPr/>
                <p:nvPr/>
              </p:nvSpPr>
              <p:spPr>
                <a:xfrm>
                  <a:off x="9262080" y="4534920"/>
                  <a:ext cx="189360" cy="102600"/>
                </a:xfrm>
                <a:custGeom>
                  <a:avLst/>
                  <a:gdLst>
                    <a:gd name="textAreaLeft" fmla="*/ 0 w 189360"/>
                    <a:gd name="textAreaRight" fmla="*/ 189720 w 189360"/>
                    <a:gd name="textAreaTop" fmla="*/ 0 h 102600"/>
                    <a:gd name="textAreaBottom" fmla="*/ 102960 h 10260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39" name="Freeform 227"/>
                <p:cNvSpPr/>
                <p:nvPr/>
              </p:nvSpPr>
              <p:spPr>
                <a:xfrm>
                  <a:off x="8914320" y="4534920"/>
                  <a:ext cx="186120" cy="101520"/>
                </a:xfrm>
                <a:custGeom>
                  <a:avLst/>
                  <a:gdLst>
                    <a:gd name="textAreaLeft" fmla="*/ 0 w 186120"/>
                    <a:gd name="textAreaRight" fmla="*/ 186480 w 186120"/>
                    <a:gd name="textAreaTop" fmla="*/ 0 h 101520"/>
                    <a:gd name="textAreaBottom" fmla="*/ 101880 h 10152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40" name="Freeform 228"/>
                <p:cNvSpPr/>
                <p:nvPr/>
              </p:nvSpPr>
              <p:spPr>
                <a:xfrm>
                  <a:off x="8979120" y="4484880"/>
                  <a:ext cx="405000" cy="161640"/>
                </a:xfrm>
                <a:custGeom>
                  <a:avLst/>
                  <a:gdLst>
                    <a:gd name="textAreaLeft" fmla="*/ 0 w 405000"/>
                    <a:gd name="textAreaRight" fmla="*/ 405360 w 405000"/>
                    <a:gd name="textAreaTop" fmla="*/ 0 h 161640"/>
                    <a:gd name="textAreaBottom" fmla="*/ 162000 h 16164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grpSp>
          <p:nvGrpSpPr>
            <p:cNvPr id="541" name="Group 229"/>
            <p:cNvGrpSpPr/>
            <p:nvPr/>
          </p:nvGrpSpPr>
          <p:grpSpPr>
            <a:xfrm>
              <a:off x="5865480" y="4413240"/>
              <a:ext cx="764280" cy="449280"/>
              <a:chOff x="5865480" y="4413240"/>
              <a:chExt cx="764280" cy="449280"/>
            </a:xfrm>
          </p:grpSpPr>
          <p:sp>
            <p:nvSpPr>
              <p:cNvPr id="542" name="Freeform 230"/>
              <p:cNvSpPr/>
              <p:nvPr/>
            </p:nvSpPr>
            <p:spPr>
              <a:xfrm>
                <a:off x="5865480" y="4568760"/>
                <a:ext cx="764280" cy="293760"/>
              </a:xfrm>
              <a:custGeom>
                <a:avLst/>
                <a:gdLst>
                  <a:gd name="textAreaLeft" fmla="*/ 0 w 764280"/>
                  <a:gd name="textAreaRight" fmla="*/ 764640 w 764280"/>
                  <a:gd name="textAreaTop" fmla="*/ 0 h 293760"/>
                  <a:gd name="textAreaBottom" fmla="*/ 294120 h 29376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3" name="Oval 231"/>
              <p:cNvSpPr/>
              <p:nvPr/>
            </p:nvSpPr>
            <p:spPr>
              <a:xfrm>
                <a:off x="5865840" y="4413240"/>
                <a:ext cx="763200" cy="29088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44" name="Group 232"/>
              <p:cNvGrpSpPr/>
              <p:nvPr/>
            </p:nvGrpSpPr>
            <p:grpSpPr>
              <a:xfrm>
                <a:off x="5978880" y="4449960"/>
                <a:ext cx="537120" cy="213840"/>
                <a:chOff x="5978880" y="4449960"/>
                <a:chExt cx="537120" cy="213840"/>
              </a:xfrm>
            </p:grpSpPr>
            <p:sp>
              <p:nvSpPr>
                <p:cNvPr id="545" name="Freeform 233"/>
                <p:cNvSpPr/>
                <p:nvPr/>
              </p:nvSpPr>
              <p:spPr>
                <a:xfrm>
                  <a:off x="5993640" y="4449960"/>
                  <a:ext cx="508320" cy="119520"/>
                </a:xfrm>
                <a:custGeom>
                  <a:avLst/>
                  <a:gdLst>
                    <a:gd name="textAreaLeft" fmla="*/ 0 w 508320"/>
                    <a:gd name="textAreaRight" fmla="*/ 508680 w 508320"/>
                    <a:gd name="textAreaTop" fmla="*/ 0 h 119520"/>
                    <a:gd name="textAreaBottom" fmla="*/ 119880 h 11952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46" name="Freeform 234"/>
                <p:cNvSpPr/>
                <p:nvPr/>
              </p:nvSpPr>
              <p:spPr>
                <a:xfrm>
                  <a:off x="6326640" y="4552560"/>
                  <a:ext cx="189360" cy="102600"/>
                </a:xfrm>
                <a:custGeom>
                  <a:avLst/>
                  <a:gdLst>
                    <a:gd name="textAreaLeft" fmla="*/ 0 w 189360"/>
                    <a:gd name="textAreaRight" fmla="*/ 189720 w 189360"/>
                    <a:gd name="textAreaTop" fmla="*/ 0 h 102600"/>
                    <a:gd name="textAreaBottom" fmla="*/ 102960 h 10260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47" name="Freeform 235"/>
                <p:cNvSpPr/>
                <p:nvPr/>
              </p:nvSpPr>
              <p:spPr>
                <a:xfrm>
                  <a:off x="5978880" y="4552560"/>
                  <a:ext cx="186120" cy="101520"/>
                </a:xfrm>
                <a:custGeom>
                  <a:avLst/>
                  <a:gdLst>
                    <a:gd name="textAreaLeft" fmla="*/ 0 w 186120"/>
                    <a:gd name="textAreaRight" fmla="*/ 186480 w 186120"/>
                    <a:gd name="textAreaTop" fmla="*/ 0 h 101520"/>
                    <a:gd name="textAreaBottom" fmla="*/ 101880 h 10152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548" name="Freeform 236"/>
                <p:cNvSpPr/>
                <p:nvPr/>
              </p:nvSpPr>
              <p:spPr>
                <a:xfrm>
                  <a:off x="6043320" y="4502160"/>
                  <a:ext cx="405000" cy="161640"/>
                </a:xfrm>
                <a:custGeom>
                  <a:avLst/>
                  <a:gdLst>
                    <a:gd name="textAreaLeft" fmla="*/ 0 w 405000"/>
                    <a:gd name="textAreaRight" fmla="*/ 405360 w 405000"/>
                    <a:gd name="textAreaTop" fmla="*/ 0 h 161640"/>
                    <a:gd name="textAreaBottom" fmla="*/ 162000 h 16164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grpSp>
          <p:nvGrpSpPr>
            <p:cNvPr id="549" name="Group 136"/>
            <p:cNvGrpSpPr/>
            <p:nvPr/>
          </p:nvGrpSpPr>
          <p:grpSpPr>
            <a:xfrm>
              <a:off x="9200520" y="6019560"/>
              <a:ext cx="641160" cy="558360"/>
              <a:chOff x="9200520" y="6019560"/>
              <a:chExt cx="641160" cy="558360"/>
            </a:xfrm>
          </p:grpSpPr>
          <p:pic>
            <p:nvPicPr>
              <p:cNvPr id="550" name="Picture 137" descr="desktop_computer_stylized_medium"/>
              <p:cNvPicPr/>
              <p:nvPr/>
            </p:nvPicPr>
            <p:blipFill>
              <a:blip r:embed="rId4"/>
              <a:stretch/>
            </p:blipFill>
            <p:spPr>
              <a:xfrm flipH="1">
                <a:off x="9200520" y="6019560"/>
                <a:ext cx="641160" cy="558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551" name="Freeform 138"/>
              <p:cNvSpPr/>
              <p:nvPr/>
            </p:nvSpPr>
            <p:spPr>
              <a:xfrm flipH="1">
                <a:off x="9473040" y="6073200"/>
                <a:ext cx="311400" cy="255600"/>
              </a:xfrm>
              <a:custGeom>
                <a:avLst/>
                <a:gdLst>
                  <a:gd name="textAreaLeft" fmla="*/ -360 w 311400"/>
                  <a:gd name="textAreaRight" fmla="*/ 311400 w 311400"/>
                  <a:gd name="textAreaTop" fmla="*/ 0 h 255600"/>
                  <a:gd name="textAreaBottom" fmla="*/ 255960 h 255600"/>
                  <a:gd name="GluePoint1X" fmla="*/ 0 w 356"/>
                  <a:gd name="GluePoint1Y" fmla="*/ 0 h 368"/>
                  <a:gd name="GluePoint2X" fmla="*/ 18034 w 356"/>
                  <a:gd name="GluePoint2Y" fmla="*/ 1220 h 368"/>
                  <a:gd name="GluePoint3X" fmla="*/ 21394 w 356"/>
                  <a:gd name="GluePoint3Y" fmla="*/ 25425 h 368"/>
                  <a:gd name="GluePoint4X" fmla="*/ 4715 w 356"/>
                  <a:gd name="GluePoint4Y" fmla="*/ 31797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552" name="Group 139"/>
            <p:cNvGrpSpPr/>
            <p:nvPr/>
          </p:nvGrpSpPr>
          <p:grpSpPr>
            <a:xfrm>
              <a:off x="8264880" y="5986800"/>
              <a:ext cx="641160" cy="558360"/>
              <a:chOff x="8264880" y="5986800"/>
              <a:chExt cx="641160" cy="558360"/>
            </a:xfrm>
          </p:grpSpPr>
          <p:pic>
            <p:nvPicPr>
              <p:cNvPr id="553" name="Picture 140" descr="desktop_computer_stylized_medium"/>
              <p:cNvPicPr/>
              <p:nvPr/>
            </p:nvPicPr>
            <p:blipFill>
              <a:blip r:embed="rId5"/>
              <a:stretch/>
            </p:blipFill>
            <p:spPr>
              <a:xfrm flipH="1">
                <a:off x="8264880" y="5986800"/>
                <a:ext cx="641160" cy="558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554" name="Freeform 141"/>
              <p:cNvSpPr/>
              <p:nvPr/>
            </p:nvSpPr>
            <p:spPr>
              <a:xfrm flipH="1">
                <a:off x="8537040" y="6040440"/>
                <a:ext cx="311400" cy="255600"/>
              </a:xfrm>
              <a:custGeom>
                <a:avLst/>
                <a:gdLst>
                  <a:gd name="textAreaLeft" fmla="*/ -360 w 311400"/>
                  <a:gd name="textAreaRight" fmla="*/ 311400 w 311400"/>
                  <a:gd name="textAreaTop" fmla="*/ 0 h 255600"/>
                  <a:gd name="textAreaBottom" fmla="*/ 255960 h 255600"/>
                  <a:gd name="GluePoint1X" fmla="*/ 0 w 356"/>
                  <a:gd name="GluePoint1Y" fmla="*/ 0 h 368"/>
                  <a:gd name="GluePoint2X" fmla="*/ 18034 w 356"/>
                  <a:gd name="GluePoint2Y" fmla="*/ 1220 h 368"/>
                  <a:gd name="GluePoint3X" fmla="*/ 21394 w 356"/>
                  <a:gd name="GluePoint3Y" fmla="*/ 25425 h 368"/>
                  <a:gd name="GluePoint4X" fmla="*/ 4715 w 356"/>
                  <a:gd name="GluePoint4Y" fmla="*/ 31797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555" name="Group 142"/>
            <p:cNvGrpSpPr/>
            <p:nvPr/>
          </p:nvGrpSpPr>
          <p:grpSpPr>
            <a:xfrm>
              <a:off x="5270040" y="5896800"/>
              <a:ext cx="641160" cy="558360"/>
              <a:chOff x="5270040" y="5896800"/>
              <a:chExt cx="641160" cy="558360"/>
            </a:xfrm>
          </p:grpSpPr>
          <p:pic>
            <p:nvPicPr>
              <p:cNvPr id="556" name="Picture 143" descr="desktop_computer_stylized_medium"/>
              <p:cNvPicPr/>
              <p:nvPr/>
            </p:nvPicPr>
            <p:blipFill>
              <a:blip r:embed="rId6"/>
              <a:stretch/>
            </p:blipFill>
            <p:spPr>
              <a:xfrm flipH="1">
                <a:off x="5270040" y="5896800"/>
                <a:ext cx="641160" cy="558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557" name="Freeform 144"/>
              <p:cNvSpPr/>
              <p:nvPr/>
            </p:nvSpPr>
            <p:spPr>
              <a:xfrm flipH="1">
                <a:off x="5542560" y="5950080"/>
                <a:ext cx="311400" cy="255600"/>
              </a:xfrm>
              <a:custGeom>
                <a:avLst/>
                <a:gdLst>
                  <a:gd name="textAreaLeft" fmla="*/ -360 w 311400"/>
                  <a:gd name="textAreaRight" fmla="*/ 311400 w 311400"/>
                  <a:gd name="textAreaTop" fmla="*/ 0 h 255600"/>
                  <a:gd name="textAreaBottom" fmla="*/ 255960 h 255600"/>
                  <a:gd name="GluePoint1X" fmla="*/ 0 w 356"/>
                  <a:gd name="GluePoint1Y" fmla="*/ 0 h 368"/>
                  <a:gd name="GluePoint2X" fmla="*/ 18034 w 356"/>
                  <a:gd name="GluePoint2Y" fmla="*/ 1220 h 368"/>
                  <a:gd name="GluePoint3X" fmla="*/ 21394 w 356"/>
                  <a:gd name="GluePoint3Y" fmla="*/ 25425 h 368"/>
                  <a:gd name="GluePoint4X" fmla="*/ 4715 w 356"/>
                  <a:gd name="GluePoint4Y" fmla="*/ 31797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558" name="Group 145"/>
            <p:cNvGrpSpPr/>
            <p:nvPr/>
          </p:nvGrpSpPr>
          <p:grpSpPr>
            <a:xfrm>
              <a:off x="6181920" y="5844240"/>
              <a:ext cx="641160" cy="558360"/>
              <a:chOff x="6181920" y="5844240"/>
              <a:chExt cx="641160" cy="558360"/>
            </a:xfrm>
          </p:grpSpPr>
          <p:pic>
            <p:nvPicPr>
              <p:cNvPr id="559" name="Picture 146" descr="desktop_computer_stylized_medium"/>
              <p:cNvPicPr/>
              <p:nvPr/>
            </p:nvPicPr>
            <p:blipFill>
              <a:blip r:embed="rId7"/>
              <a:stretch/>
            </p:blipFill>
            <p:spPr>
              <a:xfrm flipH="1">
                <a:off x="6181920" y="5844240"/>
                <a:ext cx="641160" cy="558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560" name="Freeform 147"/>
              <p:cNvSpPr/>
              <p:nvPr/>
            </p:nvSpPr>
            <p:spPr>
              <a:xfrm flipH="1">
                <a:off x="6454440" y="5897880"/>
                <a:ext cx="311400" cy="255600"/>
              </a:xfrm>
              <a:custGeom>
                <a:avLst/>
                <a:gdLst>
                  <a:gd name="textAreaLeft" fmla="*/ -360 w 311400"/>
                  <a:gd name="textAreaRight" fmla="*/ 311400 w 311400"/>
                  <a:gd name="textAreaTop" fmla="*/ 0 h 255600"/>
                  <a:gd name="textAreaBottom" fmla="*/ 255960 h 255600"/>
                  <a:gd name="GluePoint1X" fmla="*/ 0 w 356"/>
                  <a:gd name="GluePoint1Y" fmla="*/ 0 h 368"/>
                  <a:gd name="GluePoint2X" fmla="*/ 18034 w 356"/>
                  <a:gd name="GluePoint2Y" fmla="*/ 1220 h 368"/>
                  <a:gd name="GluePoint3X" fmla="*/ 21394 w 356"/>
                  <a:gd name="GluePoint3Y" fmla="*/ 25425 h 368"/>
                  <a:gd name="GluePoint4X" fmla="*/ 4715 w 356"/>
                  <a:gd name="GluePoint4Y" fmla="*/ 31797 h 368"/>
                  <a:gd name="GluePoint5X" fmla="*/ 0 w 356"/>
                  <a:gd name="GluePoint5Y" fmla="*/ 0 h 36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561" name="Text Box 41"/>
          <p:cNvSpPr/>
          <p:nvPr/>
        </p:nvSpPr>
        <p:spPr>
          <a:xfrm>
            <a:off x="4790160" y="5542200"/>
            <a:ext cx="963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223.1.2.1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62" name="Group 15"/>
          <p:cNvGrpSpPr/>
          <p:nvPr/>
        </p:nvGrpSpPr>
        <p:grpSpPr>
          <a:xfrm>
            <a:off x="2970360" y="933480"/>
            <a:ext cx="9056160" cy="4702680"/>
            <a:chOff x="2970360" y="933480"/>
            <a:chExt cx="9056160" cy="4702680"/>
          </a:xfrm>
        </p:grpSpPr>
        <p:grpSp>
          <p:nvGrpSpPr>
            <p:cNvPr id="563" name="Group 89"/>
            <p:cNvGrpSpPr/>
            <p:nvPr/>
          </p:nvGrpSpPr>
          <p:grpSpPr>
            <a:xfrm>
              <a:off x="8151840" y="933480"/>
              <a:ext cx="3244320" cy="864000"/>
              <a:chOff x="8151840" y="933480"/>
              <a:chExt cx="3244320" cy="864000"/>
            </a:xfrm>
          </p:grpSpPr>
          <p:sp>
            <p:nvSpPr>
              <p:cNvPr id="564" name="Text Box 191"/>
              <p:cNvSpPr/>
              <p:nvPr/>
            </p:nvSpPr>
            <p:spPr>
              <a:xfrm>
                <a:off x="9316800" y="933480"/>
                <a:ext cx="2079360" cy="39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i="1" lang="en-US" sz="2000" strike="noStrike" u="none">
                    <a:solidFill>
                      <a:srgbClr val="cc0000"/>
                    </a:solidFill>
                    <a:effectLst/>
                    <a:uFillTx/>
                    <a:latin typeface="Calibri"/>
                    <a:ea typeface="ＭＳ Ｐゴシック"/>
                  </a:rPr>
                  <a:t>subnet 223.1.1/24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565" name="Straight Connector 91"/>
              <p:cNvCxnSpPr/>
              <p:nvPr/>
            </p:nvCxnSpPr>
            <p:spPr>
              <a:xfrm flipH="1">
                <a:off x="8151840" y="1192320"/>
                <a:ext cx="1222920" cy="60552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</a:ln>
            </p:spPr>
          </p:cxnSp>
        </p:grpSp>
        <p:grpSp>
          <p:nvGrpSpPr>
            <p:cNvPr id="566" name="Group 94"/>
            <p:cNvGrpSpPr/>
            <p:nvPr/>
          </p:nvGrpSpPr>
          <p:grpSpPr>
            <a:xfrm>
              <a:off x="8567640" y="2945520"/>
              <a:ext cx="2717280" cy="631800"/>
              <a:chOff x="8567640" y="2945520"/>
              <a:chExt cx="2717280" cy="631800"/>
            </a:xfrm>
          </p:grpSpPr>
          <p:sp>
            <p:nvSpPr>
              <p:cNvPr id="567" name="Text Box 191"/>
              <p:cNvSpPr/>
              <p:nvPr/>
            </p:nvSpPr>
            <p:spPr>
              <a:xfrm>
                <a:off x="9205560" y="2945520"/>
                <a:ext cx="2079360" cy="39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i="1" lang="en-US" sz="2000" strike="noStrike" u="none">
                    <a:solidFill>
                      <a:srgbClr val="cc0000"/>
                    </a:solidFill>
                    <a:effectLst/>
                    <a:uFillTx/>
                    <a:latin typeface="Calibri"/>
                    <a:ea typeface="ＭＳ Ｐゴシック"/>
                  </a:rPr>
                  <a:t>subnet 223.1.7/24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568" name="Straight Connector 103"/>
              <p:cNvCxnSpPr/>
              <p:nvPr/>
            </p:nvCxnSpPr>
            <p:spPr>
              <a:xfrm flipH="1">
                <a:off x="8567640" y="3207960"/>
                <a:ext cx="700560" cy="36972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</a:ln>
            </p:spPr>
          </p:cxnSp>
        </p:grpSp>
        <p:grpSp>
          <p:nvGrpSpPr>
            <p:cNvPr id="569" name="Group 104"/>
            <p:cNvGrpSpPr/>
            <p:nvPr/>
          </p:nvGrpSpPr>
          <p:grpSpPr>
            <a:xfrm>
              <a:off x="9262800" y="5019840"/>
              <a:ext cx="2763720" cy="616320"/>
              <a:chOff x="9262800" y="5019840"/>
              <a:chExt cx="2763720" cy="616320"/>
            </a:xfrm>
          </p:grpSpPr>
          <p:sp>
            <p:nvSpPr>
              <p:cNvPr id="570" name="Text Box 191"/>
              <p:cNvSpPr/>
              <p:nvPr/>
            </p:nvSpPr>
            <p:spPr>
              <a:xfrm>
                <a:off x="9947160" y="5019840"/>
                <a:ext cx="2079360" cy="39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i="1" lang="en-US" sz="2000" strike="noStrike" u="none">
                    <a:solidFill>
                      <a:srgbClr val="cc0000"/>
                    </a:solidFill>
                    <a:effectLst/>
                    <a:uFillTx/>
                    <a:latin typeface="Calibri"/>
                    <a:ea typeface="ＭＳ Ｐゴシック"/>
                  </a:rPr>
                  <a:t>subnet 223.1.3/24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571" name="Straight Connector 106"/>
              <p:cNvCxnSpPr/>
              <p:nvPr/>
            </p:nvCxnSpPr>
            <p:spPr>
              <a:xfrm flipH="1">
                <a:off x="9262800" y="5266800"/>
                <a:ext cx="700200" cy="36972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</a:ln>
            </p:spPr>
          </p:cxnSp>
        </p:grpSp>
        <p:grpSp>
          <p:nvGrpSpPr>
            <p:cNvPr id="572" name="Group 9"/>
            <p:cNvGrpSpPr/>
            <p:nvPr/>
          </p:nvGrpSpPr>
          <p:grpSpPr>
            <a:xfrm>
              <a:off x="2970360" y="4924080"/>
              <a:ext cx="2681280" cy="616320"/>
              <a:chOff x="2970360" y="4924080"/>
              <a:chExt cx="2681280" cy="616320"/>
            </a:xfrm>
          </p:grpSpPr>
          <p:sp>
            <p:nvSpPr>
              <p:cNvPr id="573" name="Text Box 191"/>
              <p:cNvSpPr/>
              <p:nvPr/>
            </p:nvSpPr>
            <p:spPr>
              <a:xfrm>
                <a:off x="2970360" y="4924080"/>
                <a:ext cx="2079360" cy="39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i="1" lang="en-US" sz="2000" strike="noStrike" u="none">
                    <a:solidFill>
                      <a:srgbClr val="cc0000"/>
                    </a:solidFill>
                    <a:effectLst/>
                    <a:uFillTx/>
                    <a:latin typeface="Calibri"/>
                    <a:ea typeface="ＭＳ Ｐゴシック"/>
                  </a:rPr>
                  <a:t>subnet 223.1.2/24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574" name="Straight Connector 109"/>
              <p:cNvCxnSpPr/>
              <p:nvPr/>
            </p:nvCxnSpPr>
            <p:spPr>
              <a:xfrm>
                <a:off x="4951440" y="5171040"/>
                <a:ext cx="700560" cy="36972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</a:ln>
            </p:spPr>
          </p:cxnSp>
        </p:grpSp>
        <p:grpSp>
          <p:nvGrpSpPr>
            <p:cNvPr id="575" name="Group 110"/>
            <p:cNvGrpSpPr/>
            <p:nvPr/>
          </p:nvGrpSpPr>
          <p:grpSpPr>
            <a:xfrm>
              <a:off x="4362480" y="3185640"/>
              <a:ext cx="2495160" cy="492480"/>
              <a:chOff x="4362480" y="3185640"/>
              <a:chExt cx="2495160" cy="492480"/>
            </a:xfrm>
          </p:grpSpPr>
          <p:sp>
            <p:nvSpPr>
              <p:cNvPr id="576" name="Text Box 191"/>
              <p:cNvSpPr/>
              <p:nvPr/>
            </p:nvSpPr>
            <p:spPr>
              <a:xfrm>
                <a:off x="4362480" y="3185640"/>
                <a:ext cx="2079360" cy="39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i="1" lang="en-US" sz="2000" strike="noStrike" u="none">
                    <a:solidFill>
                      <a:srgbClr val="cc0000"/>
                    </a:solidFill>
                    <a:effectLst/>
                    <a:uFillTx/>
                    <a:latin typeface="Calibri"/>
                    <a:ea typeface="ＭＳ Ｐゴシック"/>
                  </a:rPr>
                  <a:t>subnet 223.1.9/24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577" name="Straight Connector 112"/>
              <p:cNvCxnSpPr/>
              <p:nvPr/>
            </p:nvCxnSpPr>
            <p:spPr>
              <a:xfrm>
                <a:off x="6384960" y="3456000"/>
                <a:ext cx="473040" cy="22248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</a:ln>
            </p:spPr>
          </p:cxnSp>
        </p:grpSp>
        <p:grpSp>
          <p:nvGrpSpPr>
            <p:cNvPr id="578" name="Group 14"/>
            <p:cNvGrpSpPr/>
            <p:nvPr/>
          </p:nvGrpSpPr>
          <p:grpSpPr>
            <a:xfrm>
              <a:off x="6605640" y="4602960"/>
              <a:ext cx="2079360" cy="647640"/>
              <a:chOff x="6605640" y="4602960"/>
              <a:chExt cx="2079360" cy="647640"/>
            </a:xfrm>
          </p:grpSpPr>
          <p:sp>
            <p:nvSpPr>
              <p:cNvPr id="579" name="Text Box 191"/>
              <p:cNvSpPr/>
              <p:nvPr/>
            </p:nvSpPr>
            <p:spPr>
              <a:xfrm>
                <a:off x="6605640" y="4851000"/>
                <a:ext cx="2079360" cy="39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i="1" lang="en-US" sz="2000" strike="noStrike" u="none">
                    <a:solidFill>
                      <a:srgbClr val="cc0000"/>
                    </a:solidFill>
                    <a:effectLst/>
                    <a:uFillTx/>
                    <a:latin typeface="Calibri"/>
                    <a:ea typeface="ＭＳ Ｐゴシック"/>
                  </a:rPr>
                  <a:t>subnet 223.1.8/24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580" name="Straight Connector 13"/>
              <p:cNvCxnSpPr/>
              <p:nvPr/>
            </p:nvCxnSpPr>
            <p:spPr>
              <a:xfrm flipV="1">
                <a:off x="7640640" y="4602960"/>
                <a:ext cx="360" cy="34128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</a:ln>
            </p:spPr>
          </p:cxnSp>
        </p:grpSp>
      </p:grpSp>
      <p:sp>
        <p:nvSpPr>
          <p:cNvPr id="581" name="PlaceHolder 2"/>
          <p:cNvSpPr>
            <a:spLocks noGrp="1"/>
          </p:cNvSpPr>
          <p:nvPr>
            <p:ph type="sldNum" idx="51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4-</a:t>
            </a:r>
            <a:fld id="{460D1BF6-A556-4324-85DE-41AD203D16DE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11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2" dur="indefinite" restart="never" nodeType="tmRoot">
          <p:childTnLst>
            <p:seq>
              <p:cTn id="293" dur="indefinite" nodeType="mainSeq">
                <p:childTnLst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297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03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title"/>
          </p:nvPr>
        </p:nvSpPr>
        <p:spPr>
          <a:xfrm>
            <a:off x="999000" y="759600"/>
            <a:ext cx="8281800" cy="64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CIDR: Classless Inter Domain Routing</a:t>
            </a:r>
            <a:br>
              <a:rPr sz="4400"/>
            </a:br>
            <a:r>
              <a:rPr b="1" lang="en-US" sz="44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 (pronounced “cider”)</a:t>
            </a:r>
            <a:br>
              <a:rPr sz="4400"/>
            </a:b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CIDR tries to </a:t>
            </a: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balance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the desire to </a:t>
            </a: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minimize the number of routes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that a router needs to know against the need to </a:t>
            </a: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hand out addresses efficiently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CIDR uses aggregate routes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Uses a single entry in the forwarding table to tell the router how to reach a lot of different networks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Breaks the rigid boundaries between address classes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1026720" y="296280"/>
            <a:ext cx="8281800" cy="64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CIDR: Classless Inter Domain Routing 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5" name="PlaceHolder 2"/>
          <p:cNvSpPr>
            <a:spLocks noGrp="1"/>
          </p:cNvSpPr>
          <p:nvPr>
            <p:ph/>
          </p:nvPr>
        </p:nvSpPr>
        <p:spPr>
          <a:xfrm>
            <a:off x="838080" y="137772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Consider an organization with 16 class C network numbers.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Instead of handing out 16 addresses at random, hand out a block of contiguous class C addresses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Suppose we assign the class C network numbers from 192.4.16 through 192.4.31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Observe that top 20 bits of all the addresses in this range are the same (11000000 00000100 0001)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We have created a 20-bit network number (which is in between class B network number and class C number)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Requires to hand out blocks of class C addresses that share a common prefix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1040760" y="459720"/>
            <a:ext cx="8281800" cy="64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CIDR: Classless Inter Domain Routing 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7" name="PlaceHolder 2"/>
          <p:cNvSpPr>
            <a:spLocks noGrp="1"/>
          </p:cNvSpPr>
          <p:nvPr>
            <p:ph/>
          </p:nvPr>
        </p:nvSpPr>
        <p:spPr>
          <a:xfrm>
            <a:off x="815760" y="1253160"/>
            <a:ext cx="10515240" cy="535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convention is to place a </a:t>
            </a:r>
            <a:r>
              <a:rPr b="0" lang="en-US" sz="2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/x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after the prefix where </a:t>
            </a:r>
            <a:r>
              <a:rPr b="0" lang="en-US" sz="2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is the prefix length in bits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 20-bit prefix for all the networks 192.4.16 through 192.4.31 is represented as 192.4.16</a:t>
            </a:r>
            <a:r>
              <a:rPr b="0" lang="en-US" sz="2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/20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By contrast, if we wanted to represent a single class C network number, which is 24 bits long, we would write it 192.4.16/24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588" name="Group 10"/>
          <p:cNvGrpSpPr/>
          <p:nvPr/>
        </p:nvGrpSpPr>
        <p:grpSpPr>
          <a:xfrm>
            <a:off x="1385280" y="2941560"/>
            <a:ext cx="8512200" cy="1042200"/>
            <a:chOff x="1385280" y="2941560"/>
            <a:chExt cx="8512200" cy="1042200"/>
          </a:xfrm>
        </p:grpSpPr>
        <p:sp>
          <p:nvSpPr>
            <p:cNvPr id="589" name="Text Box 5"/>
            <p:cNvSpPr/>
            <p:nvPr/>
          </p:nvSpPr>
          <p:spPr>
            <a:xfrm>
              <a:off x="3843000" y="3522600"/>
              <a:ext cx="599004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rgbClr val="000099"/>
                  </a:solidFill>
                  <a:effectLst/>
                  <a:uFillTx/>
                  <a:latin typeface="Arial"/>
                  <a:ea typeface="ＭＳ Ｐゴシック"/>
                </a:rPr>
                <a:t>11000000 00000100 0001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0000</a:t>
              </a:r>
              <a:r>
                <a:rPr b="0" lang="en-US" sz="2400" strike="noStrike" u="none">
                  <a:solidFill>
                    <a:srgbClr val="000099"/>
                  </a:solidFill>
                  <a:effectLst/>
                  <a:uFillTx/>
                  <a:latin typeface="Arial"/>
                  <a:ea typeface="ＭＳ Ｐゴシック"/>
                </a:rPr>
                <a:t>  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00000000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0" name="Text Box 6"/>
            <p:cNvSpPr/>
            <p:nvPr/>
          </p:nvSpPr>
          <p:spPr>
            <a:xfrm>
              <a:off x="5065560" y="2978280"/>
              <a:ext cx="174888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99"/>
                  </a:solidFill>
                  <a:effectLst/>
                  <a:uFillTx/>
                  <a:latin typeface="Arial"/>
                  <a:ea typeface="ＭＳ Ｐゴシック"/>
                </a:rPr>
                <a:t>Common prefix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" name="Text Box 7"/>
            <p:cNvSpPr/>
            <p:nvPr/>
          </p:nvSpPr>
          <p:spPr>
            <a:xfrm>
              <a:off x="8785080" y="2941560"/>
              <a:ext cx="615600" cy="64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host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part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Line 8"/>
            <p:cNvSpPr/>
            <p:nvPr/>
          </p:nvSpPr>
          <p:spPr>
            <a:xfrm>
              <a:off x="6511320" y="3287520"/>
              <a:ext cx="915840" cy="1800"/>
            </a:xfrm>
            <a:prstGeom prst="line">
              <a:avLst/>
            </a:prstGeom>
            <a:ln w="28575">
              <a:solidFill>
                <a:srgbClr val="000099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93" name="Line 11"/>
            <p:cNvSpPr/>
            <p:nvPr/>
          </p:nvSpPr>
          <p:spPr>
            <a:xfrm>
              <a:off x="9302400" y="3276360"/>
              <a:ext cx="59508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94" name="Text Box 12"/>
            <p:cNvSpPr/>
            <p:nvPr/>
          </p:nvSpPr>
          <p:spPr>
            <a:xfrm>
              <a:off x="1385280" y="3081960"/>
              <a:ext cx="138348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192.4.16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5" name="Line 14"/>
            <p:cNvSpPr/>
            <p:nvPr/>
          </p:nvSpPr>
          <p:spPr>
            <a:xfrm flipH="1">
              <a:off x="3912840" y="3278160"/>
              <a:ext cx="1438200" cy="360"/>
            </a:xfrm>
            <a:prstGeom prst="line">
              <a:avLst/>
            </a:prstGeom>
            <a:ln w="28575">
              <a:solidFill>
                <a:srgbClr val="000099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96" name="Line 15"/>
            <p:cNvSpPr/>
            <p:nvPr/>
          </p:nvSpPr>
          <p:spPr>
            <a:xfrm flipH="1">
              <a:off x="8172000" y="3289320"/>
              <a:ext cx="647640" cy="36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597" name="Group 19"/>
          <p:cNvGrpSpPr/>
          <p:nvPr/>
        </p:nvGrpSpPr>
        <p:grpSpPr>
          <a:xfrm>
            <a:off x="1388160" y="4265280"/>
            <a:ext cx="8512560" cy="1042200"/>
            <a:chOff x="1388160" y="4265280"/>
            <a:chExt cx="8512560" cy="1042200"/>
          </a:xfrm>
        </p:grpSpPr>
        <p:sp>
          <p:nvSpPr>
            <p:cNvPr id="598" name="Text Box 5"/>
            <p:cNvSpPr/>
            <p:nvPr/>
          </p:nvSpPr>
          <p:spPr>
            <a:xfrm>
              <a:off x="3846240" y="4846320"/>
              <a:ext cx="589860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rgbClr val="000099"/>
                  </a:solidFill>
                  <a:effectLst/>
                  <a:uFillTx/>
                  <a:latin typeface="Arial"/>
                  <a:ea typeface="ＭＳ Ｐゴシック"/>
                </a:rPr>
                <a:t>11000000 00000100 0001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1111</a:t>
              </a:r>
              <a:r>
                <a:rPr b="0" lang="en-US" sz="2400" strike="noStrike" u="none">
                  <a:solidFill>
                    <a:srgbClr val="000099"/>
                  </a:solidFill>
                  <a:effectLst/>
                  <a:uFillTx/>
                  <a:latin typeface="Arial"/>
                  <a:ea typeface="ＭＳ Ｐゴシック"/>
                </a:rPr>
                <a:t>  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00000000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9" name="Text Box 6"/>
            <p:cNvSpPr/>
            <p:nvPr/>
          </p:nvSpPr>
          <p:spPr>
            <a:xfrm>
              <a:off x="5068440" y="4301640"/>
              <a:ext cx="174888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99"/>
                  </a:solidFill>
                  <a:effectLst/>
                  <a:uFillTx/>
                  <a:latin typeface="Arial"/>
                  <a:ea typeface="ＭＳ Ｐゴシック"/>
                </a:rPr>
                <a:t>Common prefix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0" name="Text Box 7"/>
            <p:cNvSpPr/>
            <p:nvPr/>
          </p:nvSpPr>
          <p:spPr>
            <a:xfrm>
              <a:off x="8787960" y="4265280"/>
              <a:ext cx="615600" cy="64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host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part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1" name="Line 8"/>
            <p:cNvSpPr/>
            <p:nvPr/>
          </p:nvSpPr>
          <p:spPr>
            <a:xfrm>
              <a:off x="6514560" y="4611240"/>
              <a:ext cx="915840" cy="1440"/>
            </a:xfrm>
            <a:prstGeom prst="line">
              <a:avLst/>
            </a:prstGeom>
            <a:ln w="28575">
              <a:solidFill>
                <a:srgbClr val="000099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560" bIns="-43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02" name="Line 11"/>
            <p:cNvSpPr/>
            <p:nvPr/>
          </p:nvSpPr>
          <p:spPr>
            <a:xfrm>
              <a:off x="9305280" y="4600080"/>
              <a:ext cx="59544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03" name="Text Box 12"/>
            <p:cNvSpPr/>
            <p:nvPr/>
          </p:nvSpPr>
          <p:spPr>
            <a:xfrm>
              <a:off x="1388160" y="4405320"/>
              <a:ext cx="138348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192.4.31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4" name="Line 14"/>
            <p:cNvSpPr/>
            <p:nvPr/>
          </p:nvSpPr>
          <p:spPr>
            <a:xfrm flipH="1">
              <a:off x="3915720" y="4601520"/>
              <a:ext cx="1438200" cy="360"/>
            </a:xfrm>
            <a:prstGeom prst="line">
              <a:avLst/>
            </a:prstGeom>
            <a:ln w="28575">
              <a:solidFill>
                <a:srgbClr val="000099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05" name="Line 15"/>
            <p:cNvSpPr/>
            <p:nvPr/>
          </p:nvSpPr>
          <p:spPr>
            <a:xfrm flipH="1">
              <a:off x="8174880" y="4612680"/>
              <a:ext cx="648000" cy="36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4" dur="indefinite" restart="never" nodeType="tmRoot">
          <p:childTnLst>
            <p:seq>
              <p:cTn id="305" dur="indefinite" nodeType="mainSeq">
                <p:childTnLst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10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15"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title"/>
          </p:nvPr>
        </p:nvSpPr>
        <p:spPr>
          <a:xfrm>
            <a:off x="838080" y="644400"/>
            <a:ext cx="8281800" cy="64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CIDR: Classless Inter Domain Routing 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How do the routing protocols handle this classless addresses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It must understand that the network number may be of any length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All routers must understand CIDR addressing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95160" indent="-23184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08" name="Picture 2" descr=""/>
          <p:cNvPicPr/>
          <p:nvPr/>
        </p:nvPicPr>
        <p:blipFill>
          <a:blip r:embed="rId1"/>
          <a:srcRect l="28474" t="22848" r="0" b="0"/>
          <a:stretch/>
        </p:blipFill>
        <p:spPr>
          <a:xfrm>
            <a:off x="1877040" y="3429000"/>
            <a:ext cx="7395120" cy="217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9" name="Rectangle 3"/>
          <p:cNvSpPr/>
          <p:nvPr/>
        </p:nvSpPr>
        <p:spPr>
          <a:xfrm>
            <a:off x="2203560" y="5066640"/>
            <a:ext cx="2593080" cy="269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c00000"/>
                </a:solidFill>
                <a:effectLst/>
                <a:uFillTx/>
                <a:latin typeface="Calibri"/>
              </a:rPr>
              <a:t>192.4.16.0/20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Rectangle 4"/>
          <p:cNvSpPr/>
          <p:nvPr/>
        </p:nvSpPr>
        <p:spPr>
          <a:xfrm>
            <a:off x="5670000" y="5039280"/>
            <a:ext cx="2593080" cy="269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c00000"/>
                </a:solidFill>
                <a:effectLst/>
                <a:uFillTx/>
                <a:latin typeface="Calibri"/>
              </a:rPr>
              <a:t>Interface 3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703440" y="281160"/>
            <a:ext cx="10515240" cy="106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800" strike="noStrike" u="none">
                <a:solidFill>
                  <a:srgbClr val="0000a3"/>
                </a:solidFill>
                <a:effectLst/>
                <a:uFillTx/>
                <a:latin typeface="Calibri Light"/>
                <a:ea typeface="ＭＳ Ｐゴシック"/>
              </a:rPr>
              <a:t>Hierarchical addressing: route aggregation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2" name="Freeform 3"/>
          <p:cNvSpPr/>
          <p:nvPr/>
        </p:nvSpPr>
        <p:spPr>
          <a:xfrm>
            <a:off x="6254640" y="4210920"/>
            <a:ext cx="2018880" cy="294840"/>
          </a:xfrm>
          <a:custGeom>
            <a:avLst/>
            <a:gdLst>
              <a:gd name="textAreaLeft" fmla="*/ 0 w 2018880"/>
              <a:gd name="textAreaRight" fmla="*/ 2019240 w 2018880"/>
              <a:gd name="textAreaTop" fmla="*/ 0 h 294840"/>
              <a:gd name="textAreaBottom" fmla="*/ 295200 h 294840"/>
              <a:gd name="GluePoint1X" fmla="*/ 0 w 1272"/>
              <a:gd name="GluePoint1Y" fmla="*/ 0 h 186"/>
              <a:gd name="GluePoint2X" fmla="*/ 2147483647 w 1272"/>
              <a:gd name="GluePoint2Y" fmla="*/ 2147483647 h 1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613" name="Line 4"/>
          <p:cNvSpPr/>
          <p:nvPr/>
        </p:nvSpPr>
        <p:spPr>
          <a:xfrm flipV="1">
            <a:off x="3911040" y="4487040"/>
            <a:ext cx="895680" cy="45720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614" name="Line 5"/>
          <p:cNvSpPr/>
          <p:nvPr/>
        </p:nvSpPr>
        <p:spPr>
          <a:xfrm>
            <a:off x="3939840" y="3858480"/>
            <a:ext cx="752400" cy="171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615" name="Line 6"/>
          <p:cNvSpPr/>
          <p:nvPr/>
        </p:nvSpPr>
        <p:spPr>
          <a:xfrm>
            <a:off x="4006440" y="3077280"/>
            <a:ext cx="847800" cy="76212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616" name="Freeform 7"/>
          <p:cNvSpPr/>
          <p:nvPr/>
        </p:nvSpPr>
        <p:spPr>
          <a:xfrm>
            <a:off x="4652640" y="3656880"/>
            <a:ext cx="1773000" cy="979200"/>
          </a:xfrm>
          <a:custGeom>
            <a:avLst/>
            <a:gdLst>
              <a:gd name="textAreaLeft" fmla="*/ 0 w 1773000"/>
              <a:gd name="textAreaRight" fmla="*/ 1773360 w 1773000"/>
              <a:gd name="textAreaTop" fmla="*/ 0 h 979200"/>
              <a:gd name="textAreaBottom" fmla="*/ 979560 h 979200"/>
              <a:gd name="GluePoint1X" fmla="*/ 2147483647 w 1117"/>
              <a:gd name="GluePoint1Y" fmla="*/ 2147483647 h 617"/>
              <a:gd name="GluePoint2X" fmla="*/ 2147483647 w 1117"/>
              <a:gd name="GluePoint2Y" fmla="*/ 2147483647 h 617"/>
              <a:gd name="GluePoint3X" fmla="*/ 2147483647 w 1117"/>
              <a:gd name="GluePoint3Y" fmla="*/ 2147483647 h 617"/>
              <a:gd name="GluePoint4X" fmla="*/ 2147483647 w 1117"/>
              <a:gd name="GluePoint4Y" fmla="*/ 2147483647 h 617"/>
              <a:gd name="GluePoint5X" fmla="*/ 2147483647 w 1117"/>
              <a:gd name="GluePoint5Y" fmla="*/ 2147483647 h 617"/>
              <a:gd name="GluePoint6X" fmla="*/ 2147483647 w 1117"/>
              <a:gd name="GluePoint6Y" fmla="*/ 2147483647 h 617"/>
              <a:gd name="GluePoint7X" fmla="*/ 2147483647 w 1117"/>
              <a:gd name="GluePoint7Y" fmla="*/ 2147483647 h 617"/>
              <a:gd name="GluePoint8X" fmla="*/ 2147483647 w 1117"/>
              <a:gd name="GluePoint8Y" fmla="*/ 2147483647 h 617"/>
              <a:gd name="GluePoint9X" fmla="*/ 2147483647 w 1117"/>
              <a:gd name="GluePoint9Y" fmla="*/ 2147483647 h 617"/>
              <a:gd name="GluePoint10X" fmla="*/ 2147483647 w 1117"/>
              <a:gd name="GluePoint10Y" fmla="*/ 2147483647 h 617"/>
              <a:gd name="GluePoint11X" fmla="*/ 2147483647 w 1117"/>
              <a:gd name="GluePoint11Y" fmla="*/ 2147483647 h 617"/>
              <a:gd name="GluePoint12X" fmla="*/ 2147483647 w 1117"/>
              <a:gd name="GluePoint12Y" fmla="*/ 2147483647 h 61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</a:cxnLst>
            <a:rect l="textAreaLeft" t="textAreaTop" r="textAreaRight" b="textAreaBottom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617" name="Text Box 8"/>
          <p:cNvSpPr/>
          <p:nvPr/>
        </p:nvSpPr>
        <p:spPr>
          <a:xfrm>
            <a:off x="6486480" y="3384000"/>
            <a:ext cx="167112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“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Send me anything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with addresses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beginning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200.23.16.0/20”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18" name="Group 9"/>
          <p:cNvGrpSpPr/>
          <p:nvPr/>
        </p:nvGrpSpPr>
        <p:grpSpPr>
          <a:xfrm>
            <a:off x="1838160" y="2850480"/>
            <a:ext cx="2338200" cy="404280"/>
            <a:chOff x="1838160" y="2850480"/>
            <a:chExt cx="2338200" cy="404280"/>
          </a:xfrm>
        </p:grpSpPr>
        <p:sp>
          <p:nvSpPr>
            <p:cNvPr id="619" name="Freeform 10"/>
            <p:cNvSpPr/>
            <p:nvPr/>
          </p:nvSpPr>
          <p:spPr>
            <a:xfrm>
              <a:off x="1838160" y="2850480"/>
              <a:ext cx="2338200" cy="404280"/>
            </a:xfrm>
            <a:custGeom>
              <a:avLst/>
              <a:gdLst>
                <a:gd name="textAreaLeft" fmla="*/ 0 w 2338200"/>
                <a:gd name="textAreaRight" fmla="*/ 2338560 w 2338200"/>
                <a:gd name="textAreaTop" fmla="*/ 0 h 404280"/>
                <a:gd name="textAreaBottom" fmla="*/ 404640 h 404280"/>
                <a:gd name="GluePoint1X" fmla="*/ 172 w 1473"/>
                <a:gd name="GluePoint1Y" fmla="*/ 11 h 255"/>
                <a:gd name="GluePoint2X" fmla="*/ 73 w 1473"/>
                <a:gd name="GluePoint2Y" fmla="*/ 94 h 255"/>
                <a:gd name="GluePoint3X" fmla="*/ 146 w 1473"/>
                <a:gd name="GluePoint3Y" fmla="*/ 220 h 255"/>
                <a:gd name="GluePoint4X" fmla="*/ 520 w 1473"/>
                <a:gd name="GluePoint4Y" fmla="*/ 225 h 255"/>
                <a:gd name="GluePoint5X" fmla="*/ 754 w 1473"/>
                <a:gd name="GluePoint5Y" fmla="*/ 251 h 255"/>
                <a:gd name="GluePoint6X" fmla="*/ 1306 w 1473"/>
                <a:gd name="GluePoint6Y" fmla="*/ 203 h 255"/>
                <a:gd name="GluePoint7X" fmla="*/ 1360 w 1473"/>
                <a:gd name="GluePoint7Y" fmla="*/ 29 h 255"/>
                <a:gd name="GluePoint8X" fmla="*/ 628 w 1473"/>
                <a:gd name="GluePoint8Y" fmla="*/ 29 h 255"/>
                <a:gd name="GluePoint9X" fmla="*/ 172 w 1473"/>
                <a:gd name="GluePoint9Y" fmla="*/ 11 h 2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620" name="Text Box 11"/>
            <p:cNvSpPr/>
            <p:nvPr/>
          </p:nvSpPr>
          <p:spPr>
            <a:xfrm>
              <a:off x="2190600" y="2890440"/>
              <a:ext cx="1539360" cy="33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200.23.16.0/23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1" name="Group 12"/>
          <p:cNvGrpSpPr/>
          <p:nvPr/>
        </p:nvGrpSpPr>
        <p:grpSpPr>
          <a:xfrm>
            <a:off x="1866600" y="3441240"/>
            <a:ext cx="2338200" cy="404280"/>
            <a:chOff x="1866600" y="3441240"/>
            <a:chExt cx="2338200" cy="404280"/>
          </a:xfrm>
        </p:grpSpPr>
        <p:sp>
          <p:nvSpPr>
            <p:cNvPr id="622" name="Freeform 13"/>
            <p:cNvSpPr/>
            <p:nvPr/>
          </p:nvSpPr>
          <p:spPr>
            <a:xfrm>
              <a:off x="1866600" y="3441240"/>
              <a:ext cx="2338200" cy="404280"/>
            </a:xfrm>
            <a:custGeom>
              <a:avLst/>
              <a:gdLst>
                <a:gd name="textAreaLeft" fmla="*/ 0 w 2338200"/>
                <a:gd name="textAreaRight" fmla="*/ 2338560 w 2338200"/>
                <a:gd name="textAreaTop" fmla="*/ 0 h 404280"/>
                <a:gd name="textAreaBottom" fmla="*/ 404640 h 404280"/>
                <a:gd name="GluePoint1X" fmla="*/ 172 w 1473"/>
                <a:gd name="GluePoint1Y" fmla="*/ 11 h 255"/>
                <a:gd name="GluePoint2X" fmla="*/ 73 w 1473"/>
                <a:gd name="GluePoint2Y" fmla="*/ 94 h 255"/>
                <a:gd name="GluePoint3X" fmla="*/ 146 w 1473"/>
                <a:gd name="GluePoint3Y" fmla="*/ 220 h 255"/>
                <a:gd name="GluePoint4X" fmla="*/ 520 w 1473"/>
                <a:gd name="GluePoint4Y" fmla="*/ 225 h 255"/>
                <a:gd name="GluePoint5X" fmla="*/ 754 w 1473"/>
                <a:gd name="GluePoint5Y" fmla="*/ 251 h 255"/>
                <a:gd name="GluePoint6X" fmla="*/ 1306 w 1473"/>
                <a:gd name="GluePoint6Y" fmla="*/ 203 h 255"/>
                <a:gd name="GluePoint7X" fmla="*/ 1360 w 1473"/>
                <a:gd name="GluePoint7Y" fmla="*/ 29 h 255"/>
                <a:gd name="GluePoint8X" fmla="*/ 628 w 1473"/>
                <a:gd name="GluePoint8Y" fmla="*/ 29 h 255"/>
                <a:gd name="GluePoint9X" fmla="*/ 172 w 1473"/>
                <a:gd name="GluePoint9Y" fmla="*/ 11 h 2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623" name="Text Box 14"/>
            <p:cNvSpPr/>
            <p:nvPr/>
          </p:nvSpPr>
          <p:spPr>
            <a:xfrm>
              <a:off x="2219040" y="3480840"/>
              <a:ext cx="1539360" cy="336240"/>
            </a:xfrm>
            <a:prstGeom prst="rect">
              <a:avLst/>
            </a:pr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200.23.18.0/23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4" name="Group 15"/>
          <p:cNvGrpSpPr/>
          <p:nvPr/>
        </p:nvGrpSpPr>
        <p:grpSpPr>
          <a:xfrm>
            <a:off x="1780920" y="4860360"/>
            <a:ext cx="2338200" cy="404280"/>
            <a:chOff x="1780920" y="4860360"/>
            <a:chExt cx="2338200" cy="404280"/>
          </a:xfrm>
        </p:grpSpPr>
        <p:sp>
          <p:nvSpPr>
            <p:cNvPr id="625" name="Freeform 16"/>
            <p:cNvSpPr/>
            <p:nvPr/>
          </p:nvSpPr>
          <p:spPr>
            <a:xfrm>
              <a:off x="1780920" y="4860360"/>
              <a:ext cx="2338200" cy="404280"/>
            </a:xfrm>
            <a:custGeom>
              <a:avLst/>
              <a:gdLst>
                <a:gd name="textAreaLeft" fmla="*/ 0 w 2338200"/>
                <a:gd name="textAreaRight" fmla="*/ 2338560 w 2338200"/>
                <a:gd name="textAreaTop" fmla="*/ 0 h 404280"/>
                <a:gd name="textAreaBottom" fmla="*/ 404640 h 404280"/>
                <a:gd name="GluePoint1X" fmla="*/ 172 w 1473"/>
                <a:gd name="GluePoint1Y" fmla="*/ 11 h 255"/>
                <a:gd name="GluePoint2X" fmla="*/ 73 w 1473"/>
                <a:gd name="GluePoint2Y" fmla="*/ 94 h 255"/>
                <a:gd name="GluePoint3X" fmla="*/ 146 w 1473"/>
                <a:gd name="GluePoint3Y" fmla="*/ 220 h 255"/>
                <a:gd name="GluePoint4X" fmla="*/ 520 w 1473"/>
                <a:gd name="GluePoint4Y" fmla="*/ 225 h 255"/>
                <a:gd name="GluePoint5X" fmla="*/ 754 w 1473"/>
                <a:gd name="GluePoint5Y" fmla="*/ 251 h 255"/>
                <a:gd name="GluePoint6X" fmla="*/ 1306 w 1473"/>
                <a:gd name="GluePoint6Y" fmla="*/ 203 h 255"/>
                <a:gd name="GluePoint7X" fmla="*/ 1360 w 1473"/>
                <a:gd name="GluePoint7Y" fmla="*/ 29 h 255"/>
                <a:gd name="GluePoint8X" fmla="*/ 628 w 1473"/>
                <a:gd name="GluePoint8Y" fmla="*/ 29 h 255"/>
                <a:gd name="GluePoint9X" fmla="*/ 172 w 1473"/>
                <a:gd name="GluePoint9Y" fmla="*/ 11 h 2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626" name="Text Box 17"/>
            <p:cNvSpPr/>
            <p:nvPr/>
          </p:nvSpPr>
          <p:spPr>
            <a:xfrm>
              <a:off x="2133360" y="4899960"/>
              <a:ext cx="1539360" cy="336240"/>
            </a:xfrm>
            <a:prstGeom prst="rect">
              <a:avLst/>
            </a:pr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200.23.30.0/23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7" name="Text Box 18"/>
          <p:cNvSpPr/>
          <p:nvPr/>
        </p:nvSpPr>
        <p:spPr>
          <a:xfrm>
            <a:off x="4686120" y="4088880"/>
            <a:ext cx="1506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Fly-By-Night-ISP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Freeform 19"/>
          <p:cNvSpPr/>
          <p:nvPr/>
        </p:nvSpPr>
        <p:spPr>
          <a:xfrm>
            <a:off x="8248320" y="3185640"/>
            <a:ext cx="1444320" cy="2714400"/>
          </a:xfrm>
          <a:custGeom>
            <a:avLst/>
            <a:gdLst>
              <a:gd name="textAreaLeft" fmla="*/ 0 w 1444320"/>
              <a:gd name="textAreaRight" fmla="*/ 1444680 w 1444320"/>
              <a:gd name="textAreaTop" fmla="*/ 0 h 2714400"/>
              <a:gd name="textAreaBottom" fmla="*/ 2714760 h 2714400"/>
              <a:gd name="GluePoint1X" fmla="*/ 2147483647 w 910"/>
              <a:gd name="GluePoint1Y" fmla="*/ 2147483647 h 1710"/>
              <a:gd name="GluePoint2X" fmla="*/ 2147483647 w 910"/>
              <a:gd name="GluePoint2Y" fmla="*/ 2147483647 h 1710"/>
              <a:gd name="GluePoint3X" fmla="*/ 2147483647 w 910"/>
              <a:gd name="GluePoint3Y" fmla="*/ 2147483647 h 1710"/>
              <a:gd name="GluePoint4X" fmla="*/ 2147483647 w 910"/>
              <a:gd name="GluePoint4Y" fmla="*/ 2147483647 h 1710"/>
              <a:gd name="GluePoint5X" fmla="*/ 2147483647 w 910"/>
              <a:gd name="GluePoint5Y" fmla="*/ 2147483647 h 1710"/>
              <a:gd name="GluePoint6X" fmla="*/ 2147483647 w 910"/>
              <a:gd name="GluePoint6Y" fmla="*/ 2147483647 h 1710"/>
              <a:gd name="GluePoint7X" fmla="*/ 2147483647 w 910"/>
              <a:gd name="GluePoint7Y" fmla="*/ 2147483647 h 1710"/>
              <a:gd name="GluePoint8X" fmla="*/ 2147483647 w 910"/>
              <a:gd name="GluePoint8Y" fmla="*/ 2147483647 h 1710"/>
              <a:gd name="GluePoint9X" fmla="*/ 2147483647 w 910"/>
              <a:gd name="GluePoint9Y" fmla="*/ 2147483647 h 1710"/>
              <a:gd name="GluePoint10X" fmla="*/ 2147483647 w 910"/>
              <a:gd name="GluePoint10Y" fmla="*/ 2147483647 h 1710"/>
              <a:gd name="GluePoint11X" fmla="*/ 2147483647 w 910"/>
              <a:gd name="GluePoint11Y" fmla="*/ 2147483647 h 1710"/>
              <a:gd name="GluePoint12X" fmla="*/ 2147483647 w 910"/>
              <a:gd name="GluePoint12Y" fmla="*/ 2147483647 h 17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</a:cxnLst>
            <a:rect l="textAreaLeft" t="textAreaTop" r="textAreaRight" b="textAreaBottom"/>
            <a:pathLst>
              <a:path w="910" h="1710">
                <a:moveTo>
                  <a:pt x="766" y="38"/>
                </a:moveTo>
                <a:cubicBezTo>
                  <a:pt x="714" y="0"/>
                  <a:pt x="520" y="186"/>
                  <a:pt x="411" y="282"/>
                </a:cubicBezTo>
                <a:cubicBezTo>
                  <a:pt x="302" y="378"/>
                  <a:pt x="180" y="490"/>
                  <a:pt x="115" y="611"/>
                </a:cubicBezTo>
                <a:cubicBezTo>
                  <a:pt x="49" y="732"/>
                  <a:pt x="0" y="907"/>
                  <a:pt x="14" y="1008"/>
                </a:cubicBezTo>
                <a:cubicBezTo>
                  <a:pt x="28" y="1108"/>
                  <a:pt x="127" y="1139"/>
                  <a:pt x="198" y="1214"/>
                </a:cubicBezTo>
                <a:cubicBezTo>
                  <a:pt x="269" y="1288"/>
                  <a:pt x="328" y="1380"/>
                  <a:pt x="435" y="1456"/>
                </a:cubicBezTo>
                <a:cubicBezTo>
                  <a:pt x="542" y="1533"/>
                  <a:pt x="768" y="1710"/>
                  <a:pt x="839" y="1674"/>
                </a:cubicBezTo>
                <a:cubicBezTo>
                  <a:pt x="910" y="1638"/>
                  <a:pt x="863" y="1328"/>
                  <a:pt x="863" y="1239"/>
                </a:cubicBezTo>
                <a:cubicBezTo>
                  <a:pt x="863" y="1150"/>
                  <a:pt x="868" y="1189"/>
                  <a:pt x="839" y="1139"/>
                </a:cubicBezTo>
                <a:cubicBezTo>
                  <a:pt x="809" y="1090"/>
                  <a:pt x="703" y="1045"/>
                  <a:pt x="684" y="940"/>
                </a:cubicBezTo>
                <a:cubicBezTo>
                  <a:pt x="665" y="835"/>
                  <a:pt x="710" y="659"/>
                  <a:pt x="724" y="509"/>
                </a:cubicBezTo>
                <a:cubicBezTo>
                  <a:pt x="738" y="359"/>
                  <a:pt x="818" y="76"/>
                  <a:pt x="766" y="38"/>
                </a:cubicBezTo>
                <a:close/>
              </a:path>
            </a:pathLst>
          </a:custGeom>
          <a:gradFill rotWithShape="0">
            <a:gsLst>
              <a:gs pos="0">
                <a:srgbClr val="66ccff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629" name="Text Box 20"/>
          <p:cNvSpPr/>
          <p:nvPr/>
        </p:nvSpPr>
        <p:spPr>
          <a:xfrm>
            <a:off x="1838160" y="2593440"/>
            <a:ext cx="1336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Organization 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Box 21"/>
          <p:cNvSpPr/>
          <p:nvPr/>
        </p:nvSpPr>
        <p:spPr>
          <a:xfrm>
            <a:off x="1866600" y="4603320"/>
            <a:ext cx="1336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Organization 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Box 22"/>
          <p:cNvSpPr/>
          <p:nvPr/>
        </p:nvSpPr>
        <p:spPr>
          <a:xfrm>
            <a:off x="8486640" y="4412880"/>
            <a:ext cx="7837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Internet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Box 23"/>
          <p:cNvSpPr/>
          <p:nvPr/>
        </p:nvSpPr>
        <p:spPr>
          <a:xfrm>
            <a:off x="1847520" y="3241080"/>
            <a:ext cx="1336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Organization 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Freeform 24"/>
          <p:cNvSpPr/>
          <p:nvPr/>
        </p:nvSpPr>
        <p:spPr>
          <a:xfrm>
            <a:off x="4595760" y="4971600"/>
            <a:ext cx="1773000" cy="979200"/>
          </a:xfrm>
          <a:custGeom>
            <a:avLst/>
            <a:gdLst>
              <a:gd name="textAreaLeft" fmla="*/ 0 w 1773000"/>
              <a:gd name="textAreaRight" fmla="*/ 1773360 w 1773000"/>
              <a:gd name="textAreaTop" fmla="*/ 0 h 979200"/>
              <a:gd name="textAreaBottom" fmla="*/ 979560 h 979200"/>
              <a:gd name="GluePoint1X" fmla="*/ 2147483647 w 1117"/>
              <a:gd name="GluePoint1Y" fmla="*/ 2147483647 h 617"/>
              <a:gd name="GluePoint2X" fmla="*/ 2147483647 w 1117"/>
              <a:gd name="GluePoint2Y" fmla="*/ 2147483647 h 617"/>
              <a:gd name="GluePoint3X" fmla="*/ 2147483647 w 1117"/>
              <a:gd name="GluePoint3Y" fmla="*/ 2147483647 h 617"/>
              <a:gd name="GluePoint4X" fmla="*/ 2147483647 w 1117"/>
              <a:gd name="GluePoint4Y" fmla="*/ 2147483647 h 617"/>
              <a:gd name="GluePoint5X" fmla="*/ 2147483647 w 1117"/>
              <a:gd name="GluePoint5Y" fmla="*/ 2147483647 h 617"/>
              <a:gd name="GluePoint6X" fmla="*/ 2147483647 w 1117"/>
              <a:gd name="GluePoint6Y" fmla="*/ 2147483647 h 617"/>
              <a:gd name="GluePoint7X" fmla="*/ 2147483647 w 1117"/>
              <a:gd name="GluePoint7Y" fmla="*/ 2147483647 h 617"/>
              <a:gd name="GluePoint8X" fmla="*/ 2147483647 w 1117"/>
              <a:gd name="GluePoint8Y" fmla="*/ 2147483647 h 617"/>
              <a:gd name="GluePoint9X" fmla="*/ 2147483647 w 1117"/>
              <a:gd name="GluePoint9Y" fmla="*/ 2147483647 h 617"/>
              <a:gd name="GluePoint10X" fmla="*/ 2147483647 w 1117"/>
              <a:gd name="GluePoint10Y" fmla="*/ 2147483647 h 617"/>
              <a:gd name="GluePoint11X" fmla="*/ 2147483647 w 1117"/>
              <a:gd name="GluePoint11Y" fmla="*/ 2147483647 h 617"/>
              <a:gd name="GluePoint12X" fmla="*/ 2147483647 w 1117"/>
              <a:gd name="GluePoint12Y" fmla="*/ 2147483647 h 61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</a:cxnLst>
            <a:rect l="textAreaLeft" t="textAreaTop" r="textAreaRight" b="textAreaBottom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634" name="Text Box 25"/>
          <p:cNvSpPr/>
          <p:nvPr/>
        </p:nvSpPr>
        <p:spPr>
          <a:xfrm>
            <a:off x="4895640" y="5346000"/>
            <a:ext cx="1023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ISPs-R-Us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Freeform 26"/>
          <p:cNvSpPr/>
          <p:nvPr/>
        </p:nvSpPr>
        <p:spPr>
          <a:xfrm flipV="1">
            <a:off x="6321240" y="4991400"/>
            <a:ext cx="2018880" cy="294840"/>
          </a:xfrm>
          <a:custGeom>
            <a:avLst/>
            <a:gdLst>
              <a:gd name="textAreaLeft" fmla="*/ 0 w 2018880"/>
              <a:gd name="textAreaRight" fmla="*/ 2019240 w 2018880"/>
              <a:gd name="textAreaTop" fmla="*/ -360 h 294840"/>
              <a:gd name="textAreaBottom" fmla="*/ 294840 h 294840"/>
              <a:gd name="GluePoint1X" fmla="*/ 0 w 1272"/>
              <a:gd name="GluePoint1Y" fmla="*/ 0 h 186"/>
              <a:gd name="GluePoint2X" fmla="*/ 2147483647 w 1272"/>
              <a:gd name="GluePoint2Y" fmla="*/ 2147483647 h 1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636" name="Line 27"/>
          <p:cNvSpPr/>
          <p:nvPr/>
        </p:nvSpPr>
        <p:spPr>
          <a:xfrm>
            <a:off x="4111200" y="5535000"/>
            <a:ext cx="48564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637" name="Line 28"/>
          <p:cNvSpPr/>
          <p:nvPr/>
        </p:nvSpPr>
        <p:spPr>
          <a:xfrm flipV="1">
            <a:off x="3958920" y="5601600"/>
            <a:ext cx="637920" cy="171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638" name="Line 29"/>
          <p:cNvSpPr/>
          <p:nvPr/>
        </p:nvSpPr>
        <p:spPr>
          <a:xfrm flipV="1">
            <a:off x="4397040" y="5849280"/>
            <a:ext cx="247680" cy="40968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639" name="Text Box 30"/>
          <p:cNvSpPr/>
          <p:nvPr/>
        </p:nvSpPr>
        <p:spPr>
          <a:xfrm>
            <a:off x="6610320" y="5241240"/>
            <a:ext cx="167112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“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Send me anything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with addresses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beginning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199.31.0.0/16”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0" name="Group 31"/>
          <p:cNvGrpSpPr/>
          <p:nvPr/>
        </p:nvGrpSpPr>
        <p:grpSpPr>
          <a:xfrm>
            <a:off x="1885680" y="4031640"/>
            <a:ext cx="2338200" cy="404280"/>
            <a:chOff x="1885680" y="4031640"/>
            <a:chExt cx="2338200" cy="404280"/>
          </a:xfrm>
        </p:grpSpPr>
        <p:sp>
          <p:nvSpPr>
            <p:cNvPr id="641" name="Freeform 32"/>
            <p:cNvSpPr/>
            <p:nvPr/>
          </p:nvSpPr>
          <p:spPr>
            <a:xfrm>
              <a:off x="1885680" y="4031640"/>
              <a:ext cx="2338200" cy="404280"/>
            </a:xfrm>
            <a:custGeom>
              <a:avLst/>
              <a:gdLst>
                <a:gd name="textAreaLeft" fmla="*/ 0 w 2338200"/>
                <a:gd name="textAreaRight" fmla="*/ 2338560 w 2338200"/>
                <a:gd name="textAreaTop" fmla="*/ 0 h 404280"/>
                <a:gd name="textAreaBottom" fmla="*/ 404640 h 404280"/>
                <a:gd name="GluePoint1X" fmla="*/ 172 w 1473"/>
                <a:gd name="GluePoint1Y" fmla="*/ 11 h 255"/>
                <a:gd name="GluePoint2X" fmla="*/ 73 w 1473"/>
                <a:gd name="GluePoint2Y" fmla="*/ 94 h 255"/>
                <a:gd name="GluePoint3X" fmla="*/ 146 w 1473"/>
                <a:gd name="GluePoint3Y" fmla="*/ 220 h 255"/>
                <a:gd name="GluePoint4X" fmla="*/ 520 w 1473"/>
                <a:gd name="GluePoint4Y" fmla="*/ 225 h 255"/>
                <a:gd name="GluePoint5X" fmla="*/ 754 w 1473"/>
                <a:gd name="GluePoint5Y" fmla="*/ 251 h 255"/>
                <a:gd name="GluePoint6X" fmla="*/ 1306 w 1473"/>
                <a:gd name="GluePoint6Y" fmla="*/ 203 h 255"/>
                <a:gd name="GluePoint7X" fmla="*/ 1360 w 1473"/>
                <a:gd name="GluePoint7Y" fmla="*/ 29 h 255"/>
                <a:gd name="GluePoint8X" fmla="*/ 628 w 1473"/>
                <a:gd name="GluePoint8Y" fmla="*/ 29 h 255"/>
                <a:gd name="GluePoint9X" fmla="*/ 172 w 1473"/>
                <a:gd name="GluePoint9Y" fmla="*/ 11 h 2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642" name="Text Box 33"/>
            <p:cNvSpPr/>
            <p:nvPr/>
          </p:nvSpPr>
          <p:spPr>
            <a:xfrm>
              <a:off x="2238120" y="4071240"/>
              <a:ext cx="1539360" cy="336240"/>
            </a:xfrm>
            <a:prstGeom prst="rect">
              <a:avLst/>
            </a:pr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200.23.20.0/23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3" name="Text Box 34"/>
          <p:cNvSpPr/>
          <p:nvPr/>
        </p:nvSpPr>
        <p:spPr>
          <a:xfrm>
            <a:off x="1866600" y="3831840"/>
            <a:ext cx="1336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Organization 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4" name="Group 35"/>
          <p:cNvGrpSpPr/>
          <p:nvPr/>
        </p:nvGrpSpPr>
        <p:grpSpPr>
          <a:xfrm>
            <a:off x="3234960" y="4289040"/>
            <a:ext cx="257040" cy="662760"/>
            <a:chOff x="3234960" y="4289040"/>
            <a:chExt cx="257040" cy="662760"/>
          </a:xfrm>
        </p:grpSpPr>
        <p:sp>
          <p:nvSpPr>
            <p:cNvPr id="645" name="Text Box 36"/>
            <p:cNvSpPr/>
            <p:nvPr/>
          </p:nvSpPr>
          <p:spPr>
            <a:xfrm>
              <a:off x="3238200" y="4289040"/>
              <a:ext cx="253800" cy="39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.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6" name="Text Box 37"/>
            <p:cNvSpPr/>
            <p:nvPr/>
          </p:nvSpPr>
          <p:spPr>
            <a:xfrm>
              <a:off x="3234960" y="4423680"/>
              <a:ext cx="253800" cy="39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.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7" name="Text Box 38"/>
            <p:cNvSpPr/>
            <p:nvPr/>
          </p:nvSpPr>
          <p:spPr>
            <a:xfrm>
              <a:off x="3236760" y="4555440"/>
              <a:ext cx="253800" cy="39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.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48" name="Group 39"/>
          <p:cNvGrpSpPr/>
          <p:nvPr/>
        </p:nvGrpSpPr>
        <p:grpSpPr>
          <a:xfrm>
            <a:off x="4263840" y="3993480"/>
            <a:ext cx="257040" cy="663120"/>
            <a:chOff x="4263840" y="3993480"/>
            <a:chExt cx="257040" cy="663120"/>
          </a:xfrm>
        </p:grpSpPr>
        <p:sp>
          <p:nvSpPr>
            <p:cNvPr id="649" name="Text Box 40"/>
            <p:cNvSpPr/>
            <p:nvPr/>
          </p:nvSpPr>
          <p:spPr>
            <a:xfrm>
              <a:off x="4267080" y="3993480"/>
              <a:ext cx="253800" cy="39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.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0" name="Text Box 41"/>
            <p:cNvSpPr/>
            <p:nvPr/>
          </p:nvSpPr>
          <p:spPr>
            <a:xfrm>
              <a:off x="4263840" y="4128480"/>
              <a:ext cx="253800" cy="39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.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1" name="Text Box 42"/>
            <p:cNvSpPr/>
            <p:nvPr/>
          </p:nvSpPr>
          <p:spPr>
            <a:xfrm>
              <a:off x="4265280" y="4260240"/>
              <a:ext cx="253800" cy="39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.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2" name="Text Box 43"/>
          <p:cNvSpPr/>
          <p:nvPr/>
        </p:nvSpPr>
        <p:spPr>
          <a:xfrm>
            <a:off x="794520" y="1297440"/>
            <a:ext cx="10717560" cy="97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hierarchical addressing allows efficient advertisement of routing  information: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PlaceHolder 2"/>
          <p:cNvSpPr>
            <a:spLocks noGrp="1"/>
          </p:cNvSpPr>
          <p:nvPr>
            <p:ph type="sldNum" idx="52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4-</a:t>
            </a:r>
            <a:fld id="{5520E3FC-CA5F-4FA6-8FF7-B98087302DC5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16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SUBNET ADDRESSING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5" name="PlaceHolder 2"/>
          <p:cNvSpPr>
            <a:spLocks noGrp="1"/>
          </p:cNvSpPr>
          <p:nvPr>
            <p:ph type="sldNum" idx="53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93F0E727-1533-4E87-9D38-5E97866C3DBD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17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Rectangle 3"/>
          <p:cNvSpPr/>
          <p:nvPr/>
        </p:nvSpPr>
        <p:spPr>
          <a:xfrm>
            <a:off x="7055280" y="1465560"/>
            <a:ext cx="5136480" cy="427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2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Assign subnet addresses to each of the subnets (A, B, C) so that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amount of address space assigned is minimal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 and at the same time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leaving the largest possible contiguous address space available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for assignment if a new subnet were to be added.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7" name="Picture 4" descr=""/>
          <p:cNvPicPr/>
          <p:nvPr/>
        </p:nvPicPr>
        <p:blipFill>
          <a:blip r:embed="rId1"/>
          <a:stretch/>
        </p:blipFill>
        <p:spPr>
          <a:xfrm>
            <a:off x="392400" y="1826280"/>
            <a:ext cx="6524280" cy="400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316" dur="indefinite" restart="never" nodeType="tmRoot">
          <p:childTnLst>
            <p:seq>
              <p:cTn id="317" dur="indefinite" nodeType="mainSeq">
                <p:childTnLst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2" dur="500"/>
                                        <p:tgtEl>
                                          <p:spTgt spid="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SUBNET ADDRESSING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9" name="PlaceHolder 2"/>
          <p:cNvSpPr>
            <a:spLocks noGrp="1"/>
          </p:cNvSpPr>
          <p:nvPr>
            <p:ph type="sldNum" idx="54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0001AA7F-80E3-4E59-848F-7EE81CF06877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18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Rectangle 3"/>
          <p:cNvSpPr/>
          <p:nvPr/>
        </p:nvSpPr>
        <p:spPr>
          <a:xfrm>
            <a:off x="6812280" y="1465560"/>
            <a:ext cx="5379480" cy="427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2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How many hosts can there be in this address space?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1" name="Picture 4" descr=""/>
          <p:cNvPicPr/>
          <p:nvPr/>
        </p:nvPicPr>
        <p:blipFill>
          <a:blip r:embed="rId1"/>
          <a:stretch/>
        </p:blipFill>
        <p:spPr>
          <a:xfrm>
            <a:off x="392400" y="1826280"/>
            <a:ext cx="6524280" cy="400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323" dur="indefinite" restart="never" nodeType="tmRoot">
          <p:childTnLst>
            <p:seq>
              <p:cTn id="324" dur="indefinite" nodeType="mainSeq">
                <p:childTnLst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9" dur="500"/>
                                        <p:tgtEl>
                                          <p:spTgt spid="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SUBNET ADDRESSING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3" name="PlaceHolder 2"/>
          <p:cNvSpPr>
            <a:spLocks noGrp="1"/>
          </p:cNvSpPr>
          <p:nvPr>
            <p:ph type="sldNum" idx="55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6B6BB781-E419-464B-89C5-05D80E3CDEAC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19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Rectangle 3"/>
          <p:cNvSpPr/>
          <p:nvPr/>
        </p:nvSpPr>
        <p:spPr>
          <a:xfrm>
            <a:off x="6812280" y="1465560"/>
            <a:ext cx="5379480" cy="427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2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What is the subnet address of subnet A? (CIDR notation)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5" name="Picture 4" descr=""/>
          <p:cNvPicPr/>
          <p:nvPr/>
        </p:nvPicPr>
        <p:blipFill>
          <a:blip r:embed="rId1"/>
          <a:stretch/>
        </p:blipFill>
        <p:spPr>
          <a:xfrm>
            <a:off x="392400" y="1826280"/>
            <a:ext cx="6524280" cy="400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330" dur="indefinite" restart="never" nodeType="tmRoot">
          <p:childTnLst>
            <p:seq>
              <p:cTn id="331" dur="indefinite" nodeType="mainSeq">
                <p:childTnLst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6" dur="500"/>
                                        <p:tgtEl>
                                          <p:spTgt spid="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SUBNET ADDRESSING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7" name="PlaceHolder 2"/>
          <p:cNvSpPr>
            <a:spLocks noGrp="1"/>
          </p:cNvSpPr>
          <p:nvPr>
            <p:ph type="sldNum" idx="56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BFE850FD-C158-4A8E-B96C-9834B127CF40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20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Rectangle 3"/>
          <p:cNvSpPr/>
          <p:nvPr/>
        </p:nvSpPr>
        <p:spPr>
          <a:xfrm>
            <a:off x="6812280" y="1465560"/>
            <a:ext cx="5379480" cy="427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2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What is the broadcast address of subnet A?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9" name="Picture 4" descr=""/>
          <p:cNvPicPr/>
          <p:nvPr/>
        </p:nvPicPr>
        <p:blipFill>
          <a:blip r:embed="rId1"/>
          <a:stretch/>
        </p:blipFill>
        <p:spPr>
          <a:xfrm>
            <a:off x="392400" y="1826280"/>
            <a:ext cx="6524280" cy="400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SUBNET ADDRESSING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1" name="PlaceHolder 2"/>
          <p:cNvSpPr>
            <a:spLocks noGrp="1"/>
          </p:cNvSpPr>
          <p:nvPr>
            <p:ph type="sldNum" idx="57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D77B3921-FBBF-49FA-9177-0AF938CD2737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21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Rectangle 3"/>
          <p:cNvSpPr/>
          <p:nvPr/>
        </p:nvSpPr>
        <p:spPr>
          <a:xfrm>
            <a:off x="6812280" y="1465560"/>
            <a:ext cx="5379480" cy="427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2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What is the starting address of subnet A?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3" name="Picture 4" descr=""/>
          <p:cNvPicPr/>
          <p:nvPr/>
        </p:nvPicPr>
        <p:blipFill>
          <a:blip r:embed="rId1"/>
          <a:stretch/>
        </p:blipFill>
        <p:spPr>
          <a:xfrm>
            <a:off x="392400" y="1826280"/>
            <a:ext cx="6524280" cy="400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SUBNET ADDRESSING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5" name="PlaceHolder 2"/>
          <p:cNvSpPr>
            <a:spLocks noGrp="1"/>
          </p:cNvSpPr>
          <p:nvPr>
            <p:ph type="sldNum" idx="58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AD26573F-0345-4E2E-A301-3AB68AC2EC69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22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Rectangle 3"/>
          <p:cNvSpPr/>
          <p:nvPr/>
        </p:nvSpPr>
        <p:spPr>
          <a:xfrm>
            <a:off x="6812280" y="1465560"/>
            <a:ext cx="5379480" cy="427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2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What is the ending address of subnet A?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7" name="Picture 4" descr=""/>
          <p:cNvPicPr/>
          <p:nvPr/>
        </p:nvPicPr>
        <p:blipFill>
          <a:blip r:embed="rId1"/>
          <a:stretch/>
        </p:blipFill>
        <p:spPr>
          <a:xfrm>
            <a:off x="392400" y="1826280"/>
            <a:ext cx="6524280" cy="400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Rectangle 3"/>
          <p:cNvSpPr/>
          <p:nvPr/>
        </p:nvSpPr>
        <p:spPr>
          <a:xfrm>
            <a:off x="604440" y="1436040"/>
            <a:ext cx="11097000" cy="518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471600" indent="-34128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initial motivation: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32-bit IPv4 address space would be completely allocated 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1600" indent="-34128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additional motivation: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speed processing/forwarding: 40-byte fixed length header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enable different network-layer treatment of “flows”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PlaceHolder 1"/>
          <p:cNvSpPr>
            <a:spLocks noGrp="1"/>
          </p:cNvSpPr>
          <p:nvPr>
            <p:ph type="title"/>
          </p:nvPr>
        </p:nvSpPr>
        <p:spPr>
          <a:xfrm>
            <a:off x="703440" y="281160"/>
            <a:ext cx="10515240" cy="106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8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IPv6: motivation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0" name="PlaceHolder 2"/>
          <p:cNvSpPr>
            <a:spLocks noGrp="1"/>
          </p:cNvSpPr>
          <p:nvPr>
            <p:ph type="sldNum" idx="59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4-</a:t>
            </a:r>
            <a:fld id="{D9F2CE1A-11AE-4BA7-8589-17F76547EA9D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23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7" dur="indefinite" restart="never" nodeType="tmRoot">
          <p:childTnLst>
            <p:seq>
              <p:cTn id="338" dur="indefinite" nodeType="mainSeq">
                <p:childTnLst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43" dur="500"/>
                                        <p:tgtEl>
                                          <p:spTgt spid="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48" dur="500"/>
                                        <p:tgtEl>
                                          <p:spTgt spid="6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51" dur="500"/>
                                        <p:tgtEl>
                                          <p:spTgt spid="6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56" dur="500"/>
                                        <p:tgtEl>
                                          <p:spTgt spid="6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/>
          </p:cNvSpPr>
          <p:nvPr>
            <p:ph type="title"/>
          </p:nvPr>
        </p:nvSpPr>
        <p:spPr>
          <a:xfrm>
            <a:off x="703440" y="281160"/>
            <a:ext cx="10515240" cy="106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8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IPv6 datagram format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2" name="Rectangle 56"/>
          <p:cNvSpPr/>
          <p:nvPr/>
        </p:nvSpPr>
        <p:spPr>
          <a:xfrm>
            <a:off x="3731760" y="2152080"/>
            <a:ext cx="4747680" cy="281736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  <a:miter/>
          </a:ln>
          <a:effectLst>
            <a:outerShdw algn="bl" blurRad="50760" dir="18900000" dist="37674" rotWithShape="0">
              <a:srgbClr val="0000a3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683" name="Line 60"/>
          <p:cNvSpPr/>
          <p:nvPr/>
        </p:nvSpPr>
        <p:spPr>
          <a:xfrm>
            <a:off x="3733200" y="2461680"/>
            <a:ext cx="472752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84" name="Line 61"/>
          <p:cNvSpPr/>
          <p:nvPr/>
        </p:nvSpPr>
        <p:spPr>
          <a:xfrm>
            <a:off x="4384080" y="2161440"/>
            <a:ext cx="360" cy="2937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85" name="Line 63"/>
          <p:cNvSpPr/>
          <p:nvPr/>
        </p:nvSpPr>
        <p:spPr>
          <a:xfrm>
            <a:off x="5073120" y="2158200"/>
            <a:ext cx="360" cy="2937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86" name="Line 64"/>
          <p:cNvSpPr/>
          <p:nvPr/>
        </p:nvSpPr>
        <p:spPr>
          <a:xfrm>
            <a:off x="6000120" y="2456640"/>
            <a:ext cx="360" cy="2937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87" name="Line 65"/>
          <p:cNvSpPr/>
          <p:nvPr/>
        </p:nvSpPr>
        <p:spPr>
          <a:xfrm>
            <a:off x="7146360" y="2459880"/>
            <a:ext cx="360" cy="2937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88" name="Line 66"/>
          <p:cNvSpPr/>
          <p:nvPr/>
        </p:nvSpPr>
        <p:spPr>
          <a:xfrm>
            <a:off x="3720600" y="3982320"/>
            <a:ext cx="476100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89" name="Line 67"/>
          <p:cNvSpPr/>
          <p:nvPr/>
        </p:nvSpPr>
        <p:spPr>
          <a:xfrm>
            <a:off x="3737880" y="3342600"/>
            <a:ext cx="476100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90" name="Line 68"/>
          <p:cNvSpPr/>
          <p:nvPr/>
        </p:nvSpPr>
        <p:spPr>
          <a:xfrm>
            <a:off x="3723840" y="2760120"/>
            <a:ext cx="476064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91" name="Text Box 69"/>
          <p:cNvSpPr/>
          <p:nvPr/>
        </p:nvSpPr>
        <p:spPr>
          <a:xfrm>
            <a:off x="5234400" y="4260960"/>
            <a:ext cx="1723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payload (data)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Box 70"/>
          <p:cNvSpPr/>
          <p:nvPr/>
        </p:nvSpPr>
        <p:spPr>
          <a:xfrm>
            <a:off x="4968360" y="3385800"/>
            <a:ext cx="216504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85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destination address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85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(128 bits)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Box 71"/>
          <p:cNvSpPr/>
          <p:nvPr/>
        </p:nvSpPr>
        <p:spPr>
          <a:xfrm>
            <a:off x="5133600" y="2779200"/>
            <a:ext cx="17460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85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source address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85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(128 bits)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Box 72"/>
          <p:cNvSpPr/>
          <p:nvPr/>
        </p:nvSpPr>
        <p:spPr>
          <a:xfrm>
            <a:off x="4217400" y="2426760"/>
            <a:ext cx="13521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payload len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Box 73"/>
          <p:cNvSpPr/>
          <p:nvPr/>
        </p:nvSpPr>
        <p:spPr>
          <a:xfrm>
            <a:off x="5998680" y="2434680"/>
            <a:ext cx="10094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next hdr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Box 74"/>
          <p:cNvSpPr/>
          <p:nvPr/>
        </p:nvSpPr>
        <p:spPr>
          <a:xfrm>
            <a:off x="7254360" y="2420280"/>
            <a:ext cx="10346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hop limit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Box 75"/>
          <p:cNvSpPr/>
          <p:nvPr/>
        </p:nvSpPr>
        <p:spPr>
          <a:xfrm>
            <a:off x="6124320" y="2126880"/>
            <a:ext cx="11361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flow label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Box 76"/>
          <p:cNvSpPr/>
          <p:nvPr/>
        </p:nvSpPr>
        <p:spPr>
          <a:xfrm>
            <a:off x="4503240" y="2112480"/>
            <a:ext cx="4377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pri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Box 77"/>
          <p:cNvSpPr/>
          <p:nvPr/>
        </p:nvSpPr>
        <p:spPr>
          <a:xfrm>
            <a:off x="3796920" y="2120400"/>
            <a:ext cx="50112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ver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Line 79"/>
          <p:cNvSpPr/>
          <p:nvPr/>
        </p:nvSpPr>
        <p:spPr>
          <a:xfrm>
            <a:off x="3696120" y="1921320"/>
            <a:ext cx="4816440" cy="360"/>
          </a:xfrm>
          <a:prstGeom prst="line">
            <a:avLst/>
          </a:prstGeom>
          <a:ln w="9525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 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Box 78"/>
          <p:cNvSpPr/>
          <p:nvPr/>
        </p:nvSpPr>
        <p:spPr>
          <a:xfrm>
            <a:off x="5555160" y="1731240"/>
            <a:ext cx="864000" cy="3690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32 bits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02" name="Group 37"/>
          <p:cNvGrpSpPr/>
          <p:nvPr/>
        </p:nvGrpSpPr>
        <p:grpSpPr>
          <a:xfrm>
            <a:off x="159120" y="1902600"/>
            <a:ext cx="4399560" cy="1089000"/>
            <a:chOff x="159120" y="1902600"/>
            <a:chExt cx="4399560" cy="1089000"/>
          </a:xfrm>
        </p:grpSpPr>
        <p:sp>
          <p:nvSpPr>
            <p:cNvPr id="703" name="Rectangle 4"/>
            <p:cNvSpPr/>
            <p:nvPr/>
          </p:nvSpPr>
          <p:spPr>
            <a:xfrm>
              <a:off x="159120" y="1902600"/>
              <a:ext cx="3071880" cy="10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9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rgbClr val="c00000"/>
                  </a:solidFill>
                  <a:effectLst/>
                  <a:uFillTx/>
                  <a:latin typeface="Calibri"/>
                  <a:ea typeface="ＭＳ Ｐゴシック"/>
                </a:rPr>
                <a:t>priority:  </a:t>
              </a: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identify priority among datagrams in flow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04" name="Straight Connector 31"/>
            <p:cNvCxnSpPr/>
            <p:nvPr/>
          </p:nvCxnSpPr>
          <p:spPr>
            <a:xfrm>
              <a:off x="3299760" y="2398320"/>
              <a:ext cx="1259280" cy="360"/>
            </a:xfrm>
            <a:prstGeom prst="straightConnector1">
              <a:avLst/>
            </a:prstGeom>
            <a:ln w="19050">
              <a:solidFill>
                <a:srgbClr val="c00000"/>
              </a:solidFill>
            </a:ln>
          </p:spPr>
        </p:cxnSp>
      </p:grpSp>
      <p:grpSp>
        <p:nvGrpSpPr>
          <p:cNvPr id="705" name="Group 40"/>
          <p:cNvGrpSpPr/>
          <p:nvPr/>
        </p:nvGrpSpPr>
        <p:grpSpPr>
          <a:xfrm>
            <a:off x="7480800" y="1427040"/>
            <a:ext cx="4498920" cy="1421640"/>
            <a:chOff x="7480800" y="1427040"/>
            <a:chExt cx="4498920" cy="1421640"/>
          </a:xfrm>
        </p:grpSpPr>
        <p:sp>
          <p:nvSpPr>
            <p:cNvPr id="706" name="Rectangle 4"/>
            <p:cNvSpPr/>
            <p:nvPr/>
          </p:nvSpPr>
          <p:spPr>
            <a:xfrm>
              <a:off x="8742240" y="1427040"/>
              <a:ext cx="3237480" cy="1421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9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rgbClr val="c00000"/>
                  </a:solidFill>
                  <a:effectLst/>
                  <a:uFillTx/>
                  <a:latin typeface="Calibri"/>
                  <a:ea typeface="ＭＳ Ｐゴシック"/>
                </a:rPr>
                <a:t>flow label: </a:t>
              </a: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identify datagrams in same "flow.” (concept of “flow” not well defined).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07" name="Straight Connector 33"/>
            <p:cNvCxnSpPr/>
            <p:nvPr/>
          </p:nvCxnSpPr>
          <p:spPr>
            <a:xfrm>
              <a:off x="7480800" y="2325600"/>
              <a:ext cx="1259280" cy="360"/>
            </a:xfrm>
            <a:prstGeom prst="straightConnector1">
              <a:avLst/>
            </a:prstGeom>
            <a:ln w="19050">
              <a:solidFill>
                <a:srgbClr val="c00000"/>
              </a:solidFill>
            </a:ln>
          </p:spPr>
        </p:cxnSp>
      </p:grpSp>
      <p:grpSp>
        <p:nvGrpSpPr>
          <p:cNvPr id="708" name="Group 39"/>
          <p:cNvGrpSpPr/>
          <p:nvPr/>
        </p:nvGrpSpPr>
        <p:grpSpPr>
          <a:xfrm>
            <a:off x="0" y="2970720"/>
            <a:ext cx="4028400" cy="756720"/>
            <a:chOff x="0" y="2970720"/>
            <a:chExt cx="4028400" cy="756720"/>
          </a:xfrm>
        </p:grpSpPr>
        <p:sp>
          <p:nvSpPr>
            <p:cNvPr id="709" name="Rectangle 4"/>
            <p:cNvSpPr/>
            <p:nvPr/>
          </p:nvSpPr>
          <p:spPr>
            <a:xfrm>
              <a:off x="0" y="2970720"/>
              <a:ext cx="3237480" cy="75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9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rgbClr val="c00000"/>
                  </a:solidFill>
                  <a:effectLst/>
                  <a:uFillTx/>
                  <a:latin typeface="Calibri"/>
                  <a:ea typeface="ＭＳ Ｐゴシック"/>
                </a:rPr>
                <a:t>128-bit 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r" defTabSz="914400">
                <a:lnSpc>
                  <a:spcPct val="9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IPv6 addresses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10" name="Straight Connector 36"/>
            <p:cNvCxnSpPr/>
            <p:nvPr/>
          </p:nvCxnSpPr>
          <p:spPr>
            <a:xfrm>
              <a:off x="3124080" y="3380040"/>
              <a:ext cx="904680" cy="304200"/>
            </a:xfrm>
            <a:prstGeom prst="straightConnector1">
              <a:avLst/>
            </a:prstGeom>
            <a:ln w="19050">
              <a:solidFill>
                <a:srgbClr val="c00000"/>
              </a:solidFill>
            </a:ln>
          </p:spPr>
        </p:cxnSp>
        <p:cxnSp>
          <p:nvCxnSpPr>
            <p:cNvPr id="711" name="Straight Connector 38"/>
            <p:cNvCxnSpPr/>
            <p:nvPr/>
          </p:nvCxnSpPr>
          <p:spPr>
            <a:xfrm flipV="1">
              <a:off x="3124080" y="3055320"/>
              <a:ext cx="904680" cy="304200"/>
            </a:xfrm>
            <a:prstGeom prst="straightConnector1">
              <a:avLst/>
            </a:prstGeom>
            <a:ln w="19050">
              <a:solidFill>
                <a:srgbClr val="c00000"/>
              </a:solidFill>
            </a:ln>
          </p:spPr>
        </p:cxnSp>
      </p:grpSp>
      <p:sp>
        <p:nvSpPr>
          <p:cNvPr id="712" name="TextBox 42"/>
          <p:cNvSpPr/>
          <p:nvPr/>
        </p:nvSpPr>
        <p:spPr>
          <a:xfrm>
            <a:off x="1192680" y="5022720"/>
            <a:ext cx="897120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What’s missing (compared with IPv4):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a3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 checksum (to speed processing at routers)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a3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 fragmentation/reassembly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a3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 options (available as upper-layer, next-header protocol at router)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PlaceHolder 2"/>
          <p:cNvSpPr>
            <a:spLocks noGrp="1"/>
          </p:cNvSpPr>
          <p:nvPr>
            <p:ph type="sldNum" idx="60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4-</a:t>
            </a:r>
            <a:fld id="{FB48BABF-EFB5-4DBF-8395-77C71197B5E0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24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7" dur="indefinite" restart="never" nodeType="tmRoot">
          <p:childTnLst>
            <p:seq>
              <p:cTn id="358" dur="indefinite" nodeType="mainSeq">
                <p:childTnLst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63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68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3"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8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/>
          </p:nvPr>
        </p:nvSpPr>
        <p:spPr>
          <a:xfrm>
            <a:off x="838080" y="1379520"/>
            <a:ext cx="10515240" cy="119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52440" indent="-222120" defTabSz="914400">
              <a:lnSpc>
                <a:spcPct val="75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not all routers can be upgraded simultaneously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95160" indent="-231840" defTabSz="914400">
              <a:lnSpc>
                <a:spcPct val="75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no “flag days”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95160" indent="-231840" defTabSz="914400">
              <a:lnSpc>
                <a:spcPct val="75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how will network operate with mixed IPv4 and IPv6 routers?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5" name="PlaceHolder 2"/>
          <p:cNvSpPr>
            <a:spLocks noGrp="1"/>
          </p:cNvSpPr>
          <p:nvPr>
            <p:ph type="title"/>
          </p:nvPr>
        </p:nvSpPr>
        <p:spPr>
          <a:xfrm>
            <a:off x="838080" y="3459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8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Transition from IPv4 to IPv6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716" name="Group 2"/>
          <p:cNvGrpSpPr/>
          <p:nvPr/>
        </p:nvGrpSpPr>
        <p:grpSpPr>
          <a:xfrm>
            <a:off x="2588760" y="4315680"/>
            <a:ext cx="6629040" cy="2226960"/>
            <a:chOff x="2588760" y="4315680"/>
            <a:chExt cx="6629040" cy="2226960"/>
          </a:xfrm>
        </p:grpSpPr>
        <p:grpSp>
          <p:nvGrpSpPr>
            <p:cNvPr id="717" name="Group 47"/>
            <p:cNvGrpSpPr/>
            <p:nvPr/>
          </p:nvGrpSpPr>
          <p:grpSpPr>
            <a:xfrm>
              <a:off x="3387240" y="5348880"/>
              <a:ext cx="4854240" cy="473040"/>
              <a:chOff x="3387240" y="5348880"/>
              <a:chExt cx="4854240" cy="473040"/>
            </a:xfrm>
          </p:grpSpPr>
          <p:sp>
            <p:nvSpPr>
              <p:cNvPr id="718" name="Rectangle 26"/>
              <p:cNvSpPr/>
              <p:nvPr/>
            </p:nvSpPr>
            <p:spPr>
              <a:xfrm>
                <a:off x="3387240" y="5350680"/>
                <a:ext cx="4854240" cy="468000"/>
              </a:xfrm>
              <a:prstGeom prst="rect">
                <a:avLst/>
              </a:prstGeom>
              <a:gradFill rotWithShape="0">
                <a:gsLst>
                  <a:gs pos="0">
                    <a:srgbClr val="cc0000">
                      <a:alpha val="41000"/>
                    </a:srgbClr>
                  </a:gs>
                  <a:gs pos="100000">
                    <a:srgbClr val="cc0000">
                      <a:alpha val="38000"/>
                    </a:srgbClr>
                  </a:gs>
                </a:gsLst>
                <a:lin ang="5400000"/>
              </a:gradFill>
              <a:ln w="9525">
                <a:solidFill>
                  <a:srgbClr val="cc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719" name="Line 27"/>
              <p:cNvSpPr/>
              <p:nvPr/>
            </p:nvSpPr>
            <p:spPr>
              <a:xfrm>
                <a:off x="4750920" y="5348880"/>
                <a:ext cx="360" cy="468360"/>
              </a:xfrm>
              <a:prstGeom prst="line">
                <a:avLst/>
              </a:prstGeom>
              <a:ln w="952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20" name="Line 28"/>
              <p:cNvSpPr/>
              <p:nvPr/>
            </p:nvSpPr>
            <p:spPr>
              <a:xfrm>
                <a:off x="4368240" y="5353560"/>
                <a:ext cx="360" cy="468360"/>
              </a:xfrm>
              <a:prstGeom prst="line">
                <a:avLst/>
              </a:prstGeom>
              <a:ln w="952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21" name="Line 29"/>
              <p:cNvSpPr/>
              <p:nvPr/>
            </p:nvSpPr>
            <p:spPr>
              <a:xfrm>
                <a:off x="3972960" y="5348880"/>
                <a:ext cx="360" cy="468360"/>
              </a:xfrm>
              <a:prstGeom prst="line">
                <a:avLst/>
              </a:prstGeom>
              <a:ln w="952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22" name="Line 31"/>
              <p:cNvSpPr/>
              <p:nvPr/>
            </p:nvSpPr>
            <p:spPr>
              <a:xfrm>
                <a:off x="3425400" y="5348880"/>
                <a:ext cx="360" cy="88920"/>
              </a:xfrm>
              <a:prstGeom prst="line">
                <a:avLst/>
              </a:prstGeom>
              <a:ln w="952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3920" bIns="4392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23" name="Line 32"/>
              <p:cNvSpPr/>
              <p:nvPr/>
            </p:nvSpPr>
            <p:spPr>
              <a:xfrm>
                <a:off x="3425400" y="5726880"/>
                <a:ext cx="360" cy="88920"/>
              </a:xfrm>
              <a:prstGeom prst="line">
                <a:avLst/>
              </a:prstGeom>
              <a:ln w="952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3920" bIns="4392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24" name="Line 33"/>
              <p:cNvSpPr/>
              <p:nvPr/>
            </p:nvSpPr>
            <p:spPr>
              <a:xfrm>
                <a:off x="3577680" y="5348880"/>
                <a:ext cx="360" cy="88920"/>
              </a:xfrm>
              <a:prstGeom prst="line">
                <a:avLst/>
              </a:prstGeom>
              <a:ln w="952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3920" bIns="4392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25" name="Line 34"/>
              <p:cNvSpPr/>
              <p:nvPr/>
            </p:nvSpPr>
            <p:spPr>
              <a:xfrm>
                <a:off x="3577680" y="5726880"/>
                <a:ext cx="360" cy="88920"/>
              </a:xfrm>
              <a:prstGeom prst="line">
                <a:avLst/>
              </a:prstGeom>
              <a:ln w="952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3920" bIns="4392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26" name="Line 35"/>
              <p:cNvSpPr/>
              <p:nvPr/>
            </p:nvSpPr>
            <p:spPr>
              <a:xfrm>
                <a:off x="3729960" y="5348880"/>
                <a:ext cx="360" cy="88920"/>
              </a:xfrm>
              <a:prstGeom prst="line">
                <a:avLst/>
              </a:prstGeom>
              <a:ln w="952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3920" bIns="4392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27" name="Line 36"/>
              <p:cNvSpPr/>
              <p:nvPr/>
            </p:nvSpPr>
            <p:spPr>
              <a:xfrm>
                <a:off x="3729960" y="5726880"/>
                <a:ext cx="360" cy="88920"/>
              </a:xfrm>
              <a:prstGeom prst="line">
                <a:avLst/>
              </a:prstGeom>
              <a:ln w="952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3920" bIns="4392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28" name="Line 37"/>
              <p:cNvSpPr/>
              <p:nvPr/>
            </p:nvSpPr>
            <p:spPr>
              <a:xfrm>
                <a:off x="3882600" y="5348880"/>
                <a:ext cx="360" cy="88920"/>
              </a:xfrm>
              <a:prstGeom prst="line">
                <a:avLst/>
              </a:prstGeom>
              <a:ln w="952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3920" bIns="4392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29" name="Line 38"/>
              <p:cNvSpPr/>
              <p:nvPr/>
            </p:nvSpPr>
            <p:spPr>
              <a:xfrm>
                <a:off x="3882600" y="5726880"/>
                <a:ext cx="360" cy="88920"/>
              </a:xfrm>
              <a:prstGeom prst="line">
                <a:avLst/>
              </a:prstGeom>
              <a:ln w="952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3920" bIns="4392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30" name="Line 39"/>
              <p:cNvSpPr/>
              <p:nvPr/>
            </p:nvSpPr>
            <p:spPr>
              <a:xfrm>
                <a:off x="3647520" y="5352120"/>
                <a:ext cx="360" cy="88920"/>
              </a:xfrm>
              <a:prstGeom prst="line">
                <a:avLst/>
              </a:prstGeom>
              <a:ln w="952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3920" bIns="4392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31" name="Line 40"/>
              <p:cNvSpPr/>
              <p:nvPr/>
            </p:nvSpPr>
            <p:spPr>
              <a:xfrm>
                <a:off x="3647520" y="5729760"/>
                <a:ext cx="360" cy="88920"/>
              </a:xfrm>
              <a:prstGeom prst="line">
                <a:avLst/>
              </a:prstGeom>
              <a:ln w="952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3920" bIns="4392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32" name="Line 41"/>
              <p:cNvSpPr/>
              <p:nvPr/>
            </p:nvSpPr>
            <p:spPr>
              <a:xfrm>
                <a:off x="3466440" y="5355360"/>
                <a:ext cx="360" cy="88920"/>
              </a:xfrm>
              <a:prstGeom prst="line">
                <a:avLst/>
              </a:prstGeom>
              <a:ln w="952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3920" bIns="4392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33" name="Line 42"/>
              <p:cNvSpPr/>
              <p:nvPr/>
            </p:nvSpPr>
            <p:spPr>
              <a:xfrm>
                <a:off x="3466440" y="5733000"/>
                <a:ext cx="360" cy="88920"/>
              </a:xfrm>
              <a:prstGeom prst="line">
                <a:avLst/>
              </a:prstGeom>
              <a:ln w="952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3920" bIns="4392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734" name="Text Box 48"/>
            <p:cNvSpPr/>
            <p:nvPr/>
          </p:nvSpPr>
          <p:spPr>
            <a:xfrm>
              <a:off x="2882520" y="4547520"/>
              <a:ext cx="200628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IPv4 source, dest addr 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5" name="Text Box 50"/>
            <p:cNvSpPr/>
            <p:nvPr/>
          </p:nvSpPr>
          <p:spPr>
            <a:xfrm>
              <a:off x="2588760" y="4315680"/>
              <a:ext cx="165240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IPv4 header fields 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6" name="Line 55"/>
            <p:cNvSpPr/>
            <p:nvPr/>
          </p:nvSpPr>
          <p:spPr>
            <a:xfrm>
              <a:off x="4141080" y="4806000"/>
              <a:ext cx="360" cy="738360"/>
            </a:xfrm>
            <a:prstGeom prst="line">
              <a:avLst/>
            </a:prstGeom>
            <a:ln w="952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37" name="Line 56"/>
            <p:cNvSpPr/>
            <p:nvPr/>
          </p:nvSpPr>
          <p:spPr>
            <a:xfrm>
              <a:off x="4146120" y="4801320"/>
              <a:ext cx="380880" cy="738000"/>
            </a:xfrm>
            <a:prstGeom prst="line">
              <a:avLst/>
            </a:prstGeom>
            <a:ln w="952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38" name="Line 57"/>
            <p:cNvSpPr/>
            <p:nvPr/>
          </p:nvSpPr>
          <p:spPr>
            <a:xfrm>
              <a:off x="3546000" y="4558320"/>
              <a:ext cx="360" cy="976320"/>
            </a:xfrm>
            <a:prstGeom prst="line">
              <a:avLst/>
            </a:prstGeom>
            <a:ln w="952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39" name="Text Box 23"/>
            <p:cNvSpPr/>
            <p:nvPr/>
          </p:nvSpPr>
          <p:spPr>
            <a:xfrm>
              <a:off x="4949280" y="6176160"/>
              <a:ext cx="1669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IPv4 datagram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0" name="Line 24"/>
            <p:cNvSpPr/>
            <p:nvPr/>
          </p:nvSpPr>
          <p:spPr>
            <a:xfrm>
              <a:off x="6570000" y="6364800"/>
              <a:ext cx="169560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41" name="Line 25"/>
            <p:cNvSpPr/>
            <p:nvPr/>
          </p:nvSpPr>
          <p:spPr>
            <a:xfrm flipH="1">
              <a:off x="3380760" y="6364800"/>
              <a:ext cx="160668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42" name="Text Box 64"/>
            <p:cNvSpPr/>
            <p:nvPr/>
          </p:nvSpPr>
          <p:spPr>
            <a:xfrm>
              <a:off x="5670000" y="5826960"/>
              <a:ext cx="1669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IPv6 datagram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3" name="Line 65"/>
            <p:cNvSpPr/>
            <p:nvPr/>
          </p:nvSpPr>
          <p:spPr>
            <a:xfrm>
              <a:off x="7306560" y="5996520"/>
              <a:ext cx="85752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44" name="Line 66"/>
            <p:cNvSpPr/>
            <p:nvPr/>
          </p:nvSpPr>
          <p:spPr>
            <a:xfrm flipH="1">
              <a:off x="4807800" y="5996520"/>
              <a:ext cx="925560" cy="3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45" name="Rectangle 69"/>
            <p:cNvSpPr/>
            <p:nvPr/>
          </p:nvSpPr>
          <p:spPr>
            <a:xfrm>
              <a:off x="4776480" y="5384160"/>
              <a:ext cx="3422160" cy="401400"/>
            </a:xfrm>
            <a:prstGeom prst="rect">
              <a:avLst/>
            </a:prstGeom>
            <a:solidFill>
              <a:srgbClr val="66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grpSp>
          <p:nvGrpSpPr>
            <p:cNvPr id="746" name="Group 70"/>
            <p:cNvGrpSpPr/>
            <p:nvPr/>
          </p:nvGrpSpPr>
          <p:grpSpPr>
            <a:xfrm>
              <a:off x="5838120" y="4413960"/>
              <a:ext cx="3379680" cy="1109520"/>
              <a:chOff x="5838120" y="4413960"/>
              <a:chExt cx="3379680" cy="1109520"/>
            </a:xfrm>
          </p:grpSpPr>
          <p:sp>
            <p:nvSpPr>
              <p:cNvPr id="747" name="Text Box 51"/>
              <p:cNvSpPr/>
              <p:nvPr/>
            </p:nvSpPr>
            <p:spPr>
              <a:xfrm>
                <a:off x="7959240" y="4413960"/>
                <a:ext cx="1258560" cy="304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IPv4 payload </a:t>
                </a: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8" name="Line 54"/>
              <p:cNvSpPr/>
              <p:nvPr/>
            </p:nvSpPr>
            <p:spPr>
              <a:xfrm flipH="1">
                <a:off x="5838120" y="4726800"/>
                <a:ext cx="2432160" cy="796680"/>
              </a:xfrm>
              <a:prstGeom prst="line">
                <a:avLst/>
              </a:prstGeom>
              <a:ln w="9525">
                <a:solidFill>
                  <a:srgbClr val="cc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749" name="Group 71"/>
          <p:cNvGrpSpPr/>
          <p:nvPr/>
        </p:nvGrpSpPr>
        <p:grpSpPr>
          <a:xfrm>
            <a:off x="4792320" y="4318920"/>
            <a:ext cx="3401640" cy="1476000"/>
            <a:chOff x="4792320" y="4318920"/>
            <a:chExt cx="3401640" cy="1476000"/>
          </a:xfrm>
        </p:grpSpPr>
        <p:sp>
          <p:nvSpPr>
            <p:cNvPr id="750" name="Rectangle 5"/>
            <p:cNvSpPr/>
            <p:nvPr/>
          </p:nvSpPr>
          <p:spPr>
            <a:xfrm>
              <a:off x="4792320" y="5384160"/>
              <a:ext cx="3401640" cy="401400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751" name="Line 8"/>
            <p:cNvSpPr/>
            <p:nvPr/>
          </p:nvSpPr>
          <p:spPr>
            <a:xfrm>
              <a:off x="4876200" y="5383800"/>
              <a:ext cx="360" cy="403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52" name="Line 9"/>
            <p:cNvSpPr/>
            <p:nvPr/>
          </p:nvSpPr>
          <p:spPr>
            <a:xfrm>
              <a:off x="4834800" y="5382360"/>
              <a:ext cx="360" cy="403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53" name="Line 10"/>
            <p:cNvSpPr/>
            <p:nvPr/>
          </p:nvSpPr>
          <p:spPr>
            <a:xfrm>
              <a:off x="4952520" y="5383800"/>
              <a:ext cx="360" cy="403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54" name="Line 11"/>
            <p:cNvSpPr/>
            <p:nvPr/>
          </p:nvSpPr>
          <p:spPr>
            <a:xfrm>
              <a:off x="4993560" y="5380560"/>
              <a:ext cx="360" cy="403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55" name="Line 12"/>
            <p:cNvSpPr/>
            <p:nvPr/>
          </p:nvSpPr>
          <p:spPr>
            <a:xfrm>
              <a:off x="5047560" y="5380560"/>
              <a:ext cx="360" cy="403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56" name="Line 13"/>
            <p:cNvSpPr/>
            <p:nvPr/>
          </p:nvSpPr>
          <p:spPr>
            <a:xfrm>
              <a:off x="5114160" y="5380560"/>
              <a:ext cx="360" cy="403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57" name="Line 14"/>
            <p:cNvSpPr/>
            <p:nvPr/>
          </p:nvSpPr>
          <p:spPr>
            <a:xfrm>
              <a:off x="5425560" y="5391720"/>
              <a:ext cx="360" cy="403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58" name="Line 15"/>
            <p:cNvSpPr/>
            <p:nvPr/>
          </p:nvSpPr>
          <p:spPr>
            <a:xfrm>
              <a:off x="5799960" y="5391720"/>
              <a:ext cx="360" cy="4032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59" name="Text Box 16"/>
            <p:cNvSpPr/>
            <p:nvPr/>
          </p:nvSpPr>
          <p:spPr>
            <a:xfrm>
              <a:off x="5414400" y="4811040"/>
              <a:ext cx="163476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UDP/TCP payload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0" name="Text Box 17"/>
            <p:cNvSpPr/>
            <p:nvPr/>
          </p:nvSpPr>
          <p:spPr>
            <a:xfrm>
              <a:off x="5141520" y="4555440"/>
              <a:ext cx="190764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85000"/>
                </a:lnSpc>
                <a:tabLst>
                  <a:tab algn="l" pos="0"/>
                </a:tabLst>
              </a:pPr>
              <a:r>
                <a: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IPv6 source dest addr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1" name="Text Box 18"/>
            <p:cNvSpPr/>
            <p:nvPr/>
          </p:nvSpPr>
          <p:spPr>
            <a:xfrm>
              <a:off x="4846320" y="4318920"/>
              <a:ext cx="16030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85000"/>
                </a:lnSpc>
                <a:tabLst>
                  <a:tab algn="l" pos="0"/>
                </a:tabLst>
              </a:pPr>
              <a:r>
                <a: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IPv6 header fields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2" name="Line 19"/>
            <p:cNvSpPr/>
            <p:nvPr/>
          </p:nvSpPr>
          <p:spPr>
            <a:xfrm>
              <a:off x="5303160" y="4788720"/>
              <a:ext cx="4680" cy="701640"/>
            </a:xfrm>
            <a:prstGeom prst="line">
              <a:avLst/>
            </a:prstGeom>
            <a:ln w="952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63" name="Line 20"/>
            <p:cNvSpPr/>
            <p:nvPr/>
          </p:nvSpPr>
          <p:spPr>
            <a:xfrm>
              <a:off x="5290560" y="4793400"/>
              <a:ext cx="276120" cy="698400"/>
            </a:xfrm>
            <a:prstGeom prst="line">
              <a:avLst/>
            </a:prstGeom>
            <a:ln w="952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64" name="Line 58"/>
            <p:cNvSpPr/>
            <p:nvPr/>
          </p:nvSpPr>
          <p:spPr>
            <a:xfrm>
              <a:off x="4960440" y="4560120"/>
              <a:ext cx="360" cy="871200"/>
            </a:xfrm>
            <a:prstGeom prst="line">
              <a:avLst/>
            </a:prstGeom>
            <a:ln w="952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65" name="Line 59"/>
            <p:cNvSpPr/>
            <p:nvPr/>
          </p:nvSpPr>
          <p:spPr>
            <a:xfrm>
              <a:off x="6465240" y="5069520"/>
              <a:ext cx="360" cy="399960"/>
            </a:xfrm>
            <a:prstGeom prst="line">
              <a:avLst/>
            </a:prstGeom>
            <a:ln w="9525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766" name="Content Placeholder 1"/>
          <p:cNvSpPr/>
          <p:nvPr/>
        </p:nvSpPr>
        <p:spPr>
          <a:xfrm>
            <a:off x="844920" y="2618640"/>
            <a:ext cx="10515240" cy="139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tunneling: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IPv6 datagram carried as </a:t>
            </a: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payload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in IPv4 datagram among IPv4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routers (“packet within a packet”)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tunneling used extensively in other contexts (4G/5G)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PlaceHolder 3"/>
          <p:cNvSpPr>
            <a:spLocks noGrp="1"/>
          </p:cNvSpPr>
          <p:nvPr>
            <p:ph type="sldNum" idx="61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4-</a:t>
            </a:r>
            <a:fld id="{2209DAA2-9C23-45E7-A3E8-391DDD922388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25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9" dur="indefinite" restart="never" nodeType="tmRoot">
          <p:childTnLst>
            <p:seq>
              <p:cTn id="380" dur="indefinite" nodeType="mainSeq">
                <p:childTnLst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85"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90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95"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8" name="Group 354"/>
          <p:cNvGrpSpPr/>
          <p:nvPr/>
        </p:nvGrpSpPr>
        <p:grpSpPr>
          <a:xfrm>
            <a:off x="6285600" y="3268080"/>
            <a:ext cx="1176120" cy="3330360"/>
            <a:chOff x="6285600" y="3268080"/>
            <a:chExt cx="1176120" cy="3330360"/>
          </a:xfrm>
        </p:grpSpPr>
        <p:sp>
          <p:nvSpPr>
            <p:cNvPr id="769" name="Line 196"/>
            <p:cNvSpPr/>
            <p:nvPr/>
          </p:nvSpPr>
          <p:spPr>
            <a:xfrm>
              <a:off x="6476040" y="3268080"/>
              <a:ext cx="689040" cy="36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70" name="Text Box 210"/>
            <p:cNvSpPr/>
            <p:nvPr/>
          </p:nvSpPr>
          <p:spPr>
            <a:xfrm>
              <a:off x="6285600" y="5882760"/>
              <a:ext cx="1176120" cy="71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85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C-to-D: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5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IPv6 inside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5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IPv4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1" name="Line 211"/>
            <p:cNvSpPr/>
            <p:nvPr/>
          </p:nvSpPr>
          <p:spPr>
            <a:xfrm>
              <a:off x="6882480" y="5668200"/>
              <a:ext cx="360" cy="18432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772" name="Group 217"/>
            <p:cNvGrpSpPr/>
            <p:nvPr/>
          </p:nvGrpSpPr>
          <p:grpSpPr>
            <a:xfrm>
              <a:off x="6366600" y="3414240"/>
              <a:ext cx="925200" cy="2203200"/>
              <a:chOff x="6366600" y="3414240"/>
              <a:chExt cx="925200" cy="2203200"/>
            </a:xfrm>
          </p:grpSpPr>
          <p:sp>
            <p:nvSpPr>
              <p:cNvPr id="773" name="Rectangle 218"/>
              <p:cNvSpPr/>
              <p:nvPr/>
            </p:nvSpPr>
            <p:spPr>
              <a:xfrm>
                <a:off x="6366600" y="3423960"/>
                <a:ext cx="925200" cy="2193480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/>
              </a:ln>
              <a:effectLst>
                <a:outerShdw algn="bl" blurRad="50760" dir="18900000" dist="37674" rotWithShape="0">
                  <a:srgbClr val="000000">
                    <a:alpha val="40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grpSp>
            <p:nvGrpSpPr>
              <p:cNvPr id="774" name="Group 219"/>
              <p:cNvGrpSpPr/>
              <p:nvPr/>
            </p:nvGrpSpPr>
            <p:grpSpPr>
              <a:xfrm>
                <a:off x="6400080" y="4031640"/>
                <a:ext cx="782280" cy="1441080"/>
                <a:chOff x="6400080" y="4031640"/>
                <a:chExt cx="782280" cy="1441080"/>
              </a:xfrm>
            </p:grpSpPr>
            <p:sp>
              <p:nvSpPr>
                <p:cNvPr id="775" name="Rectangle 220"/>
                <p:cNvSpPr/>
                <p:nvPr/>
              </p:nvSpPr>
              <p:spPr>
                <a:xfrm>
                  <a:off x="6437880" y="4031640"/>
                  <a:ext cx="732960" cy="1441080"/>
                </a:xfrm>
                <a:prstGeom prst="rect">
                  <a:avLst/>
                </a:prstGeom>
                <a:solidFill>
                  <a:srgbClr val="b5e7ff"/>
                </a:solidFill>
                <a:ln w="9525">
                  <a:solidFill>
                    <a:srgbClr val="000000"/>
                  </a:solidFill>
                  <a:miter/>
                </a:ln>
                <a:effectLst>
                  <a:outerShdw algn="bl" blurRad="50760" dir="18900000" dist="37674" rotWithShape="0">
                    <a:srgbClr val="000000">
                      <a:alpha val="40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776" name="Text Box 221"/>
                <p:cNvSpPr/>
                <p:nvPr/>
              </p:nvSpPr>
              <p:spPr>
                <a:xfrm>
                  <a:off x="6400080" y="4060440"/>
                  <a:ext cx="782280" cy="1383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Flow: X</a:t>
                  </a:r>
                  <a:endPara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Src: A</a:t>
                  </a:r>
                  <a:endPara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Dest: F</a:t>
                  </a:r>
                  <a:endPara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data</a:t>
                  </a:r>
                  <a:endPara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777" name="Text Box 222"/>
              <p:cNvSpPr/>
              <p:nvPr/>
            </p:nvSpPr>
            <p:spPr>
              <a:xfrm>
                <a:off x="6387120" y="3414240"/>
                <a:ext cx="894960" cy="641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src:B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dest: E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78" name="PlaceHolder 1"/>
          <p:cNvSpPr>
            <a:spLocks noGrp="1"/>
          </p:cNvSpPr>
          <p:nvPr>
            <p:ph type="title"/>
          </p:nvPr>
        </p:nvSpPr>
        <p:spPr>
          <a:xfrm>
            <a:off x="838080" y="34596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800" strike="noStrike" u="none">
                <a:solidFill>
                  <a:srgbClr val="0000a3"/>
                </a:solidFill>
                <a:effectLst/>
                <a:uFillTx/>
                <a:latin typeface="Calibri Light"/>
              </a:rPr>
              <a:t>Tunneling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9" name="Text Box 76"/>
          <p:cNvSpPr/>
          <p:nvPr/>
        </p:nvSpPr>
        <p:spPr>
          <a:xfrm>
            <a:off x="1638720" y="2478960"/>
            <a:ext cx="1907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physical view: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Line 147"/>
          <p:cNvSpPr/>
          <p:nvPr/>
        </p:nvSpPr>
        <p:spPr>
          <a:xfrm>
            <a:off x="5432760" y="2762280"/>
            <a:ext cx="2750760" cy="360"/>
          </a:xfrm>
          <a:prstGeom prst="line">
            <a:avLst/>
          </a:prstGeom>
          <a:ln w="19050">
            <a:solidFill>
              <a:srgbClr val="cc00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81" name="Text Box 180"/>
          <p:cNvSpPr/>
          <p:nvPr/>
        </p:nvSpPr>
        <p:spPr>
          <a:xfrm>
            <a:off x="5807880" y="2886480"/>
            <a:ext cx="59004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cc0000"/>
                </a:solidFill>
                <a:effectLst/>
                <a:uFillTx/>
                <a:latin typeface="Arial"/>
                <a:ea typeface="ＭＳ Ｐゴシック"/>
              </a:rPr>
              <a:t>IPv4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Box 181"/>
          <p:cNvSpPr/>
          <p:nvPr/>
        </p:nvSpPr>
        <p:spPr>
          <a:xfrm>
            <a:off x="7170120" y="2887920"/>
            <a:ext cx="59004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cc0000"/>
                </a:solidFill>
                <a:effectLst/>
                <a:uFillTx/>
                <a:latin typeface="Arial"/>
                <a:ea typeface="ＭＳ Ｐゴシック"/>
              </a:rPr>
              <a:t>IPv4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Box 50"/>
          <p:cNvSpPr/>
          <p:nvPr/>
        </p:nvSpPr>
        <p:spPr>
          <a:xfrm>
            <a:off x="8317800" y="2256120"/>
            <a:ext cx="3362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Line 142"/>
          <p:cNvSpPr/>
          <p:nvPr/>
        </p:nvSpPr>
        <p:spPr>
          <a:xfrm>
            <a:off x="8857440" y="2752920"/>
            <a:ext cx="32364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85" name="Text Box 145"/>
          <p:cNvSpPr/>
          <p:nvPr/>
        </p:nvSpPr>
        <p:spPr>
          <a:xfrm>
            <a:off x="8098920" y="2875320"/>
            <a:ext cx="8686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IPv6/</a:t>
            </a:r>
            <a:r>
              <a:rPr b="0" lang="en-US" sz="1600" strike="noStrike" u="none">
                <a:solidFill>
                  <a:srgbClr val="c00000"/>
                </a:solidFill>
                <a:effectLst/>
                <a:uFillTx/>
                <a:latin typeface="Arial"/>
                <a:ea typeface="ＭＳ Ｐゴシック"/>
              </a:rPr>
              <a:t>v4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Box 146"/>
          <p:cNvSpPr/>
          <p:nvPr/>
        </p:nvSpPr>
        <p:spPr>
          <a:xfrm>
            <a:off x="9201960" y="2878560"/>
            <a:ext cx="59004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IPv6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Box 299"/>
          <p:cNvSpPr/>
          <p:nvPr/>
        </p:nvSpPr>
        <p:spPr>
          <a:xfrm>
            <a:off x="9335160" y="2262600"/>
            <a:ext cx="3236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Box 300"/>
          <p:cNvSpPr/>
          <p:nvPr/>
        </p:nvSpPr>
        <p:spPr>
          <a:xfrm>
            <a:off x="5923440" y="2250000"/>
            <a:ext cx="3488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 Box 301"/>
          <p:cNvSpPr/>
          <p:nvPr/>
        </p:nvSpPr>
        <p:spPr>
          <a:xfrm>
            <a:off x="7311240" y="2252880"/>
            <a:ext cx="3488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0" name="Group 227"/>
          <p:cNvGrpSpPr/>
          <p:nvPr/>
        </p:nvGrpSpPr>
        <p:grpSpPr>
          <a:xfrm>
            <a:off x="5730480" y="2580840"/>
            <a:ext cx="734760" cy="352440"/>
            <a:chOff x="5730480" y="2580840"/>
            <a:chExt cx="734760" cy="352440"/>
          </a:xfrm>
        </p:grpSpPr>
        <p:sp>
          <p:nvSpPr>
            <p:cNvPr id="791" name="Freeform 228"/>
            <p:cNvSpPr/>
            <p:nvPr/>
          </p:nvSpPr>
          <p:spPr>
            <a:xfrm>
              <a:off x="5730480" y="2702880"/>
              <a:ext cx="734760" cy="230400"/>
            </a:xfrm>
            <a:custGeom>
              <a:avLst/>
              <a:gdLst>
                <a:gd name="textAreaLeft" fmla="*/ 0 w 734760"/>
                <a:gd name="textAreaRight" fmla="*/ 735120 w 734760"/>
                <a:gd name="textAreaTop" fmla="*/ 0 h 230400"/>
                <a:gd name="textAreaBottom" fmla="*/ 230760 h 2304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2" name="Oval 229"/>
            <p:cNvSpPr/>
            <p:nvPr/>
          </p:nvSpPr>
          <p:spPr>
            <a:xfrm>
              <a:off x="5730840" y="2580840"/>
              <a:ext cx="734040" cy="22788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3" name="Group 230"/>
            <p:cNvGrpSpPr/>
            <p:nvPr/>
          </p:nvGrpSpPr>
          <p:grpSpPr>
            <a:xfrm>
              <a:off x="5839200" y="2610000"/>
              <a:ext cx="516600" cy="167400"/>
              <a:chOff x="5839200" y="2610000"/>
              <a:chExt cx="516600" cy="167400"/>
            </a:xfrm>
          </p:grpSpPr>
          <p:sp>
            <p:nvSpPr>
              <p:cNvPr id="794" name="Freeform 231"/>
              <p:cNvSpPr/>
              <p:nvPr/>
            </p:nvSpPr>
            <p:spPr>
              <a:xfrm>
                <a:off x="5853600" y="2610000"/>
                <a:ext cx="488520" cy="93600"/>
              </a:xfrm>
              <a:custGeom>
                <a:avLst/>
                <a:gdLst>
                  <a:gd name="textAreaLeft" fmla="*/ 0 w 488520"/>
                  <a:gd name="textAreaRight" fmla="*/ 488880 w 488520"/>
                  <a:gd name="textAreaTop" fmla="*/ 0 h 93600"/>
                  <a:gd name="textAreaBottom" fmla="*/ 93960 h 9360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95" name="Freeform 232"/>
              <p:cNvSpPr/>
              <p:nvPr/>
            </p:nvSpPr>
            <p:spPr>
              <a:xfrm>
                <a:off x="6173640" y="2690280"/>
                <a:ext cx="182160" cy="80640"/>
              </a:xfrm>
              <a:custGeom>
                <a:avLst/>
                <a:gdLst>
                  <a:gd name="textAreaLeft" fmla="*/ 0 w 182160"/>
                  <a:gd name="textAreaRight" fmla="*/ 182520 w 182160"/>
                  <a:gd name="textAreaTop" fmla="*/ 0 h 80640"/>
                  <a:gd name="textAreaBottom" fmla="*/ 81000 h 8064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36000" bIns="36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96" name="Freeform 233"/>
              <p:cNvSpPr/>
              <p:nvPr/>
            </p:nvSpPr>
            <p:spPr>
              <a:xfrm>
                <a:off x="5839200" y="2690280"/>
                <a:ext cx="178920" cy="79560"/>
              </a:xfrm>
              <a:custGeom>
                <a:avLst/>
                <a:gdLst>
                  <a:gd name="textAreaLeft" fmla="*/ 0 w 178920"/>
                  <a:gd name="textAreaRight" fmla="*/ 179280 w 178920"/>
                  <a:gd name="textAreaTop" fmla="*/ 0 h 79560"/>
                  <a:gd name="textAreaBottom" fmla="*/ 79920 h 7956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34920" bIns="3492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797" name="Freeform 234"/>
              <p:cNvSpPr/>
              <p:nvPr/>
            </p:nvSpPr>
            <p:spPr>
              <a:xfrm>
                <a:off x="5901480" y="2650680"/>
                <a:ext cx="389520" cy="126720"/>
              </a:xfrm>
              <a:custGeom>
                <a:avLst/>
                <a:gdLst>
                  <a:gd name="textAreaLeft" fmla="*/ 0 w 389520"/>
                  <a:gd name="textAreaRight" fmla="*/ 389880 w 389520"/>
                  <a:gd name="textAreaTop" fmla="*/ 0 h 126720"/>
                  <a:gd name="textAreaBottom" fmla="*/ 127080 h 12672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ffb3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798" name="Group 5"/>
          <p:cNvGrpSpPr/>
          <p:nvPr/>
        </p:nvGrpSpPr>
        <p:grpSpPr>
          <a:xfrm>
            <a:off x="3670200" y="2228040"/>
            <a:ext cx="1845000" cy="966600"/>
            <a:chOff x="3670200" y="2228040"/>
            <a:chExt cx="1845000" cy="966600"/>
          </a:xfrm>
        </p:grpSpPr>
        <p:sp>
          <p:nvSpPr>
            <p:cNvPr id="799" name="Text Box 92"/>
            <p:cNvSpPr/>
            <p:nvPr/>
          </p:nvSpPr>
          <p:spPr>
            <a:xfrm>
              <a:off x="3858120" y="2228040"/>
              <a:ext cx="33624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A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0" name="Text Box 108"/>
            <p:cNvSpPr/>
            <p:nvPr/>
          </p:nvSpPr>
          <p:spPr>
            <a:xfrm>
              <a:off x="4904280" y="2232720"/>
              <a:ext cx="33624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B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1" name="Line 141"/>
            <p:cNvSpPr/>
            <p:nvPr/>
          </p:nvSpPr>
          <p:spPr>
            <a:xfrm>
              <a:off x="4399200" y="2745360"/>
              <a:ext cx="324000" cy="36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02" name="Text Box 143"/>
            <p:cNvSpPr/>
            <p:nvPr/>
          </p:nvSpPr>
          <p:spPr>
            <a:xfrm>
              <a:off x="3737520" y="2855160"/>
              <a:ext cx="590040" cy="33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IPv6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3" name="Text Box 144"/>
            <p:cNvSpPr/>
            <p:nvPr/>
          </p:nvSpPr>
          <p:spPr>
            <a:xfrm>
              <a:off x="4646520" y="2856600"/>
              <a:ext cx="868680" cy="338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IPv6/</a:t>
              </a:r>
              <a:r>
                <a:rPr b="0" lang="en-US" sz="1600" strike="noStrike" u="none">
                  <a:solidFill>
                    <a:srgbClr val="c00000"/>
                  </a:solidFill>
                  <a:effectLst/>
                  <a:uFillTx/>
                  <a:latin typeface="Arial"/>
                  <a:ea typeface="ＭＳ Ｐゴシック"/>
                </a:rPr>
                <a:t>v4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4" name="Group 219"/>
            <p:cNvGrpSpPr/>
            <p:nvPr/>
          </p:nvGrpSpPr>
          <p:grpSpPr>
            <a:xfrm>
              <a:off x="3670200" y="2559600"/>
              <a:ext cx="730800" cy="344160"/>
              <a:chOff x="3670200" y="2559600"/>
              <a:chExt cx="730800" cy="344160"/>
            </a:xfrm>
          </p:grpSpPr>
          <p:sp>
            <p:nvSpPr>
              <p:cNvPr id="805" name="Freeform 220"/>
              <p:cNvSpPr/>
              <p:nvPr/>
            </p:nvSpPr>
            <p:spPr>
              <a:xfrm>
                <a:off x="3670200" y="2678760"/>
                <a:ext cx="730800" cy="225000"/>
              </a:xfrm>
              <a:custGeom>
                <a:avLst/>
                <a:gdLst>
                  <a:gd name="textAreaLeft" fmla="*/ 0 w 730800"/>
                  <a:gd name="textAreaRight" fmla="*/ 731160 w 730800"/>
                  <a:gd name="textAreaTop" fmla="*/ 0 h 225000"/>
                  <a:gd name="textAreaBottom" fmla="*/ 225360 h 22500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6" name="Oval 221"/>
              <p:cNvSpPr/>
              <p:nvPr/>
            </p:nvSpPr>
            <p:spPr>
              <a:xfrm>
                <a:off x="3670560" y="2559600"/>
                <a:ext cx="729720" cy="2228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07" name="Group 222"/>
              <p:cNvGrpSpPr/>
              <p:nvPr/>
            </p:nvGrpSpPr>
            <p:grpSpPr>
              <a:xfrm>
                <a:off x="3778560" y="2588040"/>
                <a:ext cx="513720" cy="163440"/>
                <a:chOff x="3778560" y="2588040"/>
                <a:chExt cx="513720" cy="163440"/>
              </a:xfrm>
            </p:grpSpPr>
            <p:sp>
              <p:nvSpPr>
                <p:cNvPr id="808" name="Freeform 223"/>
                <p:cNvSpPr/>
                <p:nvPr/>
              </p:nvSpPr>
              <p:spPr>
                <a:xfrm>
                  <a:off x="3792960" y="2588040"/>
                  <a:ext cx="486000" cy="91440"/>
                </a:xfrm>
                <a:custGeom>
                  <a:avLst/>
                  <a:gdLst>
                    <a:gd name="textAreaLeft" fmla="*/ 0 w 486000"/>
                    <a:gd name="textAreaRight" fmla="*/ 486360 w 486000"/>
                    <a:gd name="textAreaTop" fmla="*/ 0 h 91440"/>
                    <a:gd name="textAreaBottom" fmla="*/ 91800 h 9144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09" name="Freeform 224"/>
                <p:cNvSpPr/>
                <p:nvPr/>
              </p:nvSpPr>
              <p:spPr>
                <a:xfrm>
                  <a:off x="4111200" y="2666520"/>
                  <a:ext cx="181080" cy="78480"/>
                </a:xfrm>
                <a:custGeom>
                  <a:avLst/>
                  <a:gdLst>
                    <a:gd name="textAreaLeft" fmla="*/ 0 w 181080"/>
                    <a:gd name="textAreaRight" fmla="*/ 181440 w 181080"/>
                    <a:gd name="textAreaTop" fmla="*/ 0 h 78480"/>
                    <a:gd name="textAreaBottom" fmla="*/ 78840 h 7848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10" name="Freeform 225"/>
                <p:cNvSpPr/>
                <p:nvPr/>
              </p:nvSpPr>
              <p:spPr>
                <a:xfrm>
                  <a:off x="3778560" y="2666520"/>
                  <a:ext cx="177840" cy="77760"/>
                </a:xfrm>
                <a:custGeom>
                  <a:avLst/>
                  <a:gdLst>
                    <a:gd name="textAreaLeft" fmla="*/ 0 w 177840"/>
                    <a:gd name="textAreaRight" fmla="*/ 178200 w 177840"/>
                    <a:gd name="textAreaTop" fmla="*/ 0 h 77760"/>
                    <a:gd name="textAreaBottom" fmla="*/ 78120 h 7776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33120" bIns="3312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11" name="Freeform 226"/>
                <p:cNvSpPr/>
                <p:nvPr/>
              </p:nvSpPr>
              <p:spPr>
                <a:xfrm>
                  <a:off x="3840480" y="2628000"/>
                  <a:ext cx="387360" cy="123480"/>
                </a:xfrm>
                <a:custGeom>
                  <a:avLst/>
                  <a:gdLst>
                    <a:gd name="textAreaLeft" fmla="*/ 0 w 387360"/>
                    <a:gd name="textAreaRight" fmla="*/ 387720 w 387360"/>
                    <a:gd name="textAreaTop" fmla="*/ 0 h 123480"/>
                    <a:gd name="textAreaBottom" fmla="*/ 123840 h 12348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grpSp>
          <p:nvGrpSpPr>
            <p:cNvPr id="812" name="Group 235"/>
            <p:cNvGrpSpPr/>
            <p:nvPr/>
          </p:nvGrpSpPr>
          <p:grpSpPr>
            <a:xfrm>
              <a:off x="4703040" y="2563200"/>
              <a:ext cx="730800" cy="344160"/>
              <a:chOff x="4703040" y="2563200"/>
              <a:chExt cx="730800" cy="344160"/>
            </a:xfrm>
          </p:grpSpPr>
          <p:sp>
            <p:nvSpPr>
              <p:cNvPr id="813" name="Freeform 236"/>
              <p:cNvSpPr/>
              <p:nvPr/>
            </p:nvSpPr>
            <p:spPr>
              <a:xfrm>
                <a:off x="4703040" y="2682360"/>
                <a:ext cx="730800" cy="225000"/>
              </a:xfrm>
              <a:custGeom>
                <a:avLst/>
                <a:gdLst>
                  <a:gd name="textAreaLeft" fmla="*/ 0 w 730800"/>
                  <a:gd name="textAreaRight" fmla="*/ 731160 w 730800"/>
                  <a:gd name="textAreaTop" fmla="*/ 0 h 225000"/>
                  <a:gd name="textAreaBottom" fmla="*/ 225360 h 22500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4" name="Oval 237"/>
              <p:cNvSpPr/>
              <p:nvPr/>
            </p:nvSpPr>
            <p:spPr>
              <a:xfrm>
                <a:off x="4703400" y="2563200"/>
                <a:ext cx="729720" cy="2228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15" name="Group 238"/>
              <p:cNvGrpSpPr/>
              <p:nvPr/>
            </p:nvGrpSpPr>
            <p:grpSpPr>
              <a:xfrm>
                <a:off x="4811760" y="2591280"/>
                <a:ext cx="513360" cy="163440"/>
                <a:chOff x="4811760" y="2591280"/>
                <a:chExt cx="513360" cy="163440"/>
              </a:xfrm>
            </p:grpSpPr>
            <p:sp>
              <p:nvSpPr>
                <p:cNvPr id="816" name="Freeform 239"/>
                <p:cNvSpPr/>
                <p:nvPr/>
              </p:nvSpPr>
              <p:spPr>
                <a:xfrm>
                  <a:off x="4825800" y="2591280"/>
                  <a:ext cx="486000" cy="91440"/>
                </a:xfrm>
                <a:custGeom>
                  <a:avLst/>
                  <a:gdLst>
                    <a:gd name="textAreaLeft" fmla="*/ 0 w 486000"/>
                    <a:gd name="textAreaRight" fmla="*/ 486360 w 486000"/>
                    <a:gd name="textAreaTop" fmla="*/ 0 h 91440"/>
                    <a:gd name="textAreaBottom" fmla="*/ 91800 h 9144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17" name="Freeform 240"/>
                <p:cNvSpPr/>
                <p:nvPr/>
              </p:nvSpPr>
              <p:spPr>
                <a:xfrm>
                  <a:off x="5144040" y="2669760"/>
                  <a:ext cx="181080" cy="78480"/>
                </a:xfrm>
                <a:custGeom>
                  <a:avLst/>
                  <a:gdLst>
                    <a:gd name="textAreaLeft" fmla="*/ 0 w 181080"/>
                    <a:gd name="textAreaRight" fmla="*/ 181440 w 181080"/>
                    <a:gd name="textAreaTop" fmla="*/ 0 h 78480"/>
                    <a:gd name="textAreaBottom" fmla="*/ 78840 h 7848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18" name="Freeform 241"/>
                <p:cNvSpPr/>
                <p:nvPr/>
              </p:nvSpPr>
              <p:spPr>
                <a:xfrm>
                  <a:off x="4811760" y="2669760"/>
                  <a:ext cx="177840" cy="77760"/>
                </a:xfrm>
                <a:custGeom>
                  <a:avLst/>
                  <a:gdLst>
                    <a:gd name="textAreaLeft" fmla="*/ 0 w 177840"/>
                    <a:gd name="textAreaRight" fmla="*/ 178200 w 177840"/>
                    <a:gd name="textAreaTop" fmla="*/ 0 h 77760"/>
                    <a:gd name="textAreaBottom" fmla="*/ 78120 h 7776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33120" bIns="3312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19" name="Freeform 242"/>
                <p:cNvSpPr/>
                <p:nvPr/>
              </p:nvSpPr>
              <p:spPr>
                <a:xfrm>
                  <a:off x="4873320" y="2631240"/>
                  <a:ext cx="387360" cy="123480"/>
                </a:xfrm>
                <a:custGeom>
                  <a:avLst/>
                  <a:gdLst>
                    <a:gd name="textAreaLeft" fmla="*/ 0 w 387360"/>
                    <a:gd name="textAreaRight" fmla="*/ 387720 w 387360"/>
                    <a:gd name="textAreaTop" fmla="*/ 0 h 123480"/>
                    <a:gd name="textAreaBottom" fmla="*/ 123840 h 12348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grpSp>
        <p:nvGrpSpPr>
          <p:cNvPr id="820" name="Group 243"/>
          <p:cNvGrpSpPr/>
          <p:nvPr/>
        </p:nvGrpSpPr>
        <p:grpSpPr>
          <a:xfrm>
            <a:off x="8148960" y="2589120"/>
            <a:ext cx="730800" cy="344160"/>
            <a:chOff x="8148960" y="2589120"/>
            <a:chExt cx="730800" cy="344160"/>
          </a:xfrm>
        </p:grpSpPr>
        <p:sp>
          <p:nvSpPr>
            <p:cNvPr id="821" name="Freeform 244"/>
            <p:cNvSpPr/>
            <p:nvPr/>
          </p:nvSpPr>
          <p:spPr>
            <a:xfrm>
              <a:off x="8148960" y="2708280"/>
              <a:ext cx="730800" cy="225000"/>
            </a:xfrm>
            <a:custGeom>
              <a:avLst/>
              <a:gdLst>
                <a:gd name="textAreaLeft" fmla="*/ 0 w 730800"/>
                <a:gd name="textAreaRight" fmla="*/ 731160 w 730800"/>
                <a:gd name="textAreaTop" fmla="*/ 0 h 225000"/>
                <a:gd name="textAreaBottom" fmla="*/ 225360 h 2250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2" name="Oval 245"/>
            <p:cNvSpPr/>
            <p:nvPr/>
          </p:nvSpPr>
          <p:spPr>
            <a:xfrm>
              <a:off x="8149680" y="2589120"/>
              <a:ext cx="729720" cy="2228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3" name="Group 246"/>
            <p:cNvGrpSpPr/>
            <p:nvPr/>
          </p:nvGrpSpPr>
          <p:grpSpPr>
            <a:xfrm>
              <a:off x="8257680" y="2617560"/>
              <a:ext cx="513360" cy="163440"/>
              <a:chOff x="8257680" y="2617560"/>
              <a:chExt cx="513360" cy="163440"/>
            </a:xfrm>
          </p:grpSpPr>
          <p:sp>
            <p:nvSpPr>
              <p:cNvPr id="824" name="Freeform 247"/>
              <p:cNvSpPr/>
              <p:nvPr/>
            </p:nvSpPr>
            <p:spPr>
              <a:xfrm>
                <a:off x="8271720" y="2617560"/>
                <a:ext cx="486000" cy="91440"/>
              </a:xfrm>
              <a:custGeom>
                <a:avLst/>
                <a:gdLst>
                  <a:gd name="textAreaLeft" fmla="*/ 0 w 486000"/>
                  <a:gd name="textAreaRight" fmla="*/ 486360 w 486000"/>
                  <a:gd name="textAreaTop" fmla="*/ 0 h 91440"/>
                  <a:gd name="textAreaBottom" fmla="*/ 91800 h 9144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25" name="Freeform 248"/>
              <p:cNvSpPr/>
              <p:nvPr/>
            </p:nvSpPr>
            <p:spPr>
              <a:xfrm>
                <a:off x="8589960" y="2696040"/>
                <a:ext cx="181080" cy="78480"/>
              </a:xfrm>
              <a:custGeom>
                <a:avLst/>
                <a:gdLst>
                  <a:gd name="textAreaLeft" fmla="*/ 0 w 181080"/>
                  <a:gd name="textAreaRight" fmla="*/ 181440 w 181080"/>
                  <a:gd name="textAreaTop" fmla="*/ 0 h 78480"/>
                  <a:gd name="textAreaBottom" fmla="*/ 78840 h 7848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33840" bIns="3384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26" name="Freeform 249"/>
              <p:cNvSpPr/>
              <p:nvPr/>
            </p:nvSpPr>
            <p:spPr>
              <a:xfrm>
                <a:off x="8257680" y="2696040"/>
                <a:ext cx="177840" cy="77760"/>
              </a:xfrm>
              <a:custGeom>
                <a:avLst/>
                <a:gdLst>
                  <a:gd name="textAreaLeft" fmla="*/ 0 w 177840"/>
                  <a:gd name="textAreaRight" fmla="*/ 178200 w 177840"/>
                  <a:gd name="textAreaTop" fmla="*/ 0 h 77760"/>
                  <a:gd name="textAreaBottom" fmla="*/ 78120 h 7776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33120" bIns="3312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27" name="Freeform 250"/>
              <p:cNvSpPr/>
              <p:nvPr/>
            </p:nvSpPr>
            <p:spPr>
              <a:xfrm>
                <a:off x="8319240" y="2657520"/>
                <a:ext cx="387360" cy="123480"/>
              </a:xfrm>
              <a:custGeom>
                <a:avLst/>
                <a:gdLst>
                  <a:gd name="textAreaLeft" fmla="*/ 0 w 387360"/>
                  <a:gd name="textAreaRight" fmla="*/ 387720 w 387360"/>
                  <a:gd name="textAreaTop" fmla="*/ 0 h 123480"/>
                  <a:gd name="textAreaBottom" fmla="*/ 123840 h 12348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828" name="Group 251"/>
          <p:cNvGrpSpPr/>
          <p:nvPr/>
        </p:nvGrpSpPr>
        <p:grpSpPr>
          <a:xfrm>
            <a:off x="9154800" y="2589120"/>
            <a:ext cx="730800" cy="344160"/>
            <a:chOff x="9154800" y="2589120"/>
            <a:chExt cx="730800" cy="344160"/>
          </a:xfrm>
        </p:grpSpPr>
        <p:sp>
          <p:nvSpPr>
            <p:cNvPr id="829" name="Freeform 252"/>
            <p:cNvSpPr/>
            <p:nvPr/>
          </p:nvSpPr>
          <p:spPr>
            <a:xfrm>
              <a:off x="9154800" y="2708280"/>
              <a:ext cx="730800" cy="225000"/>
            </a:xfrm>
            <a:custGeom>
              <a:avLst/>
              <a:gdLst>
                <a:gd name="textAreaLeft" fmla="*/ 0 w 730800"/>
                <a:gd name="textAreaRight" fmla="*/ 731160 w 730800"/>
                <a:gd name="textAreaTop" fmla="*/ 0 h 225000"/>
                <a:gd name="textAreaBottom" fmla="*/ 225360 h 2250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0" name="Oval 253"/>
            <p:cNvSpPr/>
            <p:nvPr/>
          </p:nvSpPr>
          <p:spPr>
            <a:xfrm>
              <a:off x="9155160" y="2589120"/>
              <a:ext cx="729720" cy="2228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31" name="Group 254"/>
            <p:cNvGrpSpPr/>
            <p:nvPr/>
          </p:nvGrpSpPr>
          <p:grpSpPr>
            <a:xfrm>
              <a:off x="9263520" y="2617560"/>
              <a:ext cx="513360" cy="163440"/>
              <a:chOff x="9263520" y="2617560"/>
              <a:chExt cx="513360" cy="163440"/>
            </a:xfrm>
          </p:grpSpPr>
          <p:sp>
            <p:nvSpPr>
              <p:cNvPr id="832" name="Freeform 255"/>
              <p:cNvSpPr/>
              <p:nvPr/>
            </p:nvSpPr>
            <p:spPr>
              <a:xfrm>
                <a:off x="9277560" y="2617560"/>
                <a:ext cx="486000" cy="91440"/>
              </a:xfrm>
              <a:custGeom>
                <a:avLst/>
                <a:gdLst>
                  <a:gd name="textAreaLeft" fmla="*/ 0 w 486000"/>
                  <a:gd name="textAreaRight" fmla="*/ 486360 w 486000"/>
                  <a:gd name="textAreaTop" fmla="*/ 0 h 91440"/>
                  <a:gd name="textAreaBottom" fmla="*/ 91800 h 9144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33" name="Freeform 256"/>
              <p:cNvSpPr/>
              <p:nvPr/>
            </p:nvSpPr>
            <p:spPr>
              <a:xfrm>
                <a:off x="9595800" y="2696040"/>
                <a:ext cx="181080" cy="78480"/>
              </a:xfrm>
              <a:custGeom>
                <a:avLst/>
                <a:gdLst>
                  <a:gd name="textAreaLeft" fmla="*/ 0 w 181080"/>
                  <a:gd name="textAreaRight" fmla="*/ 181440 w 181080"/>
                  <a:gd name="textAreaTop" fmla="*/ 0 h 78480"/>
                  <a:gd name="textAreaBottom" fmla="*/ 78840 h 7848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33840" bIns="3384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34" name="Freeform 257"/>
              <p:cNvSpPr/>
              <p:nvPr/>
            </p:nvSpPr>
            <p:spPr>
              <a:xfrm>
                <a:off x="9263520" y="2696040"/>
                <a:ext cx="177840" cy="77760"/>
              </a:xfrm>
              <a:custGeom>
                <a:avLst/>
                <a:gdLst>
                  <a:gd name="textAreaLeft" fmla="*/ 0 w 177840"/>
                  <a:gd name="textAreaRight" fmla="*/ 178200 w 177840"/>
                  <a:gd name="textAreaTop" fmla="*/ 0 h 77760"/>
                  <a:gd name="textAreaBottom" fmla="*/ 78120 h 7776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33120" bIns="3312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35" name="Freeform 258"/>
              <p:cNvSpPr/>
              <p:nvPr/>
            </p:nvSpPr>
            <p:spPr>
              <a:xfrm>
                <a:off x="9325080" y="2657520"/>
                <a:ext cx="387360" cy="123480"/>
              </a:xfrm>
              <a:custGeom>
                <a:avLst/>
                <a:gdLst>
                  <a:gd name="textAreaLeft" fmla="*/ 0 w 387360"/>
                  <a:gd name="textAreaRight" fmla="*/ 387720 w 387360"/>
                  <a:gd name="textAreaTop" fmla="*/ 0 h 123480"/>
                  <a:gd name="textAreaBottom" fmla="*/ 123840 h 12348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836" name="Group 260"/>
          <p:cNvGrpSpPr/>
          <p:nvPr/>
        </p:nvGrpSpPr>
        <p:grpSpPr>
          <a:xfrm>
            <a:off x="7115400" y="2580840"/>
            <a:ext cx="734760" cy="352440"/>
            <a:chOff x="7115400" y="2580840"/>
            <a:chExt cx="734760" cy="352440"/>
          </a:xfrm>
        </p:grpSpPr>
        <p:sp>
          <p:nvSpPr>
            <p:cNvPr id="837" name="Freeform 261"/>
            <p:cNvSpPr/>
            <p:nvPr/>
          </p:nvSpPr>
          <p:spPr>
            <a:xfrm>
              <a:off x="7115400" y="2702880"/>
              <a:ext cx="734760" cy="230400"/>
            </a:xfrm>
            <a:custGeom>
              <a:avLst/>
              <a:gdLst>
                <a:gd name="textAreaLeft" fmla="*/ 0 w 734760"/>
                <a:gd name="textAreaRight" fmla="*/ 735120 w 734760"/>
                <a:gd name="textAreaTop" fmla="*/ 0 h 230400"/>
                <a:gd name="textAreaBottom" fmla="*/ 230760 h 230400"/>
                <a:gd name="GluePoint1X" fmla="*/ 8165849 w 8166683"/>
                <a:gd name="GluePoint1Y" fmla="*/ 7337 h 3099826"/>
                <a:gd name="GluePoint2X" fmla="*/ 8166683 w 8166683"/>
                <a:gd name="GluePoint2Y" fmla="*/ 1636654 h 3099826"/>
                <a:gd name="GluePoint3X" fmla="*/ 4116250 w 8166683"/>
                <a:gd name="GluePoint3Y" fmla="*/ 3099826 h 3099826"/>
                <a:gd name="GluePoint4X" fmla="*/ 8764 w 8166683"/>
                <a:gd name="GluePoint4Y" fmla="*/ 1634789 h 3099826"/>
                <a:gd name="GluePoint5X" fmla="*/ 451 w 8166683"/>
                <a:gd name="GluePoint5Y" fmla="*/ 0 h 3099826"/>
                <a:gd name="GluePoint6X" fmla="*/ 4061168 w 8166683"/>
                <a:gd name="GluePoint6Y" fmla="*/ 1438511 h 3099826"/>
                <a:gd name="GluePoint7X" fmla="*/ 8165849 w 8166683"/>
                <a:gd name="GluePoint7Y" fmla="*/ 7337 h 309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 rotWithShape="0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/>
            </a:gra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    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8" name="Oval 262"/>
            <p:cNvSpPr/>
            <p:nvPr/>
          </p:nvSpPr>
          <p:spPr>
            <a:xfrm>
              <a:off x="7115760" y="2580840"/>
              <a:ext cx="734040" cy="22788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             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39" name="Group 263"/>
            <p:cNvGrpSpPr/>
            <p:nvPr/>
          </p:nvGrpSpPr>
          <p:grpSpPr>
            <a:xfrm>
              <a:off x="7224480" y="2610000"/>
              <a:ext cx="516600" cy="167400"/>
              <a:chOff x="7224480" y="2610000"/>
              <a:chExt cx="516600" cy="167400"/>
            </a:xfrm>
          </p:grpSpPr>
          <p:sp>
            <p:nvSpPr>
              <p:cNvPr id="840" name="Freeform 264"/>
              <p:cNvSpPr/>
              <p:nvPr/>
            </p:nvSpPr>
            <p:spPr>
              <a:xfrm>
                <a:off x="7238880" y="2610000"/>
                <a:ext cx="488520" cy="93600"/>
              </a:xfrm>
              <a:custGeom>
                <a:avLst/>
                <a:gdLst>
                  <a:gd name="textAreaLeft" fmla="*/ 0 w 488520"/>
                  <a:gd name="textAreaRight" fmla="*/ 488880 w 488520"/>
                  <a:gd name="textAreaTop" fmla="*/ 0 h 93600"/>
                  <a:gd name="textAreaBottom" fmla="*/ 93960 h 93600"/>
                  <a:gd name="GluePoint1X" fmla="*/ 3756864 w 4673016"/>
                  <a:gd name="GluePoint1Y" fmla="*/ 0 h 1049866"/>
                  <a:gd name="GluePoint2X" fmla="*/ 4673016 w 4673016"/>
                  <a:gd name="GluePoint2Y" fmla="*/ 239402 h 1049866"/>
                  <a:gd name="GluePoint3X" fmla="*/ 3993931 w 4673016"/>
                  <a:gd name="GluePoint3Y" fmla="*/ 541866 h 1049866"/>
                  <a:gd name="GluePoint4X" fmla="*/ 3815839 w 4673016"/>
                  <a:gd name="GluePoint4Y" fmla="*/ 467710 h 1049866"/>
                  <a:gd name="GluePoint5X" fmla="*/ 2300598 w 4673016"/>
                  <a:gd name="GluePoint5Y" fmla="*/ 1049866 h 1049866"/>
                  <a:gd name="GluePoint6X" fmla="*/ 912064 w 4673016"/>
                  <a:gd name="GluePoint6Y" fmla="*/ 457200 h 1049866"/>
                  <a:gd name="GluePoint7X" fmla="*/ 624198 w 4673016"/>
                  <a:gd name="GluePoint7Y" fmla="*/ 541866 h 1049866"/>
                  <a:gd name="GluePoint8X" fmla="*/ 0 w 4673016"/>
                  <a:gd name="GluePoint8Y" fmla="*/ 275021 h 1049866"/>
                  <a:gd name="GluePoint9X" fmla="*/ 912064 w 4673016"/>
                  <a:gd name="GluePoint9Y" fmla="*/ 16933 h 1049866"/>
                  <a:gd name="GluePoint10X" fmla="*/ 2323954 w 4673016"/>
                  <a:gd name="GluePoint10Y" fmla="*/ 616023 h 1049866"/>
                  <a:gd name="GluePoint11X" fmla="*/ 3756864 w 4673016"/>
                  <a:gd name="GluePoint11Y" fmla="*/ 0 h 104986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41" name="Freeform 265"/>
              <p:cNvSpPr/>
              <p:nvPr/>
            </p:nvSpPr>
            <p:spPr>
              <a:xfrm>
                <a:off x="7558920" y="2690280"/>
                <a:ext cx="182160" cy="80640"/>
              </a:xfrm>
              <a:custGeom>
                <a:avLst/>
                <a:gdLst>
                  <a:gd name="textAreaLeft" fmla="*/ 0 w 182160"/>
                  <a:gd name="textAreaRight" fmla="*/ 182520 w 182160"/>
                  <a:gd name="textAreaTop" fmla="*/ 0 h 80640"/>
                  <a:gd name="textAreaBottom" fmla="*/ 81000 h 80640"/>
                  <a:gd name="GluePoint1X" fmla="*/ 21021 w 1744718"/>
                  <a:gd name="GluePoint1Y" fmla="*/ 0 h 903890"/>
                  <a:gd name="GluePoint2X" fmla="*/ 1744718 w 1744718"/>
                  <a:gd name="GluePoint2Y" fmla="*/ 693683 h 903890"/>
                  <a:gd name="GluePoint3X" fmla="*/ 1145628 w 1744718"/>
                  <a:gd name="GluePoint3Y" fmla="*/ 903890 h 903890"/>
                  <a:gd name="GluePoint4X" fmla="*/ 0 w 1744718"/>
                  <a:gd name="GluePoint4Y" fmla="*/ 451945 h 903890"/>
                  <a:gd name="GluePoint5X" fmla="*/ 21021 w 1744718"/>
                  <a:gd name="GluePoint5Y" fmla="*/ 0 h 9038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36000" bIns="36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42" name="Freeform 266"/>
              <p:cNvSpPr/>
              <p:nvPr/>
            </p:nvSpPr>
            <p:spPr>
              <a:xfrm>
                <a:off x="7224480" y="2690280"/>
                <a:ext cx="178920" cy="79560"/>
              </a:xfrm>
              <a:custGeom>
                <a:avLst/>
                <a:gdLst>
                  <a:gd name="textAreaLeft" fmla="*/ 0 w 178920"/>
                  <a:gd name="textAreaRight" fmla="*/ 179280 w 178920"/>
                  <a:gd name="textAreaTop" fmla="*/ 0 h 79560"/>
                  <a:gd name="textAreaBottom" fmla="*/ 79920 h 79560"/>
                  <a:gd name="GluePoint1X" fmla="*/ 1702676 w 1713187"/>
                  <a:gd name="GluePoint1Y" fmla="*/ 0 h 893380"/>
                  <a:gd name="GluePoint2X" fmla="*/ 1713187 w 1713187"/>
                  <a:gd name="GluePoint2Y" fmla="*/ 472966 h 893380"/>
                  <a:gd name="GluePoint3X" fmla="*/ 578069 w 1713187"/>
                  <a:gd name="GluePoint3Y" fmla="*/ 893380 h 893380"/>
                  <a:gd name="GluePoint4X" fmla="*/ 0 w 1713187"/>
                  <a:gd name="GluePoint4Y" fmla="*/ 693683 h 893380"/>
                  <a:gd name="GluePoint5X" fmla="*/ 1702676 w 1713187"/>
                  <a:gd name="GluePoint5Y" fmla="*/ 0 h 89338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34920" bIns="3492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843" name="Freeform 267"/>
              <p:cNvSpPr/>
              <p:nvPr/>
            </p:nvSpPr>
            <p:spPr>
              <a:xfrm>
                <a:off x="7286760" y="2650680"/>
                <a:ext cx="389520" cy="126720"/>
              </a:xfrm>
              <a:custGeom>
                <a:avLst/>
                <a:gdLst>
                  <a:gd name="textAreaLeft" fmla="*/ 0 w 389520"/>
                  <a:gd name="textAreaRight" fmla="*/ 389880 w 389520"/>
                  <a:gd name="textAreaTop" fmla="*/ 0 h 126720"/>
                  <a:gd name="textAreaBottom" fmla="*/ 127080 h 126720"/>
                  <a:gd name="GluePoint1X" fmla="*/ 162012 w 3725019"/>
                  <a:gd name="GluePoint1Y" fmla="*/ 73572 h 1418896"/>
                  <a:gd name="GluePoint2X" fmla="*/ 445792 w 3725019"/>
                  <a:gd name="GluePoint2Y" fmla="*/ 0 h 1418896"/>
                  <a:gd name="GluePoint3X" fmla="*/ 1852896 w 3725019"/>
                  <a:gd name="GluePoint3Y" fmla="*/ 591655 h 1418896"/>
                  <a:gd name="GluePoint4X" fmla="*/ 3357157 w 3725019"/>
                  <a:gd name="GluePoint4Y" fmla="*/ 0 h 1418896"/>
                  <a:gd name="GluePoint5X" fmla="*/ 3577874 w 3725019"/>
                  <a:gd name="GluePoint5Y" fmla="*/ 73572 h 1418896"/>
                  <a:gd name="GluePoint6X" fmla="*/ 2632585 w 3725019"/>
                  <a:gd name="GluePoint6Y" fmla="*/ 448868 h 1418896"/>
                  <a:gd name="GluePoint7X" fmla="*/ 2625150 w 3725019"/>
                  <a:gd name="GluePoint7Y" fmla="*/ 902607 h 1418896"/>
                  <a:gd name="GluePoint8X" fmla="*/ 3725019 w 3725019"/>
                  <a:gd name="GluePoint8Y" fmla="*/ 1345324 h 1418896"/>
                  <a:gd name="GluePoint9X" fmla="*/ 3441240 w 3725019"/>
                  <a:gd name="GluePoint9Y" fmla="*/ 1408386 h 1418896"/>
                  <a:gd name="GluePoint10X" fmla="*/ 1864688 w 3725019"/>
                  <a:gd name="GluePoint10Y" fmla="*/ 746234 h 1418896"/>
                  <a:gd name="GluePoint11X" fmla="*/ 256605 w 3725019"/>
                  <a:gd name="GluePoint11Y" fmla="*/ 1418896 h 1418896"/>
                  <a:gd name="GluePoint12X" fmla="*/ 0 w 3725019"/>
                  <a:gd name="GluePoint12Y" fmla="*/ 1331097 h 1418896"/>
                  <a:gd name="GluePoint13X" fmla="*/ 1113454 w 3725019"/>
                  <a:gd name="GluePoint13Y" fmla="*/ 903890 h 1418896"/>
                  <a:gd name="GluePoint14X" fmla="*/ 1102302 w 3725019"/>
                  <a:gd name="GluePoint14Y" fmla="*/ 451945 h 1418896"/>
                  <a:gd name="GluePoint15X" fmla="*/ 183032 w 3725019"/>
                  <a:gd name="GluePoint15Y" fmla="*/ 84081 h 1418896"/>
                  <a:gd name="GluePoint16X" fmla="*/ 162012 w 3725019"/>
                  <a:gd name="GluePoint16Y" fmla="*/ 73572 h 14188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textAreaLeft" t="textAreaTop" r="textAreaRight" b="textAreaBottom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ffb3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844" name="Rectangle 67"/>
          <p:cNvSpPr/>
          <p:nvPr/>
        </p:nvSpPr>
        <p:spPr>
          <a:xfrm>
            <a:off x="5385240" y="1603440"/>
            <a:ext cx="2751120" cy="75960"/>
          </a:xfrm>
          <a:prstGeom prst="rect">
            <a:avLst/>
          </a:prstGeom>
          <a:solidFill>
            <a:srgbClr val="cc0000"/>
          </a:solidFill>
          <a:ln w="9525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1320" bIns="31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845" name="Text Box 75"/>
          <p:cNvSpPr/>
          <p:nvPr/>
        </p:nvSpPr>
        <p:spPr>
          <a:xfrm>
            <a:off x="1850400" y="1375560"/>
            <a:ext cx="1709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logical view: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 Box 244"/>
          <p:cNvSpPr/>
          <p:nvPr/>
        </p:nvSpPr>
        <p:spPr>
          <a:xfrm>
            <a:off x="5677560" y="1119960"/>
            <a:ext cx="231912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85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cc0000"/>
                </a:solidFill>
                <a:effectLst/>
                <a:uFillTx/>
                <a:latin typeface="Arial"/>
                <a:ea typeface="ＭＳ Ｐゴシック"/>
              </a:rPr>
              <a:t>IPv4 tunnel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85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cc0000"/>
                </a:solidFill>
                <a:effectLst/>
                <a:uFillTx/>
                <a:latin typeface="Arial"/>
                <a:ea typeface="ＭＳ Ｐゴシック"/>
              </a:rPr>
              <a:t>connecting IPv6 routers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47" name="Group 268"/>
          <p:cNvGrpSpPr/>
          <p:nvPr/>
        </p:nvGrpSpPr>
        <p:grpSpPr>
          <a:xfrm>
            <a:off x="3663720" y="1108440"/>
            <a:ext cx="1860120" cy="966600"/>
            <a:chOff x="3663720" y="1108440"/>
            <a:chExt cx="1860120" cy="966600"/>
          </a:xfrm>
        </p:grpSpPr>
        <p:sp>
          <p:nvSpPr>
            <p:cNvPr id="848" name="Text Box 92"/>
            <p:cNvSpPr/>
            <p:nvPr/>
          </p:nvSpPr>
          <p:spPr>
            <a:xfrm>
              <a:off x="3851640" y="1108440"/>
              <a:ext cx="33624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A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9" name="Text Box 108"/>
            <p:cNvSpPr/>
            <p:nvPr/>
          </p:nvSpPr>
          <p:spPr>
            <a:xfrm>
              <a:off x="4897800" y="1113120"/>
              <a:ext cx="33624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B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0" name="Line 141"/>
            <p:cNvSpPr/>
            <p:nvPr/>
          </p:nvSpPr>
          <p:spPr>
            <a:xfrm>
              <a:off x="4392720" y="1625760"/>
              <a:ext cx="324000" cy="36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51" name="Text Box 143"/>
            <p:cNvSpPr/>
            <p:nvPr/>
          </p:nvSpPr>
          <p:spPr>
            <a:xfrm>
              <a:off x="3731040" y="1735200"/>
              <a:ext cx="590040" cy="33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IPv6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2" name="Text Box 144"/>
            <p:cNvSpPr/>
            <p:nvPr/>
          </p:nvSpPr>
          <p:spPr>
            <a:xfrm>
              <a:off x="4655160" y="1737000"/>
              <a:ext cx="868680" cy="338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IPv6/</a:t>
              </a:r>
              <a:r>
                <a:rPr b="0" lang="en-US" sz="1600" strike="noStrike" u="none">
                  <a:solidFill>
                    <a:srgbClr val="c00000"/>
                  </a:solidFill>
                  <a:effectLst/>
                  <a:uFillTx/>
                  <a:latin typeface="Arial"/>
                  <a:ea typeface="ＭＳ Ｐゴシック"/>
                </a:rPr>
                <a:t>v4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3" name="Group 274"/>
            <p:cNvGrpSpPr/>
            <p:nvPr/>
          </p:nvGrpSpPr>
          <p:grpSpPr>
            <a:xfrm>
              <a:off x="3663720" y="1440000"/>
              <a:ext cx="730800" cy="344160"/>
              <a:chOff x="3663720" y="1440000"/>
              <a:chExt cx="730800" cy="344160"/>
            </a:xfrm>
          </p:grpSpPr>
          <p:sp>
            <p:nvSpPr>
              <p:cNvPr id="854" name="Freeform 283"/>
              <p:cNvSpPr/>
              <p:nvPr/>
            </p:nvSpPr>
            <p:spPr>
              <a:xfrm>
                <a:off x="3663720" y="1559160"/>
                <a:ext cx="730800" cy="225000"/>
              </a:xfrm>
              <a:custGeom>
                <a:avLst/>
                <a:gdLst>
                  <a:gd name="textAreaLeft" fmla="*/ 0 w 730800"/>
                  <a:gd name="textAreaRight" fmla="*/ 731160 w 730800"/>
                  <a:gd name="textAreaTop" fmla="*/ 0 h 225000"/>
                  <a:gd name="textAreaBottom" fmla="*/ 225360 h 22500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" name="Oval 284"/>
              <p:cNvSpPr/>
              <p:nvPr/>
            </p:nvSpPr>
            <p:spPr>
              <a:xfrm>
                <a:off x="3664080" y="1440000"/>
                <a:ext cx="729720" cy="2228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56" name="Group 285"/>
              <p:cNvGrpSpPr/>
              <p:nvPr/>
            </p:nvGrpSpPr>
            <p:grpSpPr>
              <a:xfrm>
                <a:off x="3772080" y="1468080"/>
                <a:ext cx="513720" cy="163440"/>
                <a:chOff x="3772080" y="1468080"/>
                <a:chExt cx="513720" cy="163440"/>
              </a:xfrm>
            </p:grpSpPr>
            <p:sp>
              <p:nvSpPr>
                <p:cNvPr id="857" name="Freeform 286"/>
                <p:cNvSpPr/>
                <p:nvPr/>
              </p:nvSpPr>
              <p:spPr>
                <a:xfrm>
                  <a:off x="3786120" y="1468080"/>
                  <a:ext cx="486000" cy="91440"/>
                </a:xfrm>
                <a:custGeom>
                  <a:avLst/>
                  <a:gdLst>
                    <a:gd name="textAreaLeft" fmla="*/ 0 w 486000"/>
                    <a:gd name="textAreaRight" fmla="*/ 486360 w 486000"/>
                    <a:gd name="textAreaTop" fmla="*/ 0 h 91440"/>
                    <a:gd name="textAreaBottom" fmla="*/ 91800 h 9144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58" name="Freeform 287"/>
                <p:cNvSpPr/>
                <p:nvPr/>
              </p:nvSpPr>
              <p:spPr>
                <a:xfrm>
                  <a:off x="4104720" y="1546560"/>
                  <a:ext cx="181080" cy="78480"/>
                </a:xfrm>
                <a:custGeom>
                  <a:avLst/>
                  <a:gdLst>
                    <a:gd name="textAreaLeft" fmla="*/ 0 w 181080"/>
                    <a:gd name="textAreaRight" fmla="*/ 181440 w 181080"/>
                    <a:gd name="textAreaTop" fmla="*/ 0 h 78480"/>
                    <a:gd name="textAreaBottom" fmla="*/ 78840 h 7848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59" name="Freeform 288"/>
                <p:cNvSpPr/>
                <p:nvPr/>
              </p:nvSpPr>
              <p:spPr>
                <a:xfrm>
                  <a:off x="3772080" y="1546560"/>
                  <a:ext cx="177840" cy="77760"/>
                </a:xfrm>
                <a:custGeom>
                  <a:avLst/>
                  <a:gdLst>
                    <a:gd name="textAreaLeft" fmla="*/ 0 w 177840"/>
                    <a:gd name="textAreaRight" fmla="*/ 178200 w 177840"/>
                    <a:gd name="textAreaTop" fmla="*/ 0 h 77760"/>
                    <a:gd name="textAreaBottom" fmla="*/ 78120 h 7776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33120" bIns="3312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60" name="Freeform 289"/>
                <p:cNvSpPr/>
                <p:nvPr/>
              </p:nvSpPr>
              <p:spPr>
                <a:xfrm>
                  <a:off x="3834000" y="1508040"/>
                  <a:ext cx="387360" cy="123480"/>
                </a:xfrm>
                <a:custGeom>
                  <a:avLst/>
                  <a:gdLst>
                    <a:gd name="textAreaLeft" fmla="*/ 0 w 387360"/>
                    <a:gd name="textAreaRight" fmla="*/ 387720 w 387360"/>
                    <a:gd name="textAreaTop" fmla="*/ 0 h 123480"/>
                    <a:gd name="textAreaBottom" fmla="*/ 123840 h 12348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grpSp>
          <p:nvGrpSpPr>
            <p:cNvPr id="861" name="Group 275"/>
            <p:cNvGrpSpPr/>
            <p:nvPr/>
          </p:nvGrpSpPr>
          <p:grpSpPr>
            <a:xfrm>
              <a:off x="4696560" y="1443240"/>
              <a:ext cx="730800" cy="344160"/>
              <a:chOff x="4696560" y="1443240"/>
              <a:chExt cx="730800" cy="344160"/>
            </a:xfrm>
          </p:grpSpPr>
          <p:sp>
            <p:nvSpPr>
              <p:cNvPr id="862" name="Freeform 276"/>
              <p:cNvSpPr/>
              <p:nvPr/>
            </p:nvSpPr>
            <p:spPr>
              <a:xfrm>
                <a:off x="4696560" y="1562400"/>
                <a:ext cx="730800" cy="225000"/>
              </a:xfrm>
              <a:custGeom>
                <a:avLst/>
                <a:gdLst>
                  <a:gd name="textAreaLeft" fmla="*/ 0 w 730800"/>
                  <a:gd name="textAreaRight" fmla="*/ 731160 w 730800"/>
                  <a:gd name="textAreaTop" fmla="*/ 0 h 225000"/>
                  <a:gd name="textAreaBottom" fmla="*/ 225360 h 22500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3" name="Oval 277"/>
              <p:cNvSpPr/>
              <p:nvPr/>
            </p:nvSpPr>
            <p:spPr>
              <a:xfrm>
                <a:off x="4696920" y="1443240"/>
                <a:ext cx="729720" cy="2228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64" name="Group 278"/>
              <p:cNvGrpSpPr/>
              <p:nvPr/>
            </p:nvGrpSpPr>
            <p:grpSpPr>
              <a:xfrm>
                <a:off x="4804920" y="1471680"/>
                <a:ext cx="513720" cy="163440"/>
                <a:chOff x="4804920" y="1471680"/>
                <a:chExt cx="513720" cy="163440"/>
              </a:xfrm>
            </p:grpSpPr>
            <p:sp>
              <p:nvSpPr>
                <p:cNvPr id="865" name="Freeform 279"/>
                <p:cNvSpPr/>
                <p:nvPr/>
              </p:nvSpPr>
              <p:spPr>
                <a:xfrm>
                  <a:off x="4819320" y="1471680"/>
                  <a:ext cx="486000" cy="91440"/>
                </a:xfrm>
                <a:custGeom>
                  <a:avLst/>
                  <a:gdLst>
                    <a:gd name="textAreaLeft" fmla="*/ 0 w 486000"/>
                    <a:gd name="textAreaRight" fmla="*/ 486360 w 486000"/>
                    <a:gd name="textAreaTop" fmla="*/ 0 h 91440"/>
                    <a:gd name="textAreaBottom" fmla="*/ 91800 h 9144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66" name="Freeform 280"/>
                <p:cNvSpPr/>
                <p:nvPr/>
              </p:nvSpPr>
              <p:spPr>
                <a:xfrm>
                  <a:off x="5137560" y="1550160"/>
                  <a:ext cx="181080" cy="78480"/>
                </a:xfrm>
                <a:custGeom>
                  <a:avLst/>
                  <a:gdLst>
                    <a:gd name="textAreaLeft" fmla="*/ 0 w 181080"/>
                    <a:gd name="textAreaRight" fmla="*/ 181440 w 181080"/>
                    <a:gd name="textAreaTop" fmla="*/ 0 h 78480"/>
                    <a:gd name="textAreaBottom" fmla="*/ 78840 h 7848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67" name="Freeform 281"/>
                <p:cNvSpPr/>
                <p:nvPr/>
              </p:nvSpPr>
              <p:spPr>
                <a:xfrm>
                  <a:off x="4804920" y="1550160"/>
                  <a:ext cx="177840" cy="77760"/>
                </a:xfrm>
                <a:custGeom>
                  <a:avLst/>
                  <a:gdLst>
                    <a:gd name="textAreaLeft" fmla="*/ 0 w 177840"/>
                    <a:gd name="textAreaRight" fmla="*/ 178200 w 177840"/>
                    <a:gd name="textAreaTop" fmla="*/ 0 h 77760"/>
                    <a:gd name="textAreaBottom" fmla="*/ 78120 h 7776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33120" bIns="3312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68" name="Freeform 282"/>
                <p:cNvSpPr/>
                <p:nvPr/>
              </p:nvSpPr>
              <p:spPr>
                <a:xfrm>
                  <a:off x="4866840" y="1511640"/>
                  <a:ext cx="387360" cy="123480"/>
                </a:xfrm>
                <a:custGeom>
                  <a:avLst/>
                  <a:gdLst>
                    <a:gd name="textAreaLeft" fmla="*/ 0 w 387360"/>
                    <a:gd name="textAreaRight" fmla="*/ 387720 w 387360"/>
                    <a:gd name="textAreaTop" fmla="*/ 0 h 123480"/>
                    <a:gd name="textAreaBottom" fmla="*/ 123840 h 12348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grpSp>
        <p:nvGrpSpPr>
          <p:cNvPr id="869" name="Group 290"/>
          <p:cNvGrpSpPr/>
          <p:nvPr/>
        </p:nvGrpSpPr>
        <p:grpSpPr>
          <a:xfrm>
            <a:off x="8121600" y="1138320"/>
            <a:ext cx="1787760" cy="965160"/>
            <a:chOff x="8121600" y="1138320"/>
            <a:chExt cx="1787760" cy="965160"/>
          </a:xfrm>
        </p:grpSpPr>
        <p:sp>
          <p:nvSpPr>
            <p:cNvPr id="870" name="Text Box 92"/>
            <p:cNvSpPr/>
            <p:nvPr/>
          </p:nvSpPr>
          <p:spPr>
            <a:xfrm>
              <a:off x="8333640" y="1138320"/>
              <a:ext cx="33624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1" name="Text Box 108"/>
            <p:cNvSpPr/>
            <p:nvPr/>
          </p:nvSpPr>
          <p:spPr>
            <a:xfrm>
              <a:off x="9363960" y="1143000"/>
              <a:ext cx="33624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F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2" name="Line 141"/>
            <p:cNvSpPr/>
            <p:nvPr/>
          </p:nvSpPr>
          <p:spPr>
            <a:xfrm>
              <a:off x="8874720" y="1655640"/>
              <a:ext cx="324000" cy="36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73" name="Text Box 143"/>
            <p:cNvSpPr/>
            <p:nvPr/>
          </p:nvSpPr>
          <p:spPr>
            <a:xfrm>
              <a:off x="8121600" y="1765440"/>
              <a:ext cx="868680" cy="338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IPv6/</a:t>
              </a:r>
              <a:r>
                <a:rPr b="0" lang="en-US" sz="1600" strike="noStrike" u="none">
                  <a:solidFill>
                    <a:srgbClr val="c00000"/>
                  </a:solidFill>
                  <a:effectLst/>
                  <a:uFillTx/>
                  <a:latin typeface="Arial"/>
                  <a:ea typeface="ＭＳ Ｐゴシック"/>
                </a:rPr>
                <a:t>v4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4" name="Text Box 144"/>
            <p:cNvSpPr/>
            <p:nvPr/>
          </p:nvSpPr>
          <p:spPr>
            <a:xfrm>
              <a:off x="9259200" y="1766880"/>
              <a:ext cx="590040" cy="33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IPv6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75" name="Group 296"/>
            <p:cNvGrpSpPr/>
            <p:nvPr/>
          </p:nvGrpSpPr>
          <p:grpSpPr>
            <a:xfrm>
              <a:off x="8145720" y="1469880"/>
              <a:ext cx="730800" cy="344160"/>
              <a:chOff x="8145720" y="1469880"/>
              <a:chExt cx="730800" cy="344160"/>
            </a:xfrm>
          </p:grpSpPr>
          <p:sp>
            <p:nvSpPr>
              <p:cNvPr id="876" name="Freeform 305"/>
              <p:cNvSpPr/>
              <p:nvPr/>
            </p:nvSpPr>
            <p:spPr>
              <a:xfrm>
                <a:off x="8145720" y="1589040"/>
                <a:ext cx="730800" cy="225000"/>
              </a:xfrm>
              <a:custGeom>
                <a:avLst/>
                <a:gdLst>
                  <a:gd name="textAreaLeft" fmla="*/ 0 w 730800"/>
                  <a:gd name="textAreaRight" fmla="*/ 731160 w 730800"/>
                  <a:gd name="textAreaTop" fmla="*/ 0 h 225000"/>
                  <a:gd name="textAreaBottom" fmla="*/ 225360 h 22500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7" name="Oval 306"/>
              <p:cNvSpPr/>
              <p:nvPr/>
            </p:nvSpPr>
            <p:spPr>
              <a:xfrm>
                <a:off x="8146080" y="1469880"/>
                <a:ext cx="729720" cy="2228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78" name="Group 307"/>
              <p:cNvGrpSpPr/>
              <p:nvPr/>
            </p:nvGrpSpPr>
            <p:grpSpPr>
              <a:xfrm>
                <a:off x="8254080" y="1497960"/>
                <a:ext cx="513720" cy="163440"/>
                <a:chOff x="8254080" y="1497960"/>
                <a:chExt cx="513720" cy="163440"/>
              </a:xfrm>
            </p:grpSpPr>
            <p:sp>
              <p:nvSpPr>
                <p:cNvPr id="879" name="Freeform 308"/>
                <p:cNvSpPr/>
                <p:nvPr/>
              </p:nvSpPr>
              <p:spPr>
                <a:xfrm>
                  <a:off x="8268480" y="1497960"/>
                  <a:ext cx="486000" cy="91440"/>
                </a:xfrm>
                <a:custGeom>
                  <a:avLst/>
                  <a:gdLst>
                    <a:gd name="textAreaLeft" fmla="*/ 0 w 486000"/>
                    <a:gd name="textAreaRight" fmla="*/ 486360 w 486000"/>
                    <a:gd name="textAreaTop" fmla="*/ 0 h 91440"/>
                    <a:gd name="textAreaBottom" fmla="*/ 91800 h 9144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80" name="Freeform 309"/>
                <p:cNvSpPr/>
                <p:nvPr/>
              </p:nvSpPr>
              <p:spPr>
                <a:xfrm>
                  <a:off x="8586720" y="1576440"/>
                  <a:ext cx="181080" cy="78480"/>
                </a:xfrm>
                <a:custGeom>
                  <a:avLst/>
                  <a:gdLst>
                    <a:gd name="textAreaLeft" fmla="*/ 0 w 181080"/>
                    <a:gd name="textAreaRight" fmla="*/ 181440 w 181080"/>
                    <a:gd name="textAreaTop" fmla="*/ 0 h 78480"/>
                    <a:gd name="textAreaBottom" fmla="*/ 78840 h 7848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81" name="Freeform 310"/>
                <p:cNvSpPr/>
                <p:nvPr/>
              </p:nvSpPr>
              <p:spPr>
                <a:xfrm>
                  <a:off x="8254080" y="1576440"/>
                  <a:ext cx="177840" cy="77760"/>
                </a:xfrm>
                <a:custGeom>
                  <a:avLst/>
                  <a:gdLst>
                    <a:gd name="textAreaLeft" fmla="*/ 0 w 177840"/>
                    <a:gd name="textAreaRight" fmla="*/ 178200 w 177840"/>
                    <a:gd name="textAreaTop" fmla="*/ 0 h 77760"/>
                    <a:gd name="textAreaBottom" fmla="*/ 78120 h 7776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33120" bIns="3312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82" name="Freeform 311"/>
                <p:cNvSpPr/>
                <p:nvPr/>
              </p:nvSpPr>
              <p:spPr>
                <a:xfrm>
                  <a:off x="8316000" y="1537920"/>
                  <a:ext cx="387360" cy="123480"/>
                </a:xfrm>
                <a:custGeom>
                  <a:avLst/>
                  <a:gdLst>
                    <a:gd name="textAreaLeft" fmla="*/ 0 w 387360"/>
                    <a:gd name="textAreaRight" fmla="*/ 387720 w 387360"/>
                    <a:gd name="textAreaTop" fmla="*/ 0 h 123480"/>
                    <a:gd name="textAreaBottom" fmla="*/ 123840 h 12348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grpSp>
          <p:nvGrpSpPr>
            <p:cNvPr id="883" name="Group 297"/>
            <p:cNvGrpSpPr/>
            <p:nvPr/>
          </p:nvGrpSpPr>
          <p:grpSpPr>
            <a:xfrm>
              <a:off x="9178560" y="1473120"/>
              <a:ext cx="730800" cy="344160"/>
              <a:chOff x="9178560" y="1473120"/>
              <a:chExt cx="730800" cy="344160"/>
            </a:xfrm>
          </p:grpSpPr>
          <p:sp>
            <p:nvSpPr>
              <p:cNvPr id="884" name="Freeform 298"/>
              <p:cNvSpPr/>
              <p:nvPr/>
            </p:nvSpPr>
            <p:spPr>
              <a:xfrm>
                <a:off x="9178560" y="1592280"/>
                <a:ext cx="730800" cy="225000"/>
              </a:xfrm>
              <a:custGeom>
                <a:avLst/>
                <a:gdLst>
                  <a:gd name="textAreaLeft" fmla="*/ 0 w 730800"/>
                  <a:gd name="textAreaRight" fmla="*/ 731160 w 730800"/>
                  <a:gd name="textAreaTop" fmla="*/ 0 h 225000"/>
                  <a:gd name="textAreaBottom" fmla="*/ 225360 h 225000"/>
                  <a:gd name="GluePoint1X" fmla="*/ 8165849 w 8166683"/>
                  <a:gd name="GluePoint1Y" fmla="*/ 7337 h 3099826"/>
                  <a:gd name="GluePoint2X" fmla="*/ 8166683 w 8166683"/>
                  <a:gd name="GluePoint2Y" fmla="*/ 1636654 h 3099826"/>
                  <a:gd name="GluePoint3X" fmla="*/ 4116250 w 8166683"/>
                  <a:gd name="GluePoint3Y" fmla="*/ 3099826 h 3099826"/>
                  <a:gd name="GluePoint4X" fmla="*/ 8764 w 8166683"/>
                  <a:gd name="GluePoint4Y" fmla="*/ 1634789 h 3099826"/>
                  <a:gd name="GluePoint5X" fmla="*/ 451 w 8166683"/>
                  <a:gd name="GluePoint5Y" fmla="*/ 0 h 3099826"/>
                  <a:gd name="GluePoint6X" fmla="*/ 4061168 w 8166683"/>
                  <a:gd name="GluePoint6Y" fmla="*/ 1438511 h 3099826"/>
                  <a:gd name="GluePoint7X" fmla="*/ 8165849 w 8166683"/>
                  <a:gd name="GluePoint7Y" fmla="*/ 7337 h 309982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</a:cxnLst>
                <a:rect l="textAreaLeft" t="textAreaTop" r="textAreaRight" b="textAreaBottom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" name="Oval 299"/>
              <p:cNvSpPr/>
              <p:nvPr/>
            </p:nvSpPr>
            <p:spPr>
              <a:xfrm>
                <a:off x="9179280" y="1473120"/>
                <a:ext cx="729720" cy="2228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rPr>
                  <a:t>             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86" name="Group 300"/>
              <p:cNvGrpSpPr/>
              <p:nvPr/>
            </p:nvGrpSpPr>
            <p:grpSpPr>
              <a:xfrm>
                <a:off x="9287280" y="1501560"/>
                <a:ext cx="513360" cy="163440"/>
                <a:chOff x="9287280" y="1501560"/>
                <a:chExt cx="513360" cy="163440"/>
              </a:xfrm>
            </p:grpSpPr>
            <p:sp>
              <p:nvSpPr>
                <p:cNvPr id="887" name="Freeform 301"/>
                <p:cNvSpPr/>
                <p:nvPr/>
              </p:nvSpPr>
              <p:spPr>
                <a:xfrm>
                  <a:off x="9301320" y="1501560"/>
                  <a:ext cx="486000" cy="91440"/>
                </a:xfrm>
                <a:custGeom>
                  <a:avLst/>
                  <a:gdLst>
                    <a:gd name="textAreaLeft" fmla="*/ 0 w 486000"/>
                    <a:gd name="textAreaRight" fmla="*/ 486360 w 486000"/>
                    <a:gd name="textAreaTop" fmla="*/ 0 h 91440"/>
                    <a:gd name="textAreaBottom" fmla="*/ 91800 h 91440"/>
                    <a:gd name="GluePoint1X" fmla="*/ 3756864 w 4673016"/>
                    <a:gd name="GluePoint1Y" fmla="*/ 0 h 1049866"/>
                    <a:gd name="GluePoint2X" fmla="*/ 4673016 w 4673016"/>
                    <a:gd name="GluePoint2Y" fmla="*/ 239402 h 1049866"/>
                    <a:gd name="GluePoint3X" fmla="*/ 3993931 w 4673016"/>
                    <a:gd name="GluePoint3Y" fmla="*/ 541866 h 1049866"/>
                    <a:gd name="GluePoint4X" fmla="*/ 3815839 w 4673016"/>
                    <a:gd name="GluePoint4Y" fmla="*/ 467710 h 1049866"/>
                    <a:gd name="GluePoint5X" fmla="*/ 2300598 w 4673016"/>
                    <a:gd name="GluePoint5Y" fmla="*/ 1049866 h 1049866"/>
                    <a:gd name="GluePoint6X" fmla="*/ 912064 w 4673016"/>
                    <a:gd name="GluePoint6Y" fmla="*/ 457200 h 1049866"/>
                    <a:gd name="GluePoint7X" fmla="*/ 624198 w 4673016"/>
                    <a:gd name="GluePoint7Y" fmla="*/ 541866 h 1049866"/>
                    <a:gd name="GluePoint8X" fmla="*/ 0 w 4673016"/>
                    <a:gd name="GluePoint8Y" fmla="*/ 275021 h 1049866"/>
                    <a:gd name="GluePoint9X" fmla="*/ 912064 w 4673016"/>
                    <a:gd name="GluePoint9Y" fmla="*/ 16933 h 1049866"/>
                    <a:gd name="GluePoint10X" fmla="*/ 2323954 w 4673016"/>
                    <a:gd name="GluePoint10Y" fmla="*/ 616023 h 1049866"/>
                    <a:gd name="GluePoint11X" fmla="*/ 3756864 w 4673016"/>
                    <a:gd name="GluePoint11Y" fmla="*/ 0 h 10498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textAreaLeft" t="textAreaTop" r="textAreaRight" b="textAreaBottom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88" name="Freeform 302"/>
                <p:cNvSpPr/>
                <p:nvPr/>
              </p:nvSpPr>
              <p:spPr>
                <a:xfrm>
                  <a:off x="9619560" y="1580040"/>
                  <a:ext cx="181080" cy="78480"/>
                </a:xfrm>
                <a:custGeom>
                  <a:avLst/>
                  <a:gdLst>
                    <a:gd name="textAreaLeft" fmla="*/ 0 w 181080"/>
                    <a:gd name="textAreaRight" fmla="*/ 181440 w 181080"/>
                    <a:gd name="textAreaTop" fmla="*/ 0 h 78480"/>
                    <a:gd name="textAreaBottom" fmla="*/ 78840 h 78480"/>
                    <a:gd name="GluePoint1X" fmla="*/ 21021 w 1744718"/>
                    <a:gd name="GluePoint1Y" fmla="*/ 0 h 903890"/>
                    <a:gd name="GluePoint2X" fmla="*/ 1744718 w 1744718"/>
                    <a:gd name="GluePoint2Y" fmla="*/ 693683 h 903890"/>
                    <a:gd name="GluePoint3X" fmla="*/ 1145628 w 1744718"/>
                    <a:gd name="GluePoint3Y" fmla="*/ 903890 h 903890"/>
                    <a:gd name="GluePoint4X" fmla="*/ 0 w 1744718"/>
                    <a:gd name="GluePoint4Y" fmla="*/ 451945 h 903890"/>
                    <a:gd name="GluePoint5X" fmla="*/ 21021 w 1744718"/>
                    <a:gd name="GluePoint5Y" fmla="*/ 0 h 90389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33840" bIns="3384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89" name="Freeform 303"/>
                <p:cNvSpPr/>
                <p:nvPr/>
              </p:nvSpPr>
              <p:spPr>
                <a:xfrm>
                  <a:off x="9287280" y="1580040"/>
                  <a:ext cx="177840" cy="77760"/>
                </a:xfrm>
                <a:custGeom>
                  <a:avLst/>
                  <a:gdLst>
                    <a:gd name="textAreaLeft" fmla="*/ 0 w 177840"/>
                    <a:gd name="textAreaRight" fmla="*/ 178200 w 177840"/>
                    <a:gd name="textAreaTop" fmla="*/ 0 h 77760"/>
                    <a:gd name="textAreaBottom" fmla="*/ 78120 h 77760"/>
                    <a:gd name="GluePoint1X" fmla="*/ 1702676 w 1713187"/>
                    <a:gd name="GluePoint1Y" fmla="*/ 0 h 893380"/>
                    <a:gd name="GluePoint2X" fmla="*/ 1713187 w 1713187"/>
                    <a:gd name="GluePoint2Y" fmla="*/ 472966 h 893380"/>
                    <a:gd name="GluePoint3X" fmla="*/ 578069 w 1713187"/>
                    <a:gd name="GluePoint3Y" fmla="*/ 893380 h 893380"/>
                    <a:gd name="GluePoint4X" fmla="*/ 0 w 1713187"/>
                    <a:gd name="GluePoint4Y" fmla="*/ 693683 h 893380"/>
                    <a:gd name="GluePoint5X" fmla="*/ 1702676 w 1713187"/>
                    <a:gd name="GluePoint5Y" fmla="*/ 0 h 8933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textAreaLeft" t="textAreaTop" r="textAreaRight" b="textAreaBottom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33120" bIns="3312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890" name="Freeform 304"/>
                <p:cNvSpPr/>
                <p:nvPr/>
              </p:nvSpPr>
              <p:spPr>
                <a:xfrm>
                  <a:off x="9349200" y="1541520"/>
                  <a:ext cx="387360" cy="123480"/>
                </a:xfrm>
                <a:custGeom>
                  <a:avLst/>
                  <a:gdLst>
                    <a:gd name="textAreaLeft" fmla="*/ 0 w 387360"/>
                    <a:gd name="textAreaRight" fmla="*/ 387720 w 387360"/>
                    <a:gd name="textAreaTop" fmla="*/ 0 h 123480"/>
                    <a:gd name="textAreaBottom" fmla="*/ 123840 h 123480"/>
                    <a:gd name="GluePoint1X" fmla="*/ 162012 w 3725019"/>
                    <a:gd name="GluePoint1Y" fmla="*/ 73572 h 1418896"/>
                    <a:gd name="GluePoint2X" fmla="*/ 445792 w 3725019"/>
                    <a:gd name="GluePoint2Y" fmla="*/ 0 h 1418896"/>
                    <a:gd name="GluePoint3X" fmla="*/ 1852896 w 3725019"/>
                    <a:gd name="GluePoint3Y" fmla="*/ 591655 h 1418896"/>
                    <a:gd name="GluePoint4X" fmla="*/ 3357157 w 3725019"/>
                    <a:gd name="GluePoint4Y" fmla="*/ 0 h 1418896"/>
                    <a:gd name="GluePoint5X" fmla="*/ 3577874 w 3725019"/>
                    <a:gd name="GluePoint5Y" fmla="*/ 73572 h 1418896"/>
                    <a:gd name="GluePoint6X" fmla="*/ 2632585 w 3725019"/>
                    <a:gd name="GluePoint6Y" fmla="*/ 448868 h 1418896"/>
                    <a:gd name="GluePoint7X" fmla="*/ 2625150 w 3725019"/>
                    <a:gd name="GluePoint7Y" fmla="*/ 902607 h 1418896"/>
                    <a:gd name="GluePoint8X" fmla="*/ 3725019 w 3725019"/>
                    <a:gd name="GluePoint8Y" fmla="*/ 1345324 h 1418896"/>
                    <a:gd name="GluePoint9X" fmla="*/ 3441240 w 3725019"/>
                    <a:gd name="GluePoint9Y" fmla="*/ 1408386 h 1418896"/>
                    <a:gd name="GluePoint10X" fmla="*/ 1864688 w 3725019"/>
                    <a:gd name="GluePoint10Y" fmla="*/ 746234 h 1418896"/>
                    <a:gd name="GluePoint11X" fmla="*/ 256605 w 3725019"/>
                    <a:gd name="GluePoint11Y" fmla="*/ 1418896 h 1418896"/>
                    <a:gd name="GluePoint12X" fmla="*/ 0 w 3725019"/>
                    <a:gd name="GluePoint12Y" fmla="*/ 1331097 h 1418896"/>
                    <a:gd name="GluePoint13X" fmla="*/ 1113454 w 3725019"/>
                    <a:gd name="GluePoint13Y" fmla="*/ 903890 h 1418896"/>
                    <a:gd name="GluePoint14X" fmla="*/ 1102302 w 3725019"/>
                    <a:gd name="GluePoint14Y" fmla="*/ 451945 h 1418896"/>
                    <a:gd name="GluePoint15X" fmla="*/ 183032 w 3725019"/>
                    <a:gd name="GluePoint15Y" fmla="*/ 84081 h 1418896"/>
                    <a:gd name="GluePoint16X" fmla="*/ 162012 w 3725019"/>
                    <a:gd name="GluePoint16Y" fmla="*/ 73572 h 14188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textAreaLeft" t="textAreaTop" r="textAreaRight" b="textAreaBottom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grpSp>
        <p:nvGrpSpPr>
          <p:cNvPr id="891" name="Group 352"/>
          <p:cNvGrpSpPr/>
          <p:nvPr/>
        </p:nvGrpSpPr>
        <p:grpSpPr>
          <a:xfrm>
            <a:off x="4068360" y="3304800"/>
            <a:ext cx="817200" cy="2981160"/>
            <a:chOff x="4068360" y="3304800"/>
            <a:chExt cx="817200" cy="2981160"/>
          </a:xfrm>
        </p:grpSpPr>
        <p:grpSp>
          <p:nvGrpSpPr>
            <p:cNvPr id="892" name="Group 212"/>
            <p:cNvGrpSpPr/>
            <p:nvPr/>
          </p:nvGrpSpPr>
          <p:grpSpPr>
            <a:xfrm>
              <a:off x="4104720" y="3413160"/>
              <a:ext cx="755280" cy="1441080"/>
              <a:chOff x="4104720" y="3413160"/>
              <a:chExt cx="755280" cy="1441080"/>
            </a:xfrm>
          </p:grpSpPr>
          <p:sp>
            <p:nvSpPr>
              <p:cNvPr id="893" name="Rectangle 183"/>
              <p:cNvSpPr/>
              <p:nvPr/>
            </p:nvSpPr>
            <p:spPr>
              <a:xfrm>
                <a:off x="4104720" y="3413160"/>
                <a:ext cx="732960" cy="1441080"/>
              </a:xfrm>
              <a:prstGeom prst="rect">
                <a:avLst/>
              </a:prstGeom>
              <a:solidFill>
                <a:srgbClr val="b5e7ff"/>
              </a:solidFill>
              <a:ln w="9525">
                <a:solidFill>
                  <a:srgbClr val="000000"/>
                </a:solidFill>
                <a:miter/>
              </a:ln>
              <a:effectLst>
                <a:outerShdw algn="bl" blurRad="50760" dir="18900000" dist="37674" rotWithShape="0">
                  <a:srgbClr val="000000">
                    <a:alpha val="40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894" name="Text Box 184"/>
              <p:cNvSpPr/>
              <p:nvPr/>
            </p:nvSpPr>
            <p:spPr>
              <a:xfrm>
                <a:off x="4128480" y="3441600"/>
                <a:ext cx="731520" cy="138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flow: X</a:t>
                </a: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src: A</a:t>
                </a: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dest: F</a:t>
                </a: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data</a:t>
                </a: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5" name="Line 194"/>
            <p:cNvSpPr/>
            <p:nvPr/>
          </p:nvSpPr>
          <p:spPr>
            <a:xfrm>
              <a:off x="4147560" y="3304800"/>
              <a:ext cx="688680" cy="36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96" name="Text Box 204"/>
            <p:cNvSpPr/>
            <p:nvPr/>
          </p:nvSpPr>
          <p:spPr>
            <a:xfrm>
              <a:off x="4068360" y="5778360"/>
              <a:ext cx="817200" cy="50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85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A-to-B: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5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IPv6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7" name="Line 205"/>
            <p:cNvSpPr/>
            <p:nvPr/>
          </p:nvSpPr>
          <p:spPr>
            <a:xfrm>
              <a:off x="4456800" y="5047920"/>
              <a:ext cx="360" cy="78588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898" name="Group 353"/>
          <p:cNvGrpSpPr/>
          <p:nvPr/>
        </p:nvGrpSpPr>
        <p:grpSpPr>
          <a:xfrm>
            <a:off x="5052600" y="3296880"/>
            <a:ext cx="1176120" cy="3319560"/>
            <a:chOff x="5052600" y="3296880"/>
            <a:chExt cx="1176120" cy="3319560"/>
          </a:xfrm>
        </p:grpSpPr>
        <p:grpSp>
          <p:nvGrpSpPr>
            <p:cNvPr id="899" name="Group 216"/>
            <p:cNvGrpSpPr/>
            <p:nvPr/>
          </p:nvGrpSpPr>
          <p:grpSpPr>
            <a:xfrm>
              <a:off x="5101560" y="3403440"/>
              <a:ext cx="925200" cy="2203200"/>
              <a:chOff x="5101560" y="3403440"/>
              <a:chExt cx="925200" cy="2203200"/>
            </a:xfrm>
          </p:grpSpPr>
          <p:sp>
            <p:nvSpPr>
              <p:cNvPr id="900" name="Rectangle 189"/>
              <p:cNvSpPr/>
              <p:nvPr/>
            </p:nvSpPr>
            <p:spPr>
              <a:xfrm>
                <a:off x="5101560" y="3413160"/>
                <a:ext cx="925200" cy="2193480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/>
              </a:ln>
              <a:effectLst>
                <a:outerShdw algn="bl" blurRad="50760" dir="18900000" dist="37674" rotWithShape="0">
                  <a:srgbClr val="000000">
                    <a:alpha val="40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grpSp>
            <p:nvGrpSpPr>
              <p:cNvPr id="901" name="Group 190"/>
              <p:cNvGrpSpPr/>
              <p:nvPr/>
            </p:nvGrpSpPr>
            <p:grpSpPr>
              <a:xfrm>
                <a:off x="5135040" y="4020840"/>
                <a:ext cx="782280" cy="1441080"/>
                <a:chOff x="5135040" y="4020840"/>
                <a:chExt cx="782280" cy="1441080"/>
              </a:xfrm>
            </p:grpSpPr>
            <p:sp>
              <p:nvSpPr>
                <p:cNvPr id="902" name="Rectangle 191"/>
                <p:cNvSpPr/>
                <p:nvPr/>
              </p:nvSpPr>
              <p:spPr>
                <a:xfrm>
                  <a:off x="5173200" y="4020840"/>
                  <a:ext cx="732960" cy="1441080"/>
                </a:xfrm>
                <a:prstGeom prst="rect">
                  <a:avLst/>
                </a:prstGeom>
                <a:solidFill>
                  <a:srgbClr val="b5e7ff"/>
                </a:solidFill>
                <a:ln w="9525">
                  <a:solidFill>
                    <a:srgbClr val="000000"/>
                  </a:solidFill>
                  <a:miter/>
                </a:ln>
                <a:effectLst>
                  <a:outerShdw algn="bl" blurRad="50760" dir="18900000" dist="37674" rotWithShape="0">
                    <a:srgbClr val="000000">
                      <a:alpha val="40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903" name="Text Box 192"/>
                <p:cNvSpPr/>
                <p:nvPr/>
              </p:nvSpPr>
              <p:spPr>
                <a:xfrm>
                  <a:off x="5135040" y="4049640"/>
                  <a:ext cx="782280" cy="1383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Flow: X</a:t>
                  </a:r>
                  <a:endPara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Src: A</a:t>
                  </a:r>
                  <a:endPara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Dest: F</a:t>
                  </a:r>
                  <a:endPara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data</a:t>
                  </a:r>
                  <a:endPara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904" name="Text Box 193"/>
              <p:cNvSpPr/>
              <p:nvPr/>
            </p:nvSpPr>
            <p:spPr>
              <a:xfrm>
                <a:off x="5106600" y="3403440"/>
                <a:ext cx="894960" cy="641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src:B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dest: E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05" name="Line 195"/>
            <p:cNvSpPr/>
            <p:nvPr/>
          </p:nvSpPr>
          <p:spPr>
            <a:xfrm>
              <a:off x="5233320" y="3296880"/>
              <a:ext cx="689040" cy="36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06" name="Text Box 208"/>
            <p:cNvSpPr/>
            <p:nvPr/>
          </p:nvSpPr>
          <p:spPr>
            <a:xfrm>
              <a:off x="5052600" y="5900760"/>
              <a:ext cx="1176120" cy="71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85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B-to-C: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5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IPv6 inside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5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IPv4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7" name="Line 209"/>
            <p:cNvSpPr/>
            <p:nvPr/>
          </p:nvSpPr>
          <p:spPr>
            <a:xfrm>
              <a:off x="5618880" y="5641560"/>
              <a:ext cx="360" cy="18432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908" name="Group 355"/>
          <p:cNvGrpSpPr/>
          <p:nvPr/>
        </p:nvGrpSpPr>
        <p:grpSpPr>
          <a:xfrm>
            <a:off x="8670600" y="3300120"/>
            <a:ext cx="880920" cy="2998440"/>
            <a:chOff x="8670600" y="3300120"/>
            <a:chExt cx="880920" cy="2998440"/>
          </a:xfrm>
        </p:grpSpPr>
        <p:sp>
          <p:nvSpPr>
            <p:cNvPr id="909" name="Line 197"/>
            <p:cNvSpPr/>
            <p:nvPr/>
          </p:nvSpPr>
          <p:spPr>
            <a:xfrm>
              <a:off x="8735760" y="3300120"/>
              <a:ext cx="688680" cy="36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10" name="Text Box 206"/>
            <p:cNvSpPr/>
            <p:nvPr/>
          </p:nvSpPr>
          <p:spPr>
            <a:xfrm>
              <a:off x="8745480" y="5790960"/>
              <a:ext cx="806040" cy="50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85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E-to-F: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5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IPv6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1" name="Line 207"/>
            <p:cNvSpPr/>
            <p:nvPr/>
          </p:nvSpPr>
          <p:spPr>
            <a:xfrm>
              <a:off x="9129240" y="5060520"/>
              <a:ext cx="360" cy="78588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912" name="Group 213"/>
            <p:cNvGrpSpPr/>
            <p:nvPr/>
          </p:nvGrpSpPr>
          <p:grpSpPr>
            <a:xfrm>
              <a:off x="8670600" y="3421080"/>
              <a:ext cx="747360" cy="1441080"/>
              <a:chOff x="8670600" y="3421080"/>
              <a:chExt cx="747360" cy="1441080"/>
            </a:xfrm>
          </p:grpSpPr>
          <p:sp>
            <p:nvSpPr>
              <p:cNvPr id="913" name="Rectangle 214"/>
              <p:cNvSpPr/>
              <p:nvPr/>
            </p:nvSpPr>
            <p:spPr>
              <a:xfrm>
                <a:off x="8685000" y="3421080"/>
                <a:ext cx="732960" cy="1441080"/>
              </a:xfrm>
              <a:prstGeom prst="rect">
                <a:avLst/>
              </a:prstGeom>
              <a:solidFill>
                <a:srgbClr val="b5e7ff"/>
              </a:solidFill>
              <a:ln w="9525">
                <a:solidFill>
                  <a:srgbClr val="000000"/>
                </a:solidFill>
                <a:miter/>
              </a:ln>
              <a:effectLst>
                <a:outerShdw algn="bl" blurRad="50760" dir="18900000" dist="37674" rotWithShape="0">
                  <a:srgbClr val="000000">
                    <a:alpha val="40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914" name="Text Box 215"/>
              <p:cNvSpPr/>
              <p:nvPr/>
            </p:nvSpPr>
            <p:spPr>
              <a:xfrm>
                <a:off x="8670600" y="3460680"/>
                <a:ext cx="731520" cy="1383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flow: X</a:t>
                </a: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src: A</a:t>
                </a: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dest: F</a:t>
                </a: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data</a:t>
                </a:r>
                <a:endParaRPr b="0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915" name="Group 354"/>
          <p:cNvGrpSpPr/>
          <p:nvPr/>
        </p:nvGrpSpPr>
        <p:grpSpPr>
          <a:xfrm>
            <a:off x="7489440" y="3298680"/>
            <a:ext cx="1176120" cy="3330360"/>
            <a:chOff x="7489440" y="3298680"/>
            <a:chExt cx="1176120" cy="3330360"/>
          </a:xfrm>
        </p:grpSpPr>
        <p:sp>
          <p:nvSpPr>
            <p:cNvPr id="916" name="Line 196"/>
            <p:cNvSpPr/>
            <p:nvPr/>
          </p:nvSpPr>
          <p:spPr>
            <a:xfrm>
              <a:off x="7679880" y="3298680"/>
              <a:ext cx="689040" cy="36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17" name="Text Box 210"/>
            <p:cNvSpPr/>
            <p:nvPr/>
          </p:nvSpPr>
          <p:spPr>
            <a:xfrm>
              <a:off x="7489440" y="5913360"/>
              <a:ext cx="1176120" cy="71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85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D-to-E: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5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IPv6 inside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85000"/>
                </a:lnSpc>
                <a:tabLst>
                  <a:tab algn="l" pos="0"/>
                </a:tabLst>
              </a:pP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IPv4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8" name="Line 211"/>
            <p:cNvSpPr/>
            <p:nvPr/>
          </p:nvSpPr>
          <p:spPr>
            <a:xfrm>
              <a:off x="8086320" y="5698800"/>
              <a:ext cx="360" cy="18432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919" name="Group 217"/>
            <p:cNvGrpSpPr/>
            <p:nvPr/>
          </p:nvGrpSpPr>
          <p:grpSpPr>
            <a:xfrm>
              <a:off x="7570440" y="3444840"/>
              <a:ext cx="925200" cy="2202840"/>
              <a:chOff x="7570440" y="3444840"/>
              <a:chExt cx="925200" cy="2202840"/>
            </a:xfrm>
          </p:grpSpPr>
          <p:sp>
            <p:nvSpPr>
              <p:cNvPr id="920" name="Rectangle 218"/>
              <p:cNvSpPr/>
              <p:nvPr/>
            </p:nvSpPr>
            <p:spPr>
              <a:xfrm>
                <a:off x="7570440" y="3454200"/>
                <a:ext cx="925200" cy="2193480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/>
              </a:ln>
              <a:effectLst>
                <a:outerShdw algn="bl" blurRad="50760" dir="18900000" dist="37674" rotWithShape="0">
                  <a:srgbClr val="000000">
                    <a:alpha val="40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grpSp>
            <p:nvGrpSpPr>
              <p:cNvPr id="921" name="Group 219"/>
              <p:cNvGrpSpPr/>
              <p:nvPr/>
            </p:nvGrpSpPr>
            <p:grpSpPr>
              <a:xfrm>
                <a:off x="7603920" y="4062240"/>
                <a:ext cx="782280" cy="1441080"/>
                <a:chOff x="7603920" y="4062240"/>
                <a:chExt cx="782280" cy="1441080"/>
              </a:xfrm>
            </p:grpSpPr>
            <p:sp>
              <p:nvSpPr>
                <p:cNvPr id="922" name="Rectangle 220"/>
                <p:cNvSpPr/>
                <p:nvPr/>
              </p:nvSpPr>
              <p:spPr>
                <a:xfrm>
                  <a:off x="7642080" y="4062240"/>
                  <a:ext cx="732960" cy="1441080"/>
                </a:xfrm>
                <a:prstGeom prst="rect">
                  <a:avLst/>
                </a:prstGeom>
                <a:solidFill>
                  <a:srgbClr val="b5e7ff"/>
                </a:solidFill>
                <a:ln w="9525">
                  <a:solidFill>
                    <a:srgbClr val="000000"/>
                  </a:solidFill>
                  <a:miter/>
                </a:ln>
                <a:effectLst>
                  <a:outerShdw algn="bl" blurRad="50760" dir="18900000" dist="37674" rotWithShape="0">
                    <a:srgbClr val="000000">
                      <a:alpha val="40000"/>
                    </a:srgbClr>
                  </a:outerShdw>
                </a:effectLst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923" name="Text Box 221"/>
                <p:cNvSpPr/>
                <p:nvPr/>
              </p:nvSpPr>
              <p:spPr>
                <a:xfrm>
                  <a:off x="7603920" y="4090680"/>
                  <a:ext cx="782280" cy="13838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Flow: X</a:t>
                  </a:r>
                  <a:endPara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Src: A</a:t>
                  </a:r>
                  <a:endPara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Dest: F</a:t>
                  </a:r>
                  <a:endPara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data</a:t>
                  </a:r>
                  <a:endParaRPr b="0" lang="en-U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924" name="Text Box 222"/>
              <p:cNvSpPr/>
              <p:nvPr/>
            </p:nvSpPr>
            <p:spPr>
              <a:xfrm>
                <a:off x="7575480" y="3444840"/>
                <a:ext cx="894960" cy="641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src:B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ＭＳ Ｐゴシック"/>
                  </a:rPr>
                  <a:t>dest: E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25" name="Rectangle 1"/>
          <p:cNvSpPr/>
          <p:nvPr/>
        </p:nvSpPr>
        <p:spPr>
          <a:xfrm>
            <a:off x="5400720" y="1522800"/>
            <a:ext cx="45360" cy="210240"/>
          </a:xfrm>
          <a:prstGeom prst="rect">
            <a:avLst/>
          </a:prstGeom>
          <a:solidFill>
            <a:srgbClr val="cc0001"/>
          </a:solidFill>
          <a:ln>
            <a:solidFill>
              <a:srgbClr val="cc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26" name="Rectangle 161"/>
          <p:cNvSpPr/>
          <p:nvPr/>
        </p:nvSpPr>
        <p:spPr>
          <a:xfrm>
            <a:off x="8135640" y="1540440"/>
            <a:ext cx="45360" cy="210240"/>
          </a:xfrm>
          <a:prstGeom prst="rect">
            <a:avLst/>
          </a:prstGeom>
          <a:solidFill>
            <a:srgbClr val="cc0001"/>
          </a:solidFill>
          <a:ln>
            <a:solidFill>
              <a:srgbClr val="cc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27" name="Rectangle 162"/>
          <p:cNvSpPr/>
          <p:nvPr/>
        </p:nvSpPr>
        <p:spPr>
          <a:xfrm>
            <a:off x="5408640" y="2639160"/>
            <a:ext cx="45360" cy="210240"/>
          </a:xfrm>
          <a:prstGeom prst="rect">
            <a:avLst/>
          </a:prstGeom>
          <a:solidFill>
            <a:srgbClr val="cc0001"/>
          </a:solidFill>
          <a:ln>
            <a:solidFill>
              <a:srgbClr val="cc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28" name="Rectangle 165"/>
          <p:cNvSpPr/>
          <p:nvPr/>
        </p:nvSpPr>
        <p:spPr>
          <a:xfrm>
            <a:off x="8123400" y="2663280"/>
            <a:ext cx="45360" cy="210240"/>
          </a:xfrm>
          <a:prstGeom prst="rect">
            <a:avLst/>
          </a:prstGeom>
          <a:solidFill>
            <a:srgbClr val="cc0001"/>
          </a:solidFill>
          <a:ln>
            <a:solidFill>
              <a:srgbClr val="cc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grpSp>
        <p:nvGrpSpPr>
          <p:cNvPr id="929" name="Group 13"/>
          <p:cNvGrpSpPr/>
          <p:nvPr/>
        </p:nvGrpSpPr>
        <p:grpSpPr>
          <a:xfrm>
            <a:off x="1285200" y="3401280"/>
            <a:ext cx="8091000" cy="2055240"/>
            <a:chOff x="1285200" y="3401280"/>
            <a:chExt cx="8091000" cy="2055240"/>
          </a:xfrm>
        </p:grpSpPr>
        <p:grpSp>
          <p:nvGrpSpPr>
            <p:cNvPr id="930" name="Group 16"/>
            <p:cNvGrpSpPr/>
            <p:nvPr/>
          </p:nvGrpSpPr>
          <p:grpSpPr>
            <a:xfrm>
              <a:off x="1285200" y="3401280"/>
              <a:ext cx="8091000" cy="2055240"/>
              <a:chOff x="1285200" y="3401280"/>
              <a:chExt cx="8091000" cy="2055240"/>
            </a:xfrm>
          </p:grpSpPr>
          <p:grpSp>
            <p:nvGrpSpPr>
              <p:cNvPr id="931" name="Group 15"/>
              <p:cNvGrpSpPr/>
              <p:nvPr/>
            </p:nvGrpSpPr>
            <p:grpSpPr>
              <a:xfrm>
                <a:off x="1285200" y="3401280"/>
                <a:ext cx="8091000" cy="2055240"/>
                <a:chOff x="1285200" y="3401280"/>
                <a:chExt cx="8091000" cy="2055240"/>
              </a:xfrm>
            </p:grpSpPr>
            <p:sp>
              <p:nvSpPr>
                <p:cNvPr id="932" name="Oval 7"/>
                <p:cNvSpPr/>
                <p:nvPr/>
              </p:nvSpPr>
              <p:spPr>
                <a:xfrm>
                  <a:off x="4092840" y="3686040"/>
                  <a:ext cx="715320" cy="529560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933" name="Oval 347"/>
                <p:cNvSpPr/>
                <p:nvPr/>
              </p:nvSpPr>
              <p:spPr>
                <a:xfrm>
                  <a:off x="5029200" y="3401280"/>
                  <a:ext cx="1023480" cy="668880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934" name="Oval 348"/>
                <p:cNvSpPr/>
                <p:nvPr/>
              </p:nvSpPr>
              <p:spPr>
                <a:xfrm>
                  <a:off x="7518600" y="3447720"/>
                  <a:ext cx="973800" cy="668880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935" name="Oval 349"/>
                <p:cNvSpPr/>
                <p:nvPr/>
              </p:nvSpPr>
              <p:spPr>
                <a:xfrm>
                  <a:off x="8660880" y="3693960"/>
                  <a:ext cx="715320" cy="542160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936" name="TextBox 8"/>
                <p:cNvSpPr/>
                <p:nvPr/>
              </p:nvSpPr>
              <p:spPr>
                <a:xfrm>
                  <a:off x="1285200" y="4441320"/>
                  <a:ext cx="1932840" cy="10152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2000" strike="noStrike" u="none">
                      <a:solidFill>
                        <a:srgbClr val="000000"/>
                      </a:solidFill>
                      <a:effectLst/>
                      <a:uFillTx/>
                      <a:latin typeface="Calibri"/>
                    </a:rPr>
                    <a:t>Note source and destination addresses!</a:t>
                  </a: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937" name="Straight Connector 11"/>
                <p:cNvCxnSpPr/>
                <p:nvPr/>
              </p:nvCxnSpPr>
              <p:spPr>
                <a:xfrm flipH="1">
                  <a:off x="3218040" y="3951000"/>
                  <a:ext cx="875160" cy="998640"/>
                </a:xfrm>
                <a:prstGeom prst="straightConnector1">
                  <a:avLst/>
                </a:prstGeom>
                <a:ln w="0">
                  <a:solidFill>
                    <a:srgbClr val="000000"/>
                  </a:solidFill>
                </a:ln>
              </p:spPr>
            </p:cxnSp>
            <p:cxnSp>
              <p:nvCxnSpPr>
                <p:cNvPr id="938" name="Straight Connector 350"/>
                <p:cNvCxnSpPr/>
                <p:nvPr/>
              </p:nvCxnSpPr>
              <p:spPr>
                <a:xfrm flipH="1">
                  <a:off x="3218040" y="3705840"/>
                  <a:ext cx="1769760" cy="1243800"/>
                </a:xfrm>
                <a:prstGeom prst="straightConnector1">
                  <a:avLst/>
                </a:prstGeom>
                <a:ln w="0">
                  <a:solidFill>
                    <a:srgbClr val="000000"/>
                  </a:solidFill>
                </a:ln>
              </p:spPr>
            </p:cxnSp>
            <p:cxnSp>
              <p:nvCxnSpPr>
                <p:cNvPr id="939" name="Straight Connector 351"/>
                <p:cNvCxnSpPr/>
                <p:nvPr/>
              </p:nvCxnSpPr>
              <p:spPr>
                <a:xfrm flipH="1">
                  <a:off x="3218040" y="3782160"/>
                  <a:ext cx="4300920" cy="1167480"/>
                </a:xfrm>
                <a:prstGeom prst="straightConnector1">
                  <a:avLst/>
                </a:prstGeom>
                <a:ln w="0">
                  <a:solidFill>
                    <a:srgbClr val="000000"/>
                  </a:solidFill>
                </a:ln>
              </p:spPr>
            </p:cxnSp>
          </p:grpSp>
          <p:cxnSp>
            <p:nvCxnSpPr>
              <p:cNvPr id="940" name="Straight Connector 352"/>
              <p:cNvCxnSpPr/>
              <p:nvPr/>
            </p:nvCxnSpPr>
            <p:spPr>
              <a:xfrm flipH="1">
                <a:off x="3218040" y="3965040"/>
                <a:ext cx="5443200" cy="984600"/>
              </a:xfrm>
              <a:prstGeom prst="straightConnector1">
                <a:avLst/>
              </a:prstGeom>
              <a:ln w="0">
                <a:solidFill>
                  <a:srgbClr val="000000"/>
                </a:solidFill>
              </a:ln>
            </p:spPr>
          </p:cxnSp>
        </p:grpSp>
        <p:sp>
          <p:nvSpPr>
            <p:cNvPr id="941" name="Oval 184"/>
            <p:cNvSpPr/>
            <p:nvPr/>
          </p:nvSpPr>
          <p:spPr>
            <a:xfrm>
              <a:off x="6324480" y="3407040"/>
              <a:ext cx="1023480" cy="66888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942" name="Straight Connector 190"/>
            <p:cNvCxnSpPr>
              <a:endCxn id="936" idx="3"/>
            </p:cNvCxnSpPr>
            <p:nvPr/>
          </p:nvCxnSpPr>
          <p:spPr>
            <a:xfrm flipH="1">
              <a:off x="3218040" y="3870720"/>
              <a:ext cx="3183120" cy="1078560"/>
            </a:xfrm>
            <a:prstGeom prst="straightConnector1">
              <a:avLst/>
            </a:prstGeom>
            <a:ln w="0">
              <a:solidFill>
                <a:srgbClr val="000000"/>
              </a:solidFill>
            </a:ln>
          </p:spPr>
        </p:cxnSp>
      </p:grpSp>
      <p:sp>
        <p:nvSpPr>
          <p:cNvPr id="943" name="PlaceHolder 2"/>
          <p:cNvSpPr>
            <a:spLocks noGrp="1"/>
          </p:cNvSpPr>
          <p:nvPr>
            <p:ph type="sldNum" idx="62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Network Layer: 4-</a:t>
            </a:r>
            <a:fld id="{3FFB7930-9194-42B9-AF49-CF739B9F2CF4}" type="slidenum">
              <a:rPr b="0" lang="en-US" sz="11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26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6" dur="indefinite" restart="never" nodeType="tmRoot">
          <p:childTnLst>
            <p:seq>
              <p:cTn id="397" dur="indefinite" nodeType="mainSeq">
                <p:childTnLst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02" dur="500"/>
                                        <p:tgtEl>
                                          <p:spTgt spid="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07" dur="5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12"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17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22"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27" dur="500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badi"/>
              </a:rPr>
              <a:t>IPV6 TUNNELING AND ENCAPSULATION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5" name="Rectangle 3"/>
          <p:cNvSpPr/>
          <p:nvPr/>
        </p:nvSpPr>
        <p:spPr>
          <a:xfrm>
            <a:off x="622440" y="5477400"/>
            <a:ext cx="11392920" cy="12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69800" indent="-45720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Calibri Light"/>
              <a:buAutoNum type="arabicPeriod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What is the source address of this F to b datagram?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 indent="-45720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Calibri Light"/>
              <a:buAutoNum type="arabicPeriod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What is the destination address of this F to b datagram??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6" name="Picture 2" descr=""/>
          <p:cNvPicPr/>
          <p:nvPr/>
        </p:nvPicPr>
        <p:blipFill>
          <a:blip r:embed="rId1"/>
          <a:stretch/>
        </p:blipFill>
        <p:spPr>
          <a:xfrm>
            <a:off x="-183600" y="872640"/>
            <a:ext cx="12558600" cy="345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7" name="TextBox 3"/>
          <p:cNvSpPr/>
          <p:nvPr/>
        </p:nvSpPr>
        <p:spPr>
          <a:xfrm>
            <a:off x="475200" y="4441680"/>
            <a:ext cx="111621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Suppose that a host of subnet D wants to send an IPv6 datagram to a host on subnet B.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Assume that the forwarding between these two hosts goes along the path: D --&gt; F --&gt; b --&gt; d --&gt; c --&gt; 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428" dur="indefinite" restart="never" nodeType="tmRoot">
          <p:childTnLst>
            <p:seq>
              <p:cTn id="429" dur="indefinite" nodeType="mainSeq">
                <p:childTnLst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34" dur="500"/>
                                        <p:tgtEl>
                                          <p:spTgt spid="9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39" dur="500"/>
                                        <p:tgtEl>
                                          <p:spTgt spid="9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badi"/>
              </a:rPr>
              <a:t>IPV6 TUNNELING AND ENCAPSULATION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9" name="Rectangle 3"/>
          <p:cNvSpPr/>
          <p:nvPr/>
        </p:nvSpPr>
        <p:spPr>
          <a:xfrm>
            <a:off x="471240" y="5067720"/>
            <a:ext cx="11392920" cy="12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12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3.  What is the source address of this encapsulated datagram in this F to b datagram?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4.  What is the destination address of this encapsulated datagram in this F to b datagram?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0" name="Picture 2" descr=""/>
          <p:cNvPicPr/>
          <p:nvPr/>
        </p:nvPicPr>
        <p:blipFill>
          <a:blip r:embed="rId1"/>
          <a:stretch/>
        </p:blipFill>
        <p:spPr>
          <a:xfrm>
            <a:off x="-170280" y="1184040"/>
            <a:ext cx="12675600" cy="3485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440" dur="indefinite" restart="never" nodeType="tmRoot">
          <p:childTnLst>
            <p:seq>
              <p:cTn id="441" dur="indefinite" nodeType="mainSeq">
                <p:childTnLst>
                  <p:par>
                    <p:cTn id="442" fill="hold">
                      <p:stCondLst>
                        <p:cond delay="indefinite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46" dur="500"/>
                                        <p:tgtEl>
                                          <p:spTgt spid="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75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Network layer: “control plane” roadmap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52" name="Picture 5" descr="A train crossing a bridge over a body of water&#10;&#10;Description automatically generated"/>
          <p:cNvPicPr/>
          <p:nvPr/>
        </p:nvPicPr>
        <p:blipFill>
          <a:blip r:embed="rId1"/>
          <a:stretch/>
        </p:blipFill>
        <p:spPr>
          <a:xfrm>
            <a:off x="8015400" y="1379160"/>
            <a:ext cx="3102120" cy="23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3" name="Rectangle 4"/>
          <p:cNvSpPr/>
          <p:nvPr/>
        </p:nvSpPr>
        <p:spPr>
          <a:xfrm>
            <a:off x="622440" y="1361520"/>
            <a:ext cx="5571360" cy="50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introduction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routing protocols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6280" indent="-2728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link state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6280" indent="-2728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distance vector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intra-ISP routing: OSPF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routing among ISPs: BGP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SDN control plane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Internet Control Message Protocol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6560" indent="-409680" defTabSz="914400">
              <a:lnSpc>
                <a:spcPct val="90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PlaceHolder 2"/>
          <p:cNvSpPr>
            <a:spLocks noGrp="1"/>
          </p:cNvSpPr>
          <p:nvPr>
            <p:ph type="sldNum" idx="63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F99BD917-176E-4B85-A08D-0521380C1C92}" type="slidenum"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29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title"/>
          </p:nvPr>
        </p:nvSpPr>
        <p:spPr>
          <a:xfrm>
            <a:off x="838080" y="348480"/>
            <a:ext cx="686016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Graph abstraction: link costs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6" name="PlaceHolder 2"/>
          <p:cNvSpPr>
            <a:spLocks noGrp="1"/>
          </p:cNvSpPr>
          <p:nvPr>
            <p:ph type="sldNum" idx="64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C0E0CB62-C515-4C8A-A3B5-3E2B3815E9EC}" type="slidenum"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29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57" name="Group 2"/>
          <p:cNvGrpSpPr/>
          <p:nvPr/>
        </p:nvGrpSpPr>
        <p:grpSpPr>
          <a:xfrm>
            <a:off x="1238760" y="1288440"/>
            <a:ext cx="3571560" cy="2236320"/>
            <a:chOff x="1238760" y="1288440"/>
            <a:chExt cx="3571560" cy="2236320"/>
          </a:xfrm>
        </p:grpSpPr>
        <p:sp>
          <p:nvSpPr>
            <p:cNvPr id="958" name="Freeform 3"/>
            <p:cNvSpPr/>
            <p:nvPr/>
          </p:nvSpPr>
          <p:spPr>
            <a:xfrm>
              <a:off x="1238760" y="1288440"/>
              <a:ext cx="3571560" cy="2236320"/>
            </a:xfrm>
            <a:custGeom>
              <a:avLst/>
              <a:gdLst>
                <a:gd name="textAreaLeft" fmla="*/ 0 w 3571560"/>
                <a:gd name="textAreaRight" fmla="*/ 3571920 w 3571560"/>
                <a:gd name="textAreaTop" fmla="*/ 0 h 2236320"/>
                <a:gd name="textAreaBottom" fmla="*/ 2236680 h 22363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59" name="Freeform 4"/>
            <p:cNvSpPr/>
            <p:nvPr/>
          </p:nvSpPr>
          <p:spPr>
            <a:xfrm>
              <a:off x="1772280" y="216000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60" name="Oval 5"/>
            <p:cNvSpPr/>
            <p:nvPr/>
          </p:nvSpPr>
          <p:spPr>
            <a:xfrm>
              <a:off x="1359360" y="25441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61" name="Line 6"/>
            <p:cNvSpPr/>
            <p:nvPr/>
          </p:nvSpPr>
          <p:spPr>
            <a:xfrm>
              <a:off x="1359360" y="253296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62" name="Line 7"/>
            <p:cNvSpPr/>
            <p:nvPr/>
          </p:nvSpPr>
          <p:spPr>
            <a:xfrm>
              <a:off x="1856160" y="253296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63" name="Rectangle 8"/>
            <p:cNvSpPr/>
            <p:nvPr/>
          </p:nvSpPr>
          <p:spPr>
            <a:xfrm>
              <a:off x="1359360" y="25329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64" name="Oval 9"/>
            <p:cNvSpPr/>
            <p:nvPr/>
          </p:nvSpPr>
          <p:spPr>
            <a:xfrm>
              <a:off x="1354680" y="24393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65" name="Oval 10"/>
            <p:cNvSpPr/>
            <p:nvPr/>
          </p:nvSpPr>
          <p:spPr>
            <a:xfrm>
              <a:off x="2112120" y="31586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66" name="Line 11"/>
            <p:cNvSpPr/>
            <p:nvPr/>
          </p:nvSpPr>
          <p:spPr>
            <a:xfrm>
              <a:off x="2111760" y="31474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67" name="Line 12"/>
            <p:cNvSpPr/>
            <p:nvPr/>
          </p:nvSpPr>
          <p:spPr>
            <a:xfrm>
              <a:off x="2608560" y="31474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68" name="Rectangle 13"/>
            <p:cNvSpPr/>
            <p:nvPr/>
          </p:nvSpPr>
          <p:spPr>
            <a:xfrm>
              <a:off x="2112120" y="31474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69" name="Oval 14"/>
            <p:cNvSpPr/>
            <p:nvPr/>
          </p:nvSpPr>
          <p:spPr>
            <a:xfrm>
              <a:off x="2107080" y="30538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70" name="Oval 15"/>
            <p:cNvSpPr/>
            <p:nvPr/>
          </p:nvSpPr>
          <p:spPr>
            <a:xfrm>
              <a:off x="2105640" y="206316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71" name="Line 16"/>
            <p:cNvSpPr/>
            <p:nvPr/>
          </p:nvSpPr>
          <p:spPr>
            <a:xfrm>
              <a:off x="2105280" y="205200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72" name="Line 17"/>
            <p:cNvSpPr/>
            <p:nvPr/>
          </p:nvSpPr>
          <p:spPr>
            <a:xfrm>
              <a:off x="2602440" y="205200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73" name="Rectangle 18"/>
            <p:cNvSpPr/>
            <p:nvPr/>
          </p:nvSpPr>
          <p:spPr>
            <a:xfrm>
              <a:off x="2105640" y="205200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74" name="Oval 19"/>
            <p:cNvSpPr/>
            <p:nvPr/>
          </p:nvSpPr>
          <p:spPr>
            <a:xfrm>
              <a:off x="2100960" y="195840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75" name="Oval 20"/>
            <p:cNvSpPr/>
            <p:nvPr/>
          </p:nvSpPr>
          <p:spPr>
            <a:xfrm>
              <a:off x="3189960" y="205704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76" name="Line 21"/>
            <p:cNvSpPr/>
            <p:nvPr/>
          </p:nvSpPr>
          <p:spPr>
            <a:xfrm>
              <a:off x="3189600" y="20455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77" name="Line 22"/>
            <p:cNvSpPr/>
            <p:nvPr/>
          </p:nvSpPr>
          <p:spPr>
            <a:xfrm>
              <a:off x="3684960" y="20455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78" name="Rectangle 23"/>
            <p:cNvSpPr/>
            <p:nvPr/>
          </p:nvSpPr>
          <p:spPr>
            <a:xfrm>
              <a:off x="3189960" y="204588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79" name="Oval 24"/>
            <p:cNvSpPr/>
            <p:nvPr/>
          </p:nvSpPr>
          <p:spPr>
            <a:xfrm>
              <a:off x="3194640" y="195696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80" name="Oval 25"/>
            <p:cNvSpPr/>
            <p:nvPr/>
          </p:nvSpPr>
          <p:spPr>
            <a:xfrm>
              <a:off x="3205800" y="315396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81" name="Line 26"/>
            <p:cNvSpPr/>
            <p:nvPr/>
          </p:nvSpPr>
          <p:spPr>
            <a:xfrm>
              <a:off x="3205440" y="314244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82" name="Line 27"/>
            <p:cNvSpPr/>
            <p:nvPr/>
          </p:nvSpPr>
          <p:spPr>
            <a:xfrm>
              <a:off x="3702600" y="314244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83" name="Rectangle 28"/>
            <p:cNvSpPr/>
            <p:nvPr/>
          </p:nvSpPr>
          <p:spPr>
            <a:xfrm>
              <a:off x="3205800" y="314280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84" name="Oval 29"/>
            <p:cNvSpPr/>
            <p:nvPr/>
          </p:nvSpPr>
          <p:spPr>
            <a:xfrm>
              <a:off x="3201120" y="304920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85" name="Oval 30"/>
            <p:cNvSpPr/>
            <p:nvPr/>
          </p:nvSpPr>
          <p:spPr>
            <a:xfrm>
              <a:off x="4102560" y="26125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86" name="Line 31"/>
            <p:cNvSpPr/>
            <p:nvPr/>
          </p:nvSpPr>
          <p:spPr>
            <a:xfrm>
              <a:off x="4102560" y="260136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87" name="Line 32"/>
            <p:cNvSpPr/>
            <p:nvPr/>
          </p:nvSpPr>
          <p:spPr>
            <a:xfrm>
              <a:off x="4599360" y="260136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88" name="Rectangle 33"/>
            <p:cNvSpPr/>
            <p:nvPr/>
          </p:nvSpPr>
          <p:spPr>
            <a:xfrm>
              <a:off x="4102560" y="26013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89" name="Oval 34"/>
            <p:cNvSpPr/>
            <p:nvPr/>
          </p:nvSpPr>
          <p:spPr>
            <a:xfrm>
              <a:off x="4097880" y="25077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90" name="Freeform 35"/>
            <p:cNvSpPr/>
            <p:nvPr/>
          </p:nvSpPr>
          <p:spPr>
            <a:xfrm>
              <a:off x="3453480" y="220284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91" name="Freeform 36"/>
            <p:cNvSpPr/>
            <p:nvPr/>
          </p:nvSpPr>
          <p:spPr>
            <a:xfrm>
              <a:off x="2353320" y="2212560"/>
              <a:ext cx="1080" cy="8521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52120"/>
                <a:gd name="textAreaBottom" fmla="*/ 852480 h 85212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92" name="Freeform 37"/>
            <p:cNvSpPr/>
            <p:nvPr/>
          </p:nvSpPr>
          <p:spPr>
            <a:xfrm>
              <a:off x="2615400" y="2188800"/>
              <a:ext cx="799920" cy="9522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952200"/>
                <a:gd name="textAreaBottom" fmla="*/ 952560 h 952200"/>
                <a:gd name="GluePoint1X" fmla="*/ 0 w 378"/>
                <a:gd name="GluePoint1Y" fmla="*/ 11993521 h 174"/>
                <a:gd name="GluePoint2X" fmla="*/ 5035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93" name="Freeform 38"/>
            <p:cNvSpPr/>
            <p:nvPr/>
          </p:nvSpPr>
          <p:spPr>
            <a:xfrm>
              <a:off x="3705840" y="274104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94" name="Freeform 39"/>
            <p:cNvSpPr/>
            <p:nvPr/>
          </p:nvSpPr>
          <p:spPr>
            <a:xfrm>
              <a:off x="2624760" y="318888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43560" bIns="-43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95" name="Freeform 40"/>
            <p:cNvSpPr/>
            <p:nvPr/>
          </p:nvSpPr>
          <p:spPr>
            <a:xfrm>
              <a:off x="1686600" y="267444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96" name="Freeform 41"/>
            <p:cNvSpPr/>
            <p:nvPr/>
          </p:nvSpPr>
          <p:spPr>
            <a:xfrm>
              <a:off x="2615400" y="209340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43560" bIns="-43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97" name="Freeform 42"/>
            <p:cNvSpPr/>
            <p:nvPr/>
          </p:nvSpPr>
          <p:spPr>
            <a:xfrm>
              <a:off x="3686760" y="2088720"/>
              <a:ext cx="628200" cy="423360"/>
            </a:xfrm>
            <a:custGeom>
              <a:avLst/>
              <a:gdLst>
                <a:gd name="textAreaLeft" fmla="*/ 0 w 628200"/>
                <a:gd name="textAreaRight" fmla="*/ 628560 w 628200"/>
                <a:gd name="textAreaTop" fmla="*/ 0 h 423360"/>
                <a:gd name="textAreaBottom" fmla="*/ 423720 h 42336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98" name="Freeform 43"/>
            <p:cNvSpPr/>
            <p:nvPr/>
          </p:nvSpPr>
          <p:spPr>
            <a:xfrm>
              <a:off x="1595880" y="1407600"/>
              <a:ext cx="1761840" cy="1023480"/>
            </a:xfrm>
            <a:custGeom>
              <a:avLst/>
              <a:gdLst>
                <a:gd name="textAreaLeft" fmla="*/ 0 w 1761840"/>
                <a:gd name="textAreaRight" fmla="*/ 1762200 w 1761840"/>
                <a:gd name="textAreaTop" fmla="*/ 0 h 1023480"/>
                <a:gd name="textAreaBottom" fmla="*/ 1023840 h 102348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grpSp>
          <p:nvGrpSpPr>
            <p:cNvPr id="999" name="Group 44"/>
            <p:cNvGrpSpPr/>
            <p:nvPr/>
          </p:nvGrpSpPr>
          <p:grpSpPr>
            <a:xfrm>
              <a:off x="1437480" y="2356920"/>
              <a:ext cx="325080" cy="396360"/>
              <a:chOff x="1437480" y="2356920"/>
              <a:chExt cx="325080" cy="396360"/>
            </a:xfrm>
          </p:grpSpPr>
          <p:sp>
            <p:nvSpPr>
              <p:cNvPr id="1000" name="Rectangle 45"/>
              <p:cNvSpPr/>
              <p:nvPr/>
            </p:nvSpPr>
            <p:spPr>
              <a:xfrm>
                <a:off x="1481040" y="246024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001" name="Text Box 46"/>
              <p:cNvSpPr/>
              <p:nvPr/>
            </p:nvSpPr>
            <p:spPr>
              <a:xfrm>
                <a:off x="1437480" y="2356920"/>
                <a:ext cx="32508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02" name="Group 47"/>
            <p:cNvGrpSpPr/>
            <p:nvPr/>
          </p:nvGrpSpPr>
          <p:grpSpPr>
            <a:xfrm>
              <a:off x="3301200" y="2966400"/>
              <a:ext cx="310680" cy="396360"/>
              <a:chOff x="3301200" y="2966400"/>
              <a:chExt cx="310680" cy="396360"/>
            </a:xfrm>
          </p:grpSpPr>
          <p:sp>
            <p:nvSpPr>
              <p:cNvPr id="1003" name="Rectangle 48"/>
              <p:cNvSpPr/>
              <p:nvPr/>
            </p:nvSpPr>
            <p:spPr>
              <a:xfrm>
                <a:off x="3338640" y="306972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004" name="Text Box 49"/>
              <p:cNvSpPr/>
              <p:nvPr/>
            </p:nvSpPr>
            <p:spPr>
              <a:xfrm>
                <a:off x="3301200" y="2966400"/>
                <a:ext cx="31068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05" name="Group 50"/>
            <p:cNvGrpSpPr/>
            <p:nvPr/>
          </p:nvGrpSpPr>
          <p:grpSpPr>
            <a:xfrm>
              <a:off x="2207160" y="2914200"/>
              <a:ext cx="336240" cy="456840"/>
              <a:chOff x="2207160" y="2914200"/>
              <a:chExt cx="336240" cy="456840"/>
            </a:xfrm>
          </p:grpSpPr>
          <p:sp>
            <p:nvSpPr>
              <p:cNvPr id="1006" name="Rectangle 51"/>
              <p:cNvSpPr/>
              <p:nvPr/>
            </p:nvSpPr>
            <p:spPr>
              <a:xfrm>
                <a:off x="2256120" y="306504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007" name="Text Box 52"/>
              <p:cNvSpPr/>
              <p:nvPr/>
            </p:nvSpPr>
            <p:spPr>
              <a:xfrm>
                <a:off x="2207160" y="2914200"/>
                <a:ext cx="33624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08" name="Group 53"/>
            <p:cNvGrpSpPr/>
            <p:nvPr/>
          </p:nvGrpSpPr>
          <p:grpSpPr>
            <a:xfrm>
              <a:off x="3264480" y="1871280"/>
              <a:ext cx="367920" cy="396360"/>
              <a:chOff x="3264480" y="1871280"/>
              <a:chExt cx="367920" cy="396360"/>
            </a:xfrm>
          </p:grpSpPr>
          <p:sp>
            <p:nvSpPr>
              <p:cNvPr id="1009" name="Rectangle 54"/>
              <p:cNvSpPr/>
              <p:nvPr/>
            </p:nvSpPr>
            <p:spPr>
              <a:xfrm>
                <a:off x="3328920" y="197424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010" name="Text Box 55"/>
              <p:cNvSpPr/>
              <p:nvPr/>
            </p:nvSpPr>
            <p:spPr>
              <a:xfrm>
                <a:off x="3264480" y="1871280"/>
                <a:ext cx="36792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11" name="Group 56"/>
            <p:cNvGrpSpPr/>
            <p:nvPr/>
          </p:nvGrpSpPr>
          <p:grpSpPr>
            <a:xfrm>
              <a:off x="2205720" y="1871280"/>
              <a:ext cx="310680" cy="396360"/>
              <a:chOff x="2205720" y="1871280"/>
              <a:chExt cx="310680" cy="396360"/>
            </a:xfrm>
          </p:grpSpPr>
          <p:sp>
            <p:nvSpPr>
              <p:cNvPr id="1012" name="Rectangle 57"/>
              <p:cNvSpPr/>
              <p:nvPr/>
            </p:nvSpPr>
            <p:spPr>
              <a:xfrm>
                <a:off x="2243160" y="197424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013" name="Text Box 58"/>
              <p:cNvSpPr/>
              <p:nvPr/>
            </p:nvSpPr>
            <p:spPr>
              <a:xfrm>
                <a:off x="2205720" y="1871280"/>
                <a:ext cx="31068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14" name="Group 59"/>
            <p:cNvGrpSpPr/>
            <p:nvPr/>
          </p:nvGrpSpPr>
          <p:grpSpPr>
            <a:xfrm>
              <a:off x="4196520" y="2376000"/>
              <a:ext cx="336240" cy="456840"/>
              <a:chOff x="4196520" y="2376000"/>
              <a:chExt cx="336240" cy="456840"/>
            </a:xfrm>
          </p:grpSpPr>
          <p:sp>
            <p:nvSpPr>
              <p:cNvPr id="1015" name="Rectangle 60"/>
              <p:cNvSpPr/>
              <p:nvPr/>
            </p:nvSpPr>
            <p:spPr>
              <a:xfrm>
                <a:off x="4248360" y="252684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016" name="Text Box 61"/>
              <p:cNvSpPr/>
              <p:nvPr/>
            </p:nvSpPr>
            <p:spPr>
              <a:xfrm>
                <a:off x="4196520" y="2376000"/>
                <a:ext cx="33624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17" name="Text Box 62"/>
            <p:cNvSpPr/>
            <p:nvPr/>
          </p:nvSpPr>
          <p:spPr>
            <a:xfrm>
              <a:off x="1764360" y="207756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8" name="Text Box 63"/>
            <p:cNvSpPr/>
            <p:nvPr/>
          </p:nvSpPr>
          <p:spPr>
            <a:xfrm>
              <a:off x="2316600" y="242532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9" name="Text Box 64"/>
            <p:cNvSpPr/>
            <p:nvPr/>
          </p:nvSpPr>
          <p:spPr>
            <a:xfrm>
              <a:off x="1626120" y="276336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0" name="Text Box 65"/>
            <p:cNvSpPr/>
            <p:nvPr/>
          </p:nvSpPr>
          <p:spPr>
            <a:xfrm>
              <a:off x="2926440" y="257292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1" name="Text Box 66"/>
            <p:cNvSpPr/>
            <p:nvPr/>
          </p:nvSpPr>
          <p:spPr>
            <a:xfrm>
              <a:off x="2826360" y="313488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2" name="Text Box 67"/>
            <p:cNvSpPr/>
            <p:nvPr/>
          </p:nvSpPr>
          <p:spPr>
            <a:xfrm>
              <a:off x="3398040" y="245376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3" name="Text Box 68"/>
            <p:cNvSpPr/>
            <p:nvPr/>
          </p:nvSpPr>
          <p:spPr>
            <a:xfrm>
              <a:off x="3969360" y="287280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4" name="Text Box 69"/>
            <p:cNvSpPr/>
            <p:nvPr/>
          </p:nvSpPr>
          <p:spPr>
            <a:xfrm>
              <a:off x="3926520" y="202032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5" name="Text Box 70"/>
            <p:cNvSpPr/>
            <p:nvPr/>
          </p:nvSpPr>
          <p:spPr>
            <a:xfrm>
              <a:off x="2759760" y="178236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" name="Text Box 71"/>
            <p:cNvSpPr/>
            <p:nvPr/>
          </p:nvSpPr>
          <p:spPr>
            <a:xfrm>
              <a:off x="2202480" y="135828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27" name="Text Box 72"/>
          <p:cNvSpPr/>
          <p:nvPr/>
        </p:nvSpPr>
        <p:spPr>
          <a:xfrm>
            <a:off x="1411920" y="3898080"/>
            <a:ext cx="248040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graph: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G = (N,E)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TextBox 1"/>
          <p:cNvSpPr/>
          <p:nvPr/>
        </p:nvSpPr>
        <p:spPr>
          <a:xfrm>
            <a:off x="5456880" y="1415880"/>
            <a:ext cx="5884200" cy="26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i="1" lang="en-US" sz="24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a,b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cost of </a:t>
            </a:r>
            <a:r>
              <a:rPr b="0" i="1" lang="en-US" sz="2400" strike="noStrike" u="none">
                <a:solidFill>
                  <a:srgbClr val="0000a8"/>
                </a:solidFill>
                <a:effectLst/>
                <a:uFillTx/>
                <a:latin typeface="Calibri"/>
              </a:rPr>
              <a:t>direct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link connecting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and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     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e.g., c</a:t>
            </a:r>
            <a:r>
              <a:rPr b="0" i="1" lang="en-US" sz="24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w,z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= 5,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i="1" lang="en-US" sz="24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u,z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=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∞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1720"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cost defined by network operator: could always be 1, or inversely related to bandwidth, or inversely related to congestion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Text Box 72"/>
          <p:cNvSpPr/>
          <p:nvPr/>
        </p:nvSpPr>
        <p:spPr>
          <a:xfrm>
            <a:off x="1638360" y="4537080"/>
            <a:ext cx="51141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set of routers = {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u, v, w, x, y, z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}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Text Box 72"/>
          <p:cNvSpPr/>
          <p:nvPr/>
        </p:nvSpPr>
        <p:spPr>
          <a:xfrm>
            <a:off x="1638360" y="5106600"/>
            <a:ext cx="100756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E: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set of links =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{</a:t>
            </a: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(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u,v), (u,x), (v,x), (v,w), (x,w), (x,y), (w,y), (w,z), (y,z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)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447" dur="indefinite" restart="never" nodeType="tmRoot">
          <p:childTnLst>
            <p:seq>
              <p:cTn id="448" dur="indefinite" nodeType="mainSeq">
                <p:childTnLst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53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>
                      <p:stCondLst>
                        <p:cond delay="indefinite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58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6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PlaceHolder 1"/>
          <p:cNvSpPr>
            <a:spLocks noGrp="1"/>
          </p:cNvSpPr>
          <p:nvPr>
            <p:ph type="title"/>
          </p:nvPr>
        </p:nvSpPr>
        <p:spPr>
          <a:xfrm>
            <a:off x="838080" y="348480"/>
            <a:ext cx="983916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Dijkstra’s link-state routing algorithm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2" name="PlaceHolder 2"/>
          <p:cNvSpPr>
            <a:spLocks noGrp="1"/>
          </p:cNvSpPr>
          <p:nvPr>
            <p:ph type="sldNum" idx="65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B5C38C1A-AAF1-4D6D-B34A-234C97FAC1F5}" type="slidenum"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29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Rectangle 3"/>
          <p:cNvSpPr/>
          <p:nvPr/>
        </p:nvSpPr>
        <p:spPr>
          <a:xfrm>
            <a:off x="750960" y="1541160"/>
            <a:ext cx="5708520" cy="490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rgbClr val="0000a8"/>
                </a:solidFill>
                <a:effectLst/>
                <a:uFillTx/>
                <a:latin typeface="Calibri"/>
              </a:rPr>
              <a:t>centralized: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network topology, link costs known to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all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nodes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accomplished via “link state broadcast”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all nodes have same info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computes least cost paths from one node (“source”) to all other nodes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95160" indent="-23184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gives </a:t>
            </a:r>
            <a:r>
              <a:rPr b="0" i="1" lang="en-US" sz="2400" strike="noStrike" u="none">
                <a:solidFill>
                  <a:srgbClr val="000099"/>
                </a:solidFill>
                <a:effectLst/>
                <a:uFillTx/>
                <a:latin typeface="Calibri"/>
              </a:rPr>
              <a:t>forwarding table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for that node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rgbClr val="0000a8"/>
                </a:solidFill>
                <a:effectLst/>
                <a:uFillTx/>
                <a:latin typeface="Calibri"/>
              </a:rPr>
              <a:t>iterative: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after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iterations, know least cost path to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destinations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34" name="Group 4"/>
          <p:cNvGrpSpPr/>
          <p:nvPr/>
        </p:nvGrpSpPr>
        <p:grpSpPr>
          <a:xfrm>
            <a:off x="7315200" y="1523880"/>
            <a:ext cx="4440960" cy="4881960"/>
            <a:chOff x="7315200" y="1523880"/>
            <a:chExt cx="4440960" cy="4881960"/>
          </a:xfrm>
        </p:grpSpPr>
        <p:sp>
          <p:nvSpPr>
            <p:cNvPr id="1035" name="Rectangle 4"/>
            <p:cNvSpPr/>
            <p:nvPr/>
          </p:nvSpPr>
          <p:spPr>
            <a:xfrm>
              <a:off x="7387920" y="2167920"/>
              <a:ext cx="4310280" cy="423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403200" indent="-272880" defTabSz="914400">
                <a:lnSpc>
                  <a:spcPct val="85000"/>
                </a:lnSpc>
                <a:spcBef>
                  <a:spcPts val="601"/>
                </a:spcBef>
                <a:buClr>
                  <a:srgbClr val="0000a3"/>
                </a:buClr>
                <a:buFont typeface="Wingdings" charset="2"/>
                <a:buChar char=""/>
              </a:pPr>
              <a:r>
                <a:rPr b="0" i="1" lang="en-US" sz="2800" strike="noStrike" u="none">
                  <a:solidFill>
                    <a:srgbClr val="000099"/>
                  </a:solidFill>
                  <a:effectLst/>
                  <a:uFillTx/>
                  <a:latin typeface="Calibri"/>
                </a:rPr>
                <a:t>c</a:t>
              </a:r>
              <a:r>
                <a:rPr b="0" i="1" lang="en-US" sz="2800" strike="noStrike" u="none" baseline="-25000">
                  <a:solidFill>
                    <a:srgbClr val="000099"/>
                  </a:solidFill>
                  <a:effectLst/>
                  <a:uFillTx/>
                  <a:latin typeface="Calibri"/>
                </a:rPr>
                <a:t>x,y</a:t>
              </a:r>
              <a:r>
                <a:rPr b="0" i="1" lang="en-US" sz="2800" strike="noStrike" u="none">
                  <a:solidFill>
                    <a:srgbClr val="000099"/>
                  </a:solidFill>
                  <a:effectLst/>
                  <a:uFillTx/>
                  <a:latin typeface="Calibri"/>
                </a:rPr>
                <a:t>:</a:t>
              </a:r>
              <a:r>
                <a:rPr b="0" i="1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 </a:t>
              </a:r>
              <a:r>
                <a:rPr b="0" lang="en-US" sz="2400" strike="noStrike" u="sng">
                  <a:solidFill>
                    <a:schemeClr val="dk1"/>
                  </a:solidFill>
                  <a:effectLst/>
                  <a:uFillTx/>
                  <a:latin typeface="Calibri"/>
                </a:rPr>
                <a:t>direct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 link cost from node </a:t>
              </a:r>
              <a:r>
                <a:rPr b="0" i="1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x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 to </a:t>
              </a:r>
              <a:r>
                <a:rPr b="0" i="1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y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;  = ∞ if not direct neighbors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03200" indent="-272880" defTabSz="914400">
                <a:lnSpc>
                  <a:spcPct val="85000"/>
                </a:lnSpc>
                <a:spcBef>
                  <a:spcPts val="601"/>
                </a:spcBef>
                <a:buClr>
                  <a:srgbClr val="0000a3"/>
                </a:buClr>
                <a:buFont typeface="Wingdings" charset="2"/>
                <a:buChar char=""/>
              </a:pPr>
              <a:r>
                <a:rPr b="0" i="1" lang="en-US" sz="2800" strike="noStrike" u="none">
                  <a:solidFill>
                    <a:srgbClr val="000099"/>
                  </a:solidFill>
                  <a:effectLst/>
                  <a:uFillTx/>
                  <a:latin typeface="Calibri"/>
                </a:rPr>
                <a:t>D(v):</a:t>
              </a:r>
              <a:r>
                <a:rPr b="0" i="1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 current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 estimate of cost of least-cost-path from source to destination </a:t>
              </a:r>
              <a:r>
                <a:rPr b="0" i="1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v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03200" indent="-272880" defTabSz="914400">
                <a:lnSpc>
                  <a:spcPct val="85000"/>
                </a:lnSpc>
                <a:spcBef>
                  <a:spcPts val="601"/>
                </a:spcBef>
                <a:buClr>
                  <a:srgbClr val="0000a3"/>
                </a:buClr>
                <a:buFont typeface="Wingdings" charset="2"/>
                <a:buChar char=""/>
              </a:pPr>
              <a:r>
                <a:rPr b="0" i="1" lang="en-US" sz="2800" strike="noStrike" u="none">
                  <a:solidFill>
                    <a:srgbClr val="000099"/>
                  </a:solidFill>
                  <a:effectLst/>
                  <a:uFillTx/>
                  <a:latin typeface="Calibri"/>
                </a:rPr>
                <a:t>p(v):</a:t>
              </a:r>
              <a:r>
                <a:rPr b="0" i="1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 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predecessor node along path from source to </a:t>
              </a:r>
              <a:r>
                <a:rPr b="0" i="1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v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03200" indent="-272880" defTabSz="914400">
                <a:lnSpc>
                  <a:spcPct val="85000"/>
                </a:lnSpc>
                <a:spcBef>
                  <a:spcPts val="601"/>
                </a:spcBef>
                <a:buClr>
                  <a:srgbClr val="0000a3"/>
                </a:buClr>
                <a:buFont typeface="Wingdings" charset="2"/>
                <a:buChar char=""/>
              </a:pPr>
              <a:r>
                <a:rPr b="0" i="1" lang="en-US" sz="2800" strike="noStrike" u="none">
                  <a:solidFill>
                    <a:srgbClr val="000099"/>
                  </a:solidFill>
                  <a:effectLst/>
                  <a:uFillTx/>
                  <a:latin typeface="Calibri"/>
                </a:rPr>
                <a:t>N</a:t>
              </a:r>
              <a:r>
                <a:rPr b="0" i="1" lang="en-US" sz="2800" strike="noStrike" u="none">
                  <a:solidFill>
                    <a:srgbClr val="000099"/>
                  </a:solidFill>
                  <a:effectLst/>
                  <a:uFillTx/>
                  <a:latin typeface="Calibri"/>
                </a:rPr>
                <a:t>':</a:t>
              </a:r>
              <a:r>
                <a:rPr b="0" i="1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 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set of nodes whose least-cost-path </a:t>
              </a:r>
              <a:r>
                <a:rPr b="0" i="1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definitively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 known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75000"/>
                </a:lnSpc>
                <a:spcBef>
                  <a:spcPts val="1001"/>
                </a:spcBef>
              </a:pP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6" name="Rectangle 1"/>
            <p:cNvSpPr/>
            <p:nvPr/>
          </p:nvSpPr>
          <p:spPr>
            <a:xfrm>
              <a:off x="7315200" y="1828800"/>
              <a:ext cx="4440960" cy="4339440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37" name="TextBox 2"/>
            <p:cNvSpPr/>
            <p:nvPr/>
          </p:nvSpPr>
          <p:spPr>
            <a:xfrm>
              <a:off x="7823160" y="1523880"/>
              <a:ext cx="1608480" cy="58428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3200" strike="noStrike" u="none">
                  <a:solidFill>
                    <a:srgbClr val="c00000"/>
                  </a:solidFill>
                  <a:effectLst/>
                  <a:uFillTx/>
                  <a:latin typeface="Calibri"/>
                </a:rPr>
                <a:t>notation</a:t>
              </a: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464" dur="indefinite" restart="never" nodeType="tmRoot">
          <p:childTnLst>
            <p:seq>
              <p:cTn id="465" dur="indefinite" nodeType="mainSeq">
                <p:childTnLst>
                  <p:par>
                    <p:cTn id="466" fill="hold">
                      <p:stCondLst>
                        <p:cond delay="indefinite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0" dur="500"/>
                                        <p:tgtEl>
                                          <p:spTgt spid="1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3" dur="500"/>
                                        <p:tgtEl>
                                          <p:spTgt spid="1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6" dur="500"/>
                                        <p:tgtEl>
                                          <p:spTgt spid="10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1" dur="500"/>
                                        <p:tgtEl>
                                          <p:spTgt spid="10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4" dur="500"/>
                                        <p:tgtEl>
                                          <p:spTgt spid="10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indefinite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9" dur="500"/>
                                        <p:tgtEl>
                                          <p:spTgt spid="10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>
                      <p:stCondLst>
                        <p:cond delay="indefinite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4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8" name="Group 11"/>
          <p:cNvGrpSpPr/>
          <p:nvPr/>
        </p:nvGrpSpPr>
        <p:grpSpPr>
          <a:xfrm>
            <a:off x="1088640" y="3643200"/>
            <a:ext cx="1668960" cy="2786400"/>
            <a:chOff x="1088640" y="3643200"/>
            <a:chExt cx="1668960" cy="2786400"/>
          </a:xfrm>
        </p:grpSpPr>
        <p:sp>
          <p:nvSpPr>
            <p:cNvPr id="1039" name="Oval 3"/>
            <p:cNvSpPr/>
            <p:nvPr/>
          </p:nvSpPr>
          <p:spPr>
            <a:xfrm>
              <a:off x="1088640" y="3643200"/>
              <a:ext cx="1479960" cy="27864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40" name="Rectangle 4"/>
            <p:cNvSpPr/>
            <p:nvPr/>
          </p:nvSpPr>
          <p:spPr>
            <a:xfrm>
              <a:off x="1857960" y="3759120"/>
              <a:ext cx="899640" cy="2583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041" name="Straight Arrow Connector 9"/>
            <p:cNvCxnSpPr/>
            <p:nvPr/>
          </p:nvCxnSpPr>
          <p:spPr>
            <a:xfrm>
              <a:off x="2074320" y="3723120"/>
              <a:ext cx="144720" cy="10800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len="med" type="triangle" w="med"/>
            </a:ln>
          </p:spPr>
        </p:cxnSp>
      </p:grpSp>
      <p:sp>
        <p:nvSpPr>
          <p:cNvPr id="1042" name="PlaceHolder 1"/>
          <p:cNvSpPr>
            <a:spLocks noGrp="1"/>
          </p:cNvSpPr>
          <p:nvPr>
            <p:ph type="title"/>
          </p:nvPr>
        </p:nvSpPr>
        <p:spPr>
          <a:xfrm>
            <a:off x="838080" y="348480"/>
            <a:ext cx="983916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Dijkstra’s link-state routing algorithm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3" name="PlaceHolder 2"/>
          <p:cNvSpPr>
            <a:spLocks noGrp="1"/>
          </p:cNvSpPr>
          <p:nvPr>
            <p:ph type="sldNum" idx="66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00FC94FD-CE2B-40F8-9792-C450C9EEF47F}" type="slidenum"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31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Text Box 3"/>
          <p:cNvSpPr/>
          <p:nvPr/>
        </p:nvSpPr>
        <p:spPr>
          <a:xfrm>
            <a:off x="2157480" y="1225800"/>
            <a:ext cx="9798840" cy="24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9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1  </a:t>
            </a:r>
            <a:r>
              <a:rPr b="0" i="1" lang="en-US" sz="2400" strike="noStrike" u="non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Initialization:</a:t>
            </a:r>
            <a:r>
              <a:rPr b="0" lang="en-US" sz="2400" strike="noStrike" u="non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2  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N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= {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}                          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/* compute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least cost path from u to all other nodes */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3    for all nodes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v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4      if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v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adjacent to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/*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initially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knows direct-path-cost only to  direct neighbors    */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5          then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D(v) = c</a:t>
            </a:r>
            <a:r>
              <a:rPr b="0" i="1" lang="en-US" sz="2400" strike="noStrike" u="none" baseline="-25000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u,v      </a:t>
            </a:r>
            <a:r>
              <a:rPr b="0" lang="en-US" sz="1800" strike="noStrike" u="none" baseline="-25000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           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/* but may not be </a:t>
            </a: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minimum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cost!      */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6      else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D(v)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=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∞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7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Text Box 3"/>
          <p:cNvSpPr/>
          <p:nvPr/>
        </p:nvSpPr>
        <p:spPr>
          <a:xfrm>
            <a:off x="2179080" y="3195000"/>
            <a:ext cx="3074760" cy="34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8   </a:t>
            </a:r>
            <a:r>
              <a:rPr b="0" i="1" lang="en-US" sz="2400" strike="noStrike" u="non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Loop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9    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10   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11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12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13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14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15  </a:t>
            </a:r>
            <a:r>
              <a:rPr b="0" i="1" lang="en-US" sz="2400" strike="noStrike" u="non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until all nodes in N</a:t>
            </a:r>
            <a:r>
              <a:rPr b="0" i="1" lang="en-US" sz="2400" strike="noStrike" u="non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b="0" lang="en-US" sz="2400" strike="noStrike" u="none">
                <a:solidFill>
                  <a:srgbClr val="0000a8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Text Box 3"/>
          <p:cNvSpPr/>
          <p:nvPr/>
        </p:nvSpPr>
        <p:spPr>
          <a:xfrm>
            <a:off x="2766960" y="3547080"/>
            <a:ext cx="9030960" cy="26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find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w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not in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such that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D(w)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is a minimum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add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w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to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update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D(v)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for all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v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adjacent to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w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and not in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i="1" lang="en-US" sz="2400" strike="noStrike" u="non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    D(v) = </a:t>
            </a:r>
            <a:r>
              <a:rPr b="1" lang="en-US" sz="2400" strike="noStrike" u="non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min</a:t>
            </a:r>
            <a:r>
              <a:rPr b="1" i="1" lang="en-US" sz="2400" strike="noStrike" u="non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b="1" lang="en-US" sz="2400" strike="noStrike" u="non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( </a:t>
            </a:r>
            <a:r>
              <a:rPr b="1" i="1" lang="en-US" sz="2400" strike="noStrike" u="non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D(v),  D(w) + c</a:t>
            </a:r>
            <a:r>
              <a:rPr b="1" i="1" lang="en-US" sz="2400" strike="noStrike" u="none" baseline="-25000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w,v  </a:t>
            </a:r>
            <a:r>
              <a:rPr b="1" lang="en-US" sz="2400" strike="noStrike" u="non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)</a:t>
            </a:r>
            <a:r>
              <a:rPr b="1" i="1" lang="en-US" sz="2400" strike="noStrike" u="non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/* new least-path-cost to </a:t>
            </a: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v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is either old least-cost-path to</a:t>
            </a: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v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or known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least-cost-path to </a:t>
            </a: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w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plus direct-cost from </a:t>
            </a: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w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to </a:t>
            </a: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v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*/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495" dur="indefinite" restart="never" nodeType="tmRoot">
          <p:childTnLst>
            <p:seq>
              <p:cTn id="496" dur="indefinite" nodeType="mainSeq">
                <p:childTnLst>
                  <p:par>
                    <p:cTn id="497" fill="hold">
                      <p:stCondLst>
                        <p:cond delay="indefinite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1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>
                      <p:stCondLst>
                        <p:cond delay="indefinite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6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7" fill="hold">
                            <p:stCondLst>
                              <p:cond delay="500"/>
                            </p:stCondLst>
                            <p:childTnLst>
                              <p:par>
                                <p:cTn id="50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0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indefinite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5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7" name="Group 51"/>
          <p:cNvGrpSpPr/>
          <p:nvPr/>
        </p:nvGrpSpPr>
        <p:grpSpPr>
          <a:xfrm>
            <a:off x="5486400" y="4209480"/>
            <a:ext cx="1132920" cy="2419920"/>
            <a:chOff x="5486400" y="4209480"/>
            <a:chExt cx="1132920" cy="2419920"/>
          </a:xfrm>
        </p:grpSpPr>
        <p:sp>
          <p:nvSpPr>
            <p:cNvPr id="1048" name="Rectangle 45"/>
            <p:cNvSpPr/>
            <p:nvPr/>
          </p:nvSpPr>
          <p:spPr>
            <a:xfrm>
              <a:off x="5486400" y="4209480"/>
              <a:ext cx="1040400" cy="2419920"/>
            </a:xfrm>
            <a:prstGeom prst="rect">
              <a:avLst/>
            </a:prstGeom>
            <a:noFill/>
            <a:ln w="2540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49" name="Rectangle 565"/>
            <p:cNvSpPr/>
            <p:nvPr/>
          </p:nvSpPr>
          <p:spPr>
            <a:xfrm>
              <a:off x="6412320" y="4404600"/>
              <a:ext cx="207000" cy="2083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050" name="Straight Arrow Connector 566"/>
            <p:cNvCxnSpPr/>
            <p:nvPr/>
          </p:nvCxnSpPr>
          <p:spPr>
            <a:xfrm>
              <a:off x="6528240" y="4263120"/>
              <a:ext cx="360" cy="293400"/>
            </a:xfrm>
            <a:prstGeom prst="straightConnector1">
              <a:avLst/>
            </a:prstGeom>
            <a:ln w="25400">
              <a:solidFill>
                <a:srgbClr val="0000a8"/>
              </a:solidFill>
              <a:tailEnd len="med" type="triangle" w="med"/>
            </a:ln>
          </p:spPr>
        </p:cxnSp>
      </p:grpSp>
      <p:sp>
        <p:nvSpPr>
          <p:cNvPr id="1051" name="PlaceHolder 1"/>
          <p:cNvSpPr>
            <a:spLocks noGrp="1"/>
          </p:cNvSpPr>
          <p:nvPr>
            <p:ph type="title"/>
          </p:nvPr>
        </p:nvSpPr>
        <p:spPr>
          <a:xfrm>
            <a:off x="838080" y="354240"/>
            <a:ext cx="111794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Dijkstra’s algorithm: an example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2" name="PlaceHolder 2"/>
          <p:cNvSpPr>
            <a:spLocks noGrp="1"/>
          </p:cNvSpPr>
          <p:nvPr>
            <p:ph type="sldNum" idx="67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878CCA43-456A-4D1E-B30D-BF38E46B3B39}" type="slidenum"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31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Text Box 3"/>
          <p:cNvSpPr/>
          <p:nvPr/>
        </p:nvSpPr>
        <p:spPr>
          <a:xfrm>
            <a:off x="1397160" y="1647720"/>
            <a:ext cx="705960" cy="22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Step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Text Box 4"/>
          <p:cNvSpPr/>
          <p:nvPr/>
        </p:nvSpPr>
        <p:spPr>
          <a:xfrm>
            <a:off x="3007440" y="1657440"/>
            <a:ext cx="4201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N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'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Text Box 5"/>
          <p:cNvSpPr/>
          <p:nvPr/>
        </p:nvSpPr>
        <p:spPr>
          <a:xfrm>
            <a:off x="3932280" y="1626840"/>
            <a:ext cx="11797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D(v),p(v)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Text Box 7"/>
          <p:cNvSpPr/>
          <p:nvPr/>
        </p:nvSpPr>
        <p:spPr>
          <a:xfrm>
            <a:off x="6534720" y="1626840"/>
            <a:ext cx="11797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D(x),p(x)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Text Box 8"/>
          <p:cNvSpPr/>
          <p:nvPr/>
        </p:nvSpPr>
        <p:spPr>
          <a:xfrm>
            <a:off x="7856640" y="1638360"/>
            <a:ext cx="11797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D(y),p(y)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Text Box 9"/>
          <p:cNvSpPr/>
          <p:nvPr/>
        </p:nvSpPr>
        <p:spPr>
          <a:xfrm>
            <a:off x="9163440" y="1638360"/>
            <a:ext cx="11797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D(z),p(z)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Line 10"/>
          <p:cNvSpPr/>
          <p:nvPr/>
        </p:nvSpPr>
        <p:spPr>
          <a:xfrm>
            <a:off x="1519200" y="1998360"/>
            <a:ext cx="8505720" cy="97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5280" bIns="-35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grpSp>
        <p:nvGrpSpPr>
          <p:cNvPr id="1060" name="Group 16"/>
          <p:cNvGrpSpPr/>
          <p:nvPr/>
        </p:nvGrpSpPr>
        <p:grpSpPr>
          <a:xfrm>
            <a:off x="1528920" y="4132440"/>
            <a:ext cx="3571560" cy="2236320"/>
            <a:chOff x="1528920" y="4132440"/>
            <a:chExt cx="3571560" cy="2236320"/>
          </a:xfrm>
        </p:grpSpPr>
        <p:sp>
          <p:nvSpPr>
            <p:cNvPr id="1061" name="Freeform 17"/>
            <p:cNvSpPr/>
            <p:nvPr/>
          </p:nvSpPr>
          <p:spPr>
            <a:xfrm>
              <a:off x="1528920" y="4132440"/>
              <a:ext cx="3571560" cy="2236320"/>
            </a:xfrm>
            <a:custGeom>
              <a:avLst/>
              <a:gdLst>
                <a:gd name="textAreaLeft" fmla="*/ 0 w 3571560"/>
                <a:gd name="textAreaRight" fmla="*/ 3571920 w 3571560"/>
                <a:gd name="textAreaTop" fmla="*/ 0 h 2236320"/>
                <a:gd name="textAreaBottom" fmla="*/ 2236680 h 22363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62" name="Freeform 18"/>
            <p:cNvSpPr/>
            <p:nvPr/>
          </p:nvSpPr>
          <p:spPr>
            <a:xfrm>
              <a:off x="2062080" y="500400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63" name="Oval 19"/>
            <p:cNvSpPr/>
            <p:nvPr/>
          </p:nvSpPr>
          <p:spPr>
            <a:xfrm>
              <a:off x="1649520" y="53881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64" name="Line 20"/>
            <p:cNvSpPr/>
            <p:nvPr/>
          </p:nvSpPr>
          <p:spPr>
            <a:xfrm>
              <a:off x="1649160" y="537696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65" name="Line 21"/>
            <p:cNvSpPr/>
            <p:nvPr/>
          </p:nvSpPr>
          <p:spPr>
            <a:xfrm>
              <a:off x="2145960" y="537696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66" name="Rectangle 22"/>
            <p:cNvSpPr/>
            <p:nvPr/>
          </p:nvSpPr>
          <p:spPr>
            <a:xfrm>
              <a:off x="1649520" y="53769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67" name="Oval 23"/>
            <p:cNvSpPr/>
            <p:nvPr/>
          </p:nvSpPr>
          <p:spPr>
            <a:xfrm>
              <a:off x="1644480" y="52833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68" name="Oval 24"/>
            <p:cNvSpPr/>
            <p:nvPr/>
          </p:nvSpPr>
          <p:spPr>
            <a:xfrm>
              <a:off x="2401920" y="600228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69" name="Line 25"/>
            <p:cNvSpPr/>
            <p:nvPr/>
          </p:nvSpPr>
          <p:spPr>
            <a:xfrm>
              <a:off x="2401560" y="59911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70" name="Line 26"/>
            <p:cNvSpPr/>
            <p:nvPr/>
          </p:nvSpPr>
          <p:spPr>
            <a:xfrm>
              <a:off x="2898720" y="59911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71" name="Rectangle 27"/>
            <p:cNvSpPr/>
            <p:nvPr/>
          </p:nvSpPr>
          <p:spPr>
            <a:xfrm>
              <a:off x="2401920" y="59914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72" name="Oval 28"/>
            <p:cNvSpPr/>
            <p:nvPr/>
          </p:nvSpPr>
          <p:spPr>
            <a:xfrm>
              <a:off x="2397240" y="589752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73" name="Oval 29"/>
            <p:cNvSpPr/>
            <p:nvPr/>
          </p:nvSpPr>
          <p:spPr>
            <a:xfrm>
              <a:off x="2395440" y="490716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74" name="Line 30"/>
            <p:cNvSpPr/>
            <p:nvPr/>
          </p:nvSpPr>
          <p:spPr>
            <a:xfrm>
              <a:off x="2395440" y="489564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75" name="Line 31"/>
            <p:cNvSpPr/>
            <p:nvPr/>
          </p:nvSpPr>
          <p:spPr>
            <a:xfrm>
              <a:off x="2892240" y="489564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76" name="Rectangle 32"/>
            <p:cNvSpPr/>
            <p:nvPr/>
          </p:nvSpPr>
          <p:spPr>
            <a:xfrm>
              <a:off x="2395440" y="489600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77" name="Oval 33"/>
            <p:cNvSpPr/>
            <p:nvPr/>
          </p:nvSpPr>
          <p:spPr>
            <a:xfrm>
              <a:off x="2390760" y="480240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78" name="Oval 34"/>
            <p:cNvSpPr/>
            <p:nvPr/>
          </p:nvSpPr>
          <p:spPr>
            <a:xfrm>
              <a:off x="3479760" y="490068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79" name="Line 35"/>
            <p:cNvSpPr/>
            <p:nvPr/>
          </p:nvSpPr>
          <p:spPr>
            <a:xfrm>
              <a:off x="3479760" y="488952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80" name="Line 36"/>
            <p:cNvSpPr/>
            <p:nvPr/>
          </p:nvSpPr>
          <p:spPr>
            <a:xfrm>
              <a:off x="3974760" y="488952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81" name="Rectangle 37"/>
            <p:cNvSpPr/>
            <p:nvPr/>
          </p:nvSpPr>
          <p:spPr>
            <a:xfrm>
              <a:off x="3479760" y="488952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82" name="Oval 38"/>
            <p:cNvSpPr/>
            <p:nvPr/>
          </p:nvSpPr>
          <p:spPr>
            <a:xfrm>
              <a:off x="3484440" y="480060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83" name="Oval 39"/>
            <p:cNvSpPr/>
            <p:nvPr/>
          </p:nvSpPr>
          <p:spPr>
            <a:xfrm>
              <a:off x="3495600" y="59976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84" name="Line 40"/>
            <p:cNvSpPr/>
            <p:nvPr/>
          </p:nvSpPr>
          <p:spPr>
            <a:xfrm>
              <a:off x="3495600" y="59864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85" name="Line 41"/>
            <p:cNvSpPr/>
            <p:nvPr/>
          </p:nvSpPr>
          <p:spPr>
            <a:xfrm>
              <a:off x="3992400" y="59864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86" name="Rectangle 42"/>
            <p:cNvSpPr/>
            <p:nvPr/>
          </p:nvSpPr>
          <p:spPr>
            <a:xfrm>
              <a:off x="3495600" y="59864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87" name="Oval 43"/>
            <p:cNvSpPr/>
            <p:nvPr/>
          </p:nvSpPr>
          <p:spPr>
            <a:xfrm>
              <a:off x="3490920" y="58928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88" name="Oval 44"/>
            <p:cNvSpPr/>
            <p:nvPr/>
          </p:nvSpPr>
          <p:spPr>
            <a:xfrm>
              <a:off x="4392720" y="54565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89" name="Line 45"/>
            <p:cNvSpPr/>
            <p:nvPr/>
          </p:nvSpPr>
          <p:spPr>
            <a:xfrm>
              <a:off x="4392360" y="5445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90" name="Line 46"/>
            <p:cNvSpPr/>
            <p:nvPr/>
          </p:nvSpPr>
          <p:spPr>
            <a:xfrm>
              <a:off x="4889160" y="54450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91" name="Rectangle 47"/>
            <p:cNvSpPr/>
            <p:nvPr/>
          </p:nvSpPr>
          <p:spPr>
            <a:xfrm>
              <a:off x="4392720" y="54453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92" name="Oval 48"/>
            <p:cNvSpPr/>
            <p:nvPr/>
          </p:nvSpPr>
          <p:spPr>
            <a:xfrm>
              <a:off x="4387680" y="535140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93" name="Freeform 49"/>
            <p:cNvSpPr/>
            <p:nvPr/>
          </p:nvSpPr>
          <p:spPr>
            <a:xfrm>
              <a:off x="3743280" y="504684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94" name="Freeform 50"/>
            <p:cNvSpPr/>
            <p:nvPr/>
          </p:nvSpPr>
          <p:spPr>
            <a:xfrm>
              <a:off x="2643120" y="5056200"/>
              <a:ext cx="1080" cy="8521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52120"/>
                <a:gd name="textAreaBottom" fmla="*/ 852480 h 85212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95" name="Freeform 51"/>
            <p:cNvSpPr/>
            <p:nvPr/>
          </p:nvSpPr>
          <p:spPr>
            <a:xfrm>
              <a:off x="2905200" y="5032440"/>
              <a:ext cx="799920" cy="9522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952200"/>
                <a:gd name="textAreaBottom" fmla="*/ 952560 h 952200"/>
                <a:gd name="GluePoint1X" fmla="*/ 0 w 378"/>
                <a:gd name="GluePoint1Y" fmla="*/ 11993521 h 174"/>
                <a:gd name="GluePoint2X" fmla="*/ 5035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96" name="Freeform 52"/>
            <p:cNvSpPr/>
            <p:nvPr/>
          </p:nvSpPr>
          <p:spPr>
            <a:xfrm>
              <a:off x="3995640" y="558504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97" name="Freeform 53"/>
            <p:cNvSpPr/>
            <p:nvPr/>
          </p:nvSpPr>
          <p:spPr>
            <a:xfrm>
              <a:off x="2914560" y="603252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43560" bIns="-43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98" name="Freeform 54"/>
            <p:cNvSpPr/>
            <p:nvPr/>
          </p:nvSpPr>
          <p:spPr>
            <a:xfrm>
              <a:off x="1976400" y="551808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99" name="Freeform 55"/>
            <p:cNvSpPr/>
            <p:nvPr/>
          </p:nvSpPr>
          <p:spPr>
            <a:xfrm>
              <a:off x="2905200" y="493740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43560" bIns="-43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100" name="Freeform 56"/>
            <p:cNvSpPr/>
            <p:nvPr/>
          </p:nvSpPr>
          <p:spPr>
            <a:xfrm>
              <a:off x="3976560" y="4932360"/>
              <a:ext cx="628200" cy="423360"/>
            </a:xfrm>
            <a:custGeom>
              <a:avLst/>
              <a:gdLst>
                <a:gd name="textAreaLeft" fmla="*/ 0 w 628200"/>
                <a:gd name="textAreaRight" fmla="*/ 628560 w 628200"/>
                <a:gd name="textAreaTop" fmla="*/ 0 h 423360"/>
                <a:gd name="textAreaBottom" fmla="*/ 423720 h 42336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101" name="Freeform 57"/>
            <p:cNvSpPr/>
            <p:nvPr/>
          </p:nvSpPr>
          <p:spPr>
            <a:xfrm>
              <a:off x="1886040" y="4251600"/>
              <a:ext cx="1761840" cy="1023480"/>
            </a:xfrm>
            <a:custGeom>
              <a:avLst/>
              <a:gdLst>
                <a:gd name="textAreaLeft" fmla="*/ 0 w 1761840"/>
                <a:gd name="textAreaRight" fmla="*/ 1762200 w 1761840"/>
                <a:gd name="textAreaTop" fmla="*/ 0 h 1023480"/>
                <a:gd name="textAreaBottom" fmla="*/ 1023840 h 102348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grpSp>
          <p:nvGrpSpPr>
            <p:cNvPr id="1102" name="Group 58"/>
            <p:cNvGrpSpPr/>
            <p:nvPr/>
          </p:nvGrpSpPr>
          <p:grpSpPr>
            <a:xfrm>
              <a:off x="1727280" y="5200920"/>
              <a:ext cx="325080" cy="396360"/>
              <a:chOff x="1727280" y="5200920"/>
              <a:chExt cx="325080" cy="396360"/>
            </a:xfrm>
          </p:grpSpPr>
          <p:sp>
            <p:nvSpPr>
              <p:cNvPr id="1103" name="Rectangle 59"/>
              <p:cNvSpPr/>
              <p:nvPr/>
            </p:nvSpPr>
            <p:spPr>
              <a:xfrm>
                <a:off x="1770840" y="530388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104" name="Text Box 60"/>
              <p:cNvSpPr/>
              <p:nvPr/>
            </p:nvSpPr>
            <p:spPr>
              <a:xfrm>
                <a:off x="1727280" y="5200920"/>
                <a:ext cx="32508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05" name="Group 61"/>
            <p:cNvGrpSpPr/>
            <p:nvPr/>
          </p:nvGrpSpPr>
          <p:grpSpPr>
            <a:xfrm>
              <a:off x="3591000" y="5810400"/>
              <a:ext cx="310680" cy="396360"/>
              <a:chOff x="3591000" y="5810400"/>
              <a:chExt cx="310680" cy="396360"/>
            </a:xfrm>
          </p:grpSpPr>
          <p:sp>
            <p:nvSpPr>
              <p:cNvPr id="1106" name="Rectangle 62"/>
              <p:cNvSpPr/>
              <p:nvPr/>
            </p:nvSpPr>
            <p:spPr>
              <a:xfrm>
                <a:off x="3628440" y="591372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107" name="Text Box 63"/>
              <p:cNvSpPr/>
              <p:nvPr/>
            </p:nvSpPr>
            <p:spPr>
              <a:xfrm>
                <a:off x="3591000" y="5810400"/>
                <a:ext cx="31068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08" name="Group 64"/>
            <p:cNvGrpSpPr/>
            <p:nvPr/>
          </p:nvGrpSpPr>
          <p:grpSpPr>
            <a:xfrm>
              <a:off x="2496960" y="5757840"/>
              <a:ext cx="336240" cy="456840"/>
              <a:chOff x="2496960" y="5757840"/>
              <a:chExt cx="336240" cy="456840"/>
            </a:xfrm>
          </p:grpSpPr>
          <p:sp>
            <p:nvSpPr>
              <p:cNvPr id="1109" name="Rectangle 65"/>
              <p:cNvSpPr/>
              <p:nvPr/>
            </p:nvSpPr>
            <p:spPr>
              <a:xfrm>
                <a:off x="2546280" y="590868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110" name="Text Box 66"/>
              <p:cNvSpPr/>
              <p:nvPr/>
            </p:nvSpPr>
            <p:spPr>
              <a:xfrm>
                <a:off x="2496960" y="5757840"/>
                <a:ext cx="33624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11" name="Group 67"/>
            <p:cNvGrpSpPr/>
            <p:nvPr/>
          </p:nvGrpSpPr>
          <p:grpSpPr>
            <a:xfrm>
              <a:off x="3554280" y="4714920"/>
              <a:ext cx="367920" cy="396360"/>
              <a:chOff x="3554280" y="4714920"/>
              <a:chExt cx="367920" cy="396360"/>
            </a:xfrm>
          </p:grpSpPr>
          <p:sp>
            <p:nvSpPr>
              <p:cNvPr id="1112" name="Rectangle 68"/>
              <p:cNvSpPr/>
              <p:nvPr/>
            </p:nvSpPr>
            <p:spPr>
              <a:xfrm>
                <a:off x="3618720" y="481824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113" name="Text Box 69"/>
              <p:cNvSpPr/>
              <p:nvPr/>
            </p:nvSpPr>
            <p:spPr>
              <a:xfrm>
                <a:off x="3554280" y="4714920"/>
                <a:ext cx="36792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14" name="Group 70"/>
            <p:cNvGrpSpPr/>
            <p:nvPr/>
          </p:nvGrpSpPr>
          <p:grpSpPr>
            <a:xfrm>
              <a:off x="2495520" y="4714920"/>
              <a:ext cx="310680" cy="396360"/>
              <a:chOff x="2495520" y="4714920"/>
              <a:chExt cx="310680" cy="396360"/>
            </a:xfrm>
          </p:grpSpPr>
          <p:sp>
            <p:nvSpPr>
              <p:cNvPr id="1115" name="Rectangle 71"/>
              <p:cNvSpPr/>
              <p:nvPr/>
            </p:nvSpPr>
            <p:spPr>
              <a:xfrm>
                <a:off x="2532960" y="481824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116" name="Text Box 72"/>
              <p:cNvSpPr/>
              <p:nvPr/>
            </p:nvSpPr>
            <p:spPr>
              <a:xfrm>
                <a:off x="2495520" y="4714920"/>
                <a:ext cx="31068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17" name="Group 73"/>
            <p:cNvGrpSpPr/>
            <p:nvPr/>
          </p:nvGrpSpPr>
          <p:grpSpPr>
            <a:xfrm>
              <a:off x="4486320" y="5219640"/>
              <a:ext cx="336240" cy="456840"/>
              <a:chOff x="4486320" y="5219640"/>
              <a:chExt cx="336240" cy="456840"/>
            </a:xfrm>
          </p:grpSpPr>
          <p:sp>
            <p:nvSpPr>
              <p:cNvPr id="1118" name="Rectangle 74"/>
              <p:cNvSpPr/>
              <p:nvPr/>
            </p:nvSpPr>
            <p:spPr>
              <a:xfrm>
                <a:off x="4538160" y="537048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119" name="Text Box 75"/>
              <p:cNvSpPr/>
              <p:nvPr/>
            </p:nvSpPr>
            <p:spPr>
              <a:xfrm>
                <a:off x="4486320" y="5219640"/>
                <a:ext cx="33624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0" name="Text Box 76"/>
            <p:cNvSpPr/>
            <p:nvPr/>
          </p:nvSpPr>
          <p:spPr>
            <a:xfrm>
              <a:off x="2054160" y="492120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1" name="Text Box 77"/>
            <p:cNvSpPr/>
            <p:nvPr/>
          </p:nvSpPr>
          <p:spPr>
            <a:xfrm>
              <a:off x="2606760" y="526896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2" name="Text Box 78"/>
            <p:cNvSpPr/>
            <p:nvPr/>
          </p:nvSpPr>
          <p:spPr>
            <a:xfrm>
              <a:off x="1916280" y="560700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3" name="Text Box 79"/>
            <p:cNvSpPr/>
            <p:nvPr/>
          </p:nvSpPr>
          <p:spPr>
            <a:xfrm>
              <a:off x="3216240" y="541656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" name="Text Box 80"/>
            <p:cNvSpPr/>
            <p:nvPr/>
          </p:nvSpPr>
          <p:spPr>
            <a:xfrm>
              <a:off x="3116160" y="597852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5" name="Text Box 81"/>
            <p:cNvSpPr/>
            <p:nvPr/>
          </p:nvSpPr>
          <p:spPr>
            <a:xfrm>
              <a:off x="3687840" y="529776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6" name="Text Box 82"/>
            <p:cNvSpPr/>
            <p:nvPr/>
          </p:nvSpPr>
          <p:spPr>
            <a:xfrm>
              <a:off x="4259160" y="571680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7" name="Text Box 83"/>
            <p:cNvSpPr/>
            <p:nvPr/>
          </p:nvSpPr>
          <p:spPr>
            <a:xfrm>
              <a:off x="4216320" y="486432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8" name="Text Box 84"/>
            <p:cNvSpPr/>
            <p:nvPr/>
          </p:nvSpPr>
          <p:spPr>
            <a:xfrm>
              <a:off x="3049560" y="462600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9" name="Text Box 85"/>
            <p:cNvSpPr/>
            <p:nvPr/>
          </p:nvSpPr>
          <p:spPr>
            <a:xfrm>
              <a:off x="2492280" y="420228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30" name="Text Box 9"/>
          <p:cNvSpPr/>
          <p:nvPr/>
        </p:nvSpPr>
        <p:spPr>
          <a:xfrm>
            <a:off x="9490680" y="3198960"/>
            <a:ext cx="5256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4,y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Text Box 6"/>
          <p:cNvSpPr/>
          <p:nvPr/>
        </p:nvSpPr>
        <p:spPr>
          <a:xfrm>
            <a:off x="5169960" y="1633320"/>
            <a:ext cx="12952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Text Box 6"/>
          <p:cNvSpPr/>
          <p:nvPr/>
        </p:nvSpPr>
        <p:spPr>
          <a:xfrm>
            <a:off x="13837320" y="2958840"/>
            <a:ext cx="1283760" cy="161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5,u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4,x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3,y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3,y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33" name="Group 35"/>
          <p:cNvGrpSpPr/>
          <p:nvPr/>
        </p:nvGrpSpPr>
        <p:grpSpPr>
          <a:xfrm>
            <a:off x="5554800" y="2865960"/>
            <a:ext cx="4461480" cy="406440"/>
            <a:chOff x="5554800" y="2865960"/>
            <a:chExt cx="4461480" cy="406440"/>
          </a:xfrm>
        </p:grpSpPr>
        <p:sp>
          <p:nvSpPr>
            <p:cNvPr id="1134" name="Text Box 9"/>
            <p:cNvSpPr/>
            <p:nvPr/>
          </p:nvSpPr>
          <p:spPr>
            <a:xfrm>
              <a:off x="9490680" y="2872800"/>
              <a:ext cx="52560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4,y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5" name="Text Box 6"/>
            <p:cNvSpPr/>
            <p:nvPr/>
          </p:nvSpPr>
          <p:spPr>
            <a:xfrm>
              <a:off x="5554800" y="2865960"/>
              <a:ext cx="52560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3,y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36" name="Group 4"/>
          <p:cNvGrpSpPr/>
          <p:nvPr/>
        </p:nvGrpSpPr>
        <p:grpSpPr>
          <a:xfrm>
            <a:off x="4263480" y="1951200"/>
            <a:ext cx="5679000" cy="401040"/>
            <a:chOff x="4263480" y="1951200"/>
            <a:chExt cx="5679000" cy="401040"/>
          </a:xfrm>
        </p:grpSpPr>
        <p:sp>
          <p:nvSpPr>
            <p:cNvPr id="1137" name="Text Box 6"/>
            <p:cNvSpPr/>
            <p:nvPr/>
          </p:nvSpPr>
          <p:spPr>
            <a:xfrm>
              <a:off x="5570640" y="1951200"/>
              <a:ext cx="54000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5,u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8" name="Text Box 9"/>
            <p:cNvSpPr/>
            <p:nvPr/>
          </p:nvSpPr>
          <p:spPr>
            <a:xfrm>
              <a:off x="9564120" y="1976040"/>
              <a:ext cx="37836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9" name="Text Box 9"/>
            <p:cNvSpPr/>
            <p:nvPr/>
          </p:nvSpPr>
          <p:spPr>
            <a:xfrm>
              <a:off x="8268840" y="1974600"/>
              <a:ext cx="37836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0" name="Text Box 7"/>
            <p:cNvSpPr/>
            <p:nvPr/>
          </p:nvSpPr>
          <p:spPr>
            <a:xfrm>
              <a:off x="6865920" y="1951200"/>
              <a:ext cx="54000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1,u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1" name="Text Box 5"/>
            <p:cNvSpPr/>
            <p:nvPr/>
          </p:nvSpPr>
          <p:spPr>
            <a:xfrm>
              <a:off x="4263480" y="1952640"/>
              <a:ext cx="54000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42" name="Group 33"/>
          <p:cNvGrpSpPr/>
          <p:nvPr/>
        </p:nvGrpSpPr>
        <p:grpSpPr>
          <a:xfrm>
            <a:off x="4263480" y="2255760"/>
            <a:ext cx="5679000" cy="415800"/>
            <a:chOff x="4263480" y="2255760"/>
            <a:chExt cx="5679000" cy="415800"/>
          </a:xfrm>
        </p:grpSpPr>
        <p:sp>
          <p:nvSpPr>
            <p:cNvPr id="1143" name="Text Box 9"/>
            <p:cNvSpPr/>
            <p:nvPr/>
          </p:nvSpPr>
          <p:spPr>
            <a:xfrm>
              <a:off x="9564120" y="2301840"/>
              <a:ext cx="37836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ＭＳ Ｐゴシック"/>
                </a:rPr>
                <a:t>∞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4" name="Text Box 8"/>
            <p:cNvSpPr/>
            <p:nvPr/>
          </p:nvSpPr>
          <p:spPr>
            <a:xfrm>
              <a:off x="8206560" y="2260440"/>
              <a:ext cx="52560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2,x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5" name="Text Box 6"/>
            <p:cNvSpPr/>
            <p:nvPr/>
          </p:nvSpPr>
          <p:spPr>
            <a:xfrm>
              <a:off x="5566320" y="2271960"/>
              <a:ext cx="52560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4,x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6" name="Text Box 5"/>
            <p:cNvSpPr/>
            <p:nvPr/>
          </p:nvSpPr>
          <p:spPr>
            <a:xfrm>
              <a:off x="4263480" y="2255760"/>
              <a:ext cx="54000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47" name="Group 34"/>
          <p:cNvGrpSpPr/>
          <p:nvPr/>
        </p:nvGrpSpPr>
        <p:grpSpPr>
          <a:xfrm>
            <a:off x="4263480" y="2547000"/>
            <a:ext cx="5752800" cy="427320"/>
            <a:chOff x="4263480" y="2547000"/>
            <a:chExt cx="5752800" cy="427320"/>
          </a:xfrm>
        </p:grpSpPr>
        <p:sp>
          <p:nvSpPr>
            <p:cNvPr id="1148" name="Text Box 9"/>
            <p:cNvSpPr/>
            <p:nvPr/>
          </p:nvSpPr>
          <p:spPr>
            <a:xfrm>
              <a:off x="9490680" y="2547000"/>
              <a:ext cx="52560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4,y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9" name="Text Box 6"/>
            <p:cNvSpPr/>
            <p:nvPr/>
          </p:nvSpPr>
          <p:spPr>
            <a:xfrm>
              <a:off x="5566320" y="2574720"/>
              <a:ext cx="52560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3,y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0" name="Text Box 5"/>
            <p:cNvSpPr/>
            <p:nvPr/>
          </p:nvSpPr>
          <p:spPr>
            <a:xfrm>
              <a:off x="4263480" y="2558520"/>
              <a:ext cx="54000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2,u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1" name="Text Box 4"/>
          <p:cNvSpPr/>
          <p:nvPr/>
        </p:nvSpPr>
        <p:spPr>
          <a:xfrm>
            <a:off x="2379960" y="3488040"/>
            <a:ext cx="10260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uxyvwz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Text Box 4"/>
          <p:cNvSpPr/>
          <p:nvPr/>
        </p:nvSpPr>
        <p:spPr>
          <a:xfrm>
            <a:off x="2521800" y="3178800"/>
            <a:ext cx="897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uxyvw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Text Box 4"/>
          <p:cNvSpPr/>
          <p:nvPr/>
        </p:nvSpPr>
        <p:spPr>
          <a:xfrm>
            <a:off x="2698200" y="2856600"/>
            <a:ext cx="7117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4" name="Text Box 4"/>
          <p:cNvSpPr/>
          <p:nvPr/>
        </p:nvSpPr>
        <p:spPr>
          <a:xfrm>
            <a:off x="2816640" y="2546640"/>
            <a:ext cx="5835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5" name="Text Box 4"/>
          <p:cNvSpPr/>
          <p:nvPr/>
        </p:nvSpPr>
        <p:spPr>
          <a:xfrm>
            <a:off x="2958480" y="2241360"/>
            <a:ext cx="4550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ux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6" name="Text Box 4"/>
          <p:cNvSpPr/>
          <p:nvPr/>
        </p:nvSpPr>
        <p:spPr>
          <a:xfrm>
            <a:off x="3082320" y="1941480"/>
            <a:ext cx="3268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u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57" name="Straight Connector 2"/>
          <p:cNvCxnSpPr/>
          <p:nvPr/>
        </p:nvCxnSpPr>
        <p:spPr>
          <a:xfrm>
            <a:off x="1706040" y="23032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158" name="Straight Connector 508"/>
          <p:cNvCxnSpPr/>
          <p:nvPr/>
        </p:nvCxnSpPr>
        <p:spPr>
          <a:xfrm>
            <a:off x="1714680" y="26060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159" name="Straight Connector 509"/>
          <p:cNvCxnSpPr/>
          <p:nvPr/>
        </p:nvCxnSpPr>
        <p:spPr>
          <a:xfrm>
            <a:off x="1719000" y="291348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160" name="Straight Connector 510"/>
          <p:cNvCxnSpPr/>
          <p:nvPr/>
        </p:nvCxnSpPr>
        <p:spPr>
          <a:xfrm>
            <a:off x="1718640" y="322560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cxnSp>
        <p:nvCxnSpPr>
          <p:cNvPr id="1161" name="Straight Connector 513"/>
          <p:cNvCxnSpPr/>
          <p:nvPr/>
        </p:nvCxnSpPr>
        <p:spPr>
          <a:xfrm>
            <a:off x="1727640" y="3565440"/>
            <a:ext cx="8229960" cy="360"/>
          </a:xfrm>
          <a:prstGeom prst="straightConnector1">
            <a:avLst/>
          </a:prstGeom>
          <a:ln w="12700">
            <a:solidFill>
              <a:srgbClr val="ffffff">
                <a:lumMod val="65000"/>
              </a:srgbClr>
            </a:solidFill>
          </a:ln>
        </p:spPr>
      </p:cxnSp>
      <p:sp>
        <p:nvSpPr>
          <p:cNvPr id="1162" name="TextBox 3"/>
          <p:cNvSpPr/>
          <p:nvPr/>
        </p:nvSpPr>
        <p:spPr>
          <a:xfrm>
            <a:off x="4410000" y="1342800"/>
            <a:ext cx="2998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3" name="TextBox 520"/>
          <p:cNvSpPr/>
          <p:nvPr/>
        </p:nvSpPr>
        <p:spPr>
          <a:xfrm>
            <a:off x="5685120" y="1337040"/>
            <a:ext cx="367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TextBox 521"/>
          <p:cNvSpPr/>
          <p:nvPr/>
        </p:nvSpPr>
        <p:spPr>
          <a:xfrm>
            <a:off x="6994800" y="1331280"/>
            <a:ext cx="2998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x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5" name="TextBox 522"/>
          <p:cNvSpPr/>
          <p:nvPr/>
        </p:nvSpPr>
        <p:spPr>
          <a:xfrm>
            <a:off x="8327880" y="1337400"/>
            <a:ext cx="2998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6" name="TextBox 523"/>
          <p:cNvSpPr/>
          <p:nvPr/>
        </p:nvSpPr>
        <p:spPr>
          <a:xfrm>
            <a:off x="9591480" y="1355040"/>
            <a:ext cx="2851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z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67" name="Group 16"/>
          <p:cNvGrpSpPr/>
          <p:nvPr/>
        </p:nvGrpSpPr>
        <p:grpSpPr>
          <a:xfrm>
            <a:off x="3119400" y="1398960"/>
            <a:ext cx="4326840" cy="1233360"/>
            <a:chOff x="3119400" y="1398960"/>
            <a:chExt cx="4326840" cy="1233360"/>
          </a:xfrm>
        </p:grpSpPr>
        <p:grpSp>
          <p:nvGrpSpPr>
            <p:cNvPr id="1168" name="Group 515"/>
            <p:cNvGrpSpPr/>
            <p:nvPr/>
          </p:nvGrpSpPr>
          <p:grpSpPr>
            <a:xfrm>
              <a:off x="3119400" y="1398960"/>
              <a:ext cx="4196160" cy="1233360"/>
              <a:chOff x="3119400" y="1398960"/>
              <a:chExt cx="4196160" cy="1233360"/>
            </a:xfrm>
          </p:grpSpPr>
          <p:sp>
            <p:nvSpPr>
              <p:cNvPr id="1169" name="Oval 516"/>
              <p:cNvSpPr/>
              <p:nvPr/>
            </p:nvSpPr>
            <p:spPr>
              <a:xfrm>
                <a:off x="7000920" y="1398960"/>
                <a:ext cx="31464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1170" name="Straight Arrow Connector 517"/>
              <p:cNvCxnSpPr/>
              <p:nvPr/>
            </p:nvCxnSpPr>
            <p:spPr>
              <a:xfrm flipH="1">
                <a:off x="3421440" y="1694160"/>
                <a:ext cx="3737160" cy="790920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len="med" type="triangle" w="med"/>
              </a:ln>
            </p:spPr>
          </p:cxnSp>
          <p:sp>
            <p:nvSpPr>
              <p:cNvPr id="1171" name="Oval 519"/>
              <p:cNvSpPr/>
              <p:nvPr/>
            </p:nvSpPr>
            <p:spPr>
              <a:xfrm>
                <a:off x="3119400" y="2337120"/>
                <a:ext cx="30168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1172" name="Oval 114"/>
            <p:cNvSpPr/>
            <p:nvPr/>
          </p:nvSpPr>
          <p:spPr>
            <a:xfrm>
              <a:off x="6843600" y="2025720"/>
              <a:ext cx="602640" cy="30168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ＭＳ Ｐゴシック"/>
              </a:endParaRPr>
            </a:p>
          </p:txBody>
        </p:sp>
        <p:cxnSp>
          <p:nvCxnSpPr>
            <p:cNvPr id="1173" name="Straight Arrow Connector 12"/>
            <p:cNvCxnSpPr>
              <a:stCxn id="1172" idx="0"/>
            </p:cNvCxnSpPr>
            <p:nvPr/>
          </p:nvCxnSpPr>
          <p:spPr>
            <a:xfrm flipV="1">
              <a:off x="7144920" y="1638000"/>
              <a:ext cx="720" cy="38808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len="med" type="triangle" w="med"/>
            </a:ln>
          </p:spPr>
        </p:cxnSp>
      </p:grpSp>
      <p:grpSp>
        <p:nvGrpSpPr>
          <p:cNvPr id="1174" name="Group 529"/>
          <p:cNvGrpSpPr/>
          <p:nvPr/>
        </p:nvGrpSpPr>
        <p:grpSpPr>
          <a:xfrm>
            <a:off x="3117600" y="1389240"/>
            <a:ext cx="5680800" cy="1534320"/>
            <a:chOff x="3117600" y="1389240"/>
            <a:chExt cx="5680800" cy="1534320"/>
          </a:xfrm>
        </p:grpSpPr>
        <p:grpSp>
          <p:nvGrpSpPr>
            <p:cNvPr id="1175" name="Group 530"/>
            <p:cNvGrpSpPr/>
            <p:nvPr/>
          </p:nvGrpSpPr>
          <p:grpSpPr>
            <a:xfrm>
              <a:off x="3117600" y="1389240"/>
              <a:ext cx="5538600" cy="1534320"/>
              <a:chOff x="3117600" y="1389240"/>
              <a:chExt cx="5538600" cy="1534320"/>
            </a:xfrm>
          </p:grpSpPr>
          <p:sp>
            <p:nvSpPr>
              <p:cNvPr id="1176" name="Oval 533"/>
              <p:cNvSpPr/>
              <p:nvPr/>
            </p:nvSpPr>
            <p:spPr>
              <a:xfrm>
                <a:off x="8341560" y="1389240"/>
                <a:ext cx="31464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1177" name="Straight Arrow Connector 534"/>
              <p:cNvCxnSpPr/>
              <p:nvPr/>
            </p:nvCxnSpPr>
            <p:spPr>
              <a:xfrm flipH="1">
                <a:off x="3419640" y="1684440"/>
                <a:ext cx="5079600" cy="1091880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len="med" type="triangle" w="med"/>
              </a:ln>
            </p:spPr>
          </p:cxnSp>
          <p:sp>
            <p:nvSpPr>
              <p:cNvPr id="1178" name="Oval 535"/>
              <p:cNvSpPr/>
              <p:nvPr/>
            </p:nvSpPr>
            <p:spPr>
              <a:xfrm>
                <a:off x="3117600" y="2628360"/>
                <a:ext cx="30168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1179" name="Oval 114"/>
            <p:cNvSpPr/>
            <p:nvPr/>
          </p:nvSpPr>
          <p:spPr>
            <a:xfrm>
              <a:off x="8195760" y="2316960"/>
              <a:ext cx="602640" cy="30168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ＭＳ Ｐゴシック"/>
              </a:endParaRPr>
            </a:p>
          </p:txBody>
        </p:sp>
        <p:cxnSp>
          <p:nvCxnSpPr>
            <p:cNvPr id="1180" name="Straight Arrow Connector 532"/>
            <p:cNvCxnSpPr>
              <a:stCxn id="1179" idx="0"/>
              <a:endCxn id="1176" idx="4"/>
            </p:cNvCxnSpPr>
            <p:nvPr/>
          </p:nvCxnSpPr>
          <p:spPr>
            <a:xfrm flipV="1">
              <a:off x="8497080" y="1684440"/>
              <a:ext cx="2160" cy="63288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len="med" type="triangle" w="med"/>
            </a:ln>
          </p:spPr>
        </p:cxnSp>
      </p:grpSp>
      <p:grpSp>
        <p:nvGrpSpPr>
          <p:cNvPr id="1181" name="Group 536"/>
          <p:cNvGrpSpPr/>
          <p:nvPr/>
        </p:nvGrpSpPr>
        <p:grpSpPr>
          <a:xfrm>
            <a:off x="3109320" y="1412280"/>
            <a:ext cx="1746000" cy="1816560"/>
            <a:chOff x="3109320" y="1412280"/>
            <a:chExt cx="1746000" cy="1816560"/>
          </a:xfrm>
        </p:grpSpPr>
        <p:grpSp>
          <p:nvGrpSpPr>
            <p:cNvPr id="1182" name="Group 537"/>
            <p:cNvGrpSpPr/>
            <p:nvPr/>
          </p:nvGrpSpPr>
          <p:grpSpPr>
            <a:xfrm>
              <a:off x="3109320" y="1412280"/>
              <a:ext cx="1601640" cy="1816560"/>
              <a:chOff x="3109320" y="1412280"/>
              <a:chExt cx="1601640" cy="1816560"/>
            </a:xfrm>
          </p:grpSpPr>
          <p:sp>
            <p:nvSpPr>
              <p:cNvPr id="1183" name="Oval 540"/>
              <p:cNvSpPr/>
              <p:nvPr/>
            </p:nvSpPr>
            <p:spPr>
              <a:xfrm>
                <a:off x="4396320" y="1412280"/>
                <a:ext cx="31464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1184" name="Straight Arrow Connector 541"/>
              <p:cNvCxnSpPr/>
              <p:nvPr/>
            </p:nvCxnSpPr>
            <p:spPr>
              <a:xfrm flipH="1">
                <a:off x="3411360" y="1707480"/>
                <a:ext cx="1143000" cy="1374120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len="med" type="triangle" w="med"/>
              </a:ln>
            </p:spPr>
          </p:cxnSp>
          <p:sp>
            <p:nvSpPr>
              <p:cNvPr id="1185" name="Oval 542"/>
              <p:cNvSpPr/>
              <p:nvPr/>
            </p:nvSpPr>
            <p:spPr>
              <a:xfrm>
                <a:off x="3109320" y="2933640"/>
                <a:ext cx="30168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1186" name="Oval 114"/>
            <p:cNvSpPr/>
            <p:nvPr/>
          </p:nvSpPr>
          <p:spPr>
            <a:xfrm>
              <a:off x="4252680" y="2608200"/>
              <a:ext cx="602640" cy="30168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ＭＳ Ｐゴシック"/>
              </a:endParaRPr>
            </a:p>
          </p:txBody>
        </p:sp>
        <p:cxnSp>
          <p:nvCxnSpPr>
            <p:cNvPr id="1187" name="Straight Arrow Connector 539"/>
            <p:cNvCxnSpPr>
              <a:stCxn id="1186" idx="0"/>
              <a:endCxn id="1183" idx="4"/>
            </p:cNvCxnSpPr>
            <p:nvPr/>
          </p:nvCxnSpPr>
          <p:spPr>
            <a:xfrm flipH="1" flipV="1">
              <a:off x="4553640" y="1707480"/>
              <a:ext cx="720" cy="90108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len="med" type="triangle" w="med"/>
            </a:ln>
          </p:spPr>
        </p:cxnSp>
      </p:grpSp>
      <p:grpSp>
        <p:nvGrpSpPr>
          <p:cNvPr id="1188" name="Group 543"/>
          <p:cNvGrpSpPr/>
          <p:nvPr/>
        </p:nvGrpSpPr>
        <p:grpSpPr>
          <a:xfrm>
            <a:off x="3082680" y="1400760"/>
            <a:ext cx="3065040" cy="2136240"/>
            <a:chOff x="3082680" y="1400760"/>
            <a:chExt cx="3065040" cy="2136240"/>
          </a:xfrm>
        </p:grpSpPr>
        <p:grpSp>
          <p:nvGrpSpPr>
            <p:cNvPr id="1189" name="Group 544"/>
            <p:cNvGrpSpPr/>
            <p:nvPr/>
          </p:nvGrpSpPr>
          <p:grpSpPr>
            <a:xfrm>
              <a:off x="3082680" y="1400760"/>
              <a:ext cx="2922840" cy="2136240"/>
              <a:chOff x="3082680" y="1400760"/>
              <a:chExt cx="2922840" cy="2136240"/>
            </a:xfrm>
          </p:grpSpPr>
          <p:sp>
            <p:nvSpPr>
              <p:cNvPr id="1190" name="Oval 548"/>
              <p:cNvSpPr/>
              <p:nvPr/>
            </p:nvSpPr>
            <p:spPr>
              <a:xfrm>
                <a:off x="5690880" y="1400760"/>
                <a:ext cx="31464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1191" name="Straight Arrow Connector 549"/>
              <p:cNvCxnSpPr/>
              <p:nvPr/>
            </p:nvCxnSpPr>
            <p:spPr>
              <a:xfrm flipH="1">
                <a:off x="3384720" y="1695960"/>
                <a:ext cx="2463840" cy="1693800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len="med" type="triangle" w="med"/>
              </a:ln>
            </p:spPr>
          </p:cxnSp>
          <p:sp>
            <p:nvSpPr>
              <p:cNvPr id="1192" name="Oval 550"/>
              <p:cNvSpPr/>
              <p:nvPr/>
            </p:nvSpPr>
            <p:spPr>
              <a:xfrm>
                <a:off x="3082680" y="3241800"/>
                <a:ext cx="30168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1193" name="Oval 114"/>
            <p:cNvSpPr/>
            <p:nvPr/>
          </p:nvSpPr>
          <p:spPr>
            <a:xfrm>
              <a:off x="5545080" y="2930400"/>
              <a:ext cx="602640" cy="30168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ＭＳ Ｐゴシック"/>
              </a:endParaRPr>
            </a:p>
          </p:txBody>
        </p:sp>
        <p:cxnSp>
          <p:nvCxnSpPr>
            <p:cNvPr id="1194" name="Straight Arrow Connector 547"/>
            <p:cNvCxnSpPr>
              <a:stCxn id="1193" idx="0"/>
              <a:endCxn id="1190" idx="4"/>
            </p:cNvCxnSpPr>
            <p:nvPr/>
          </p:nvCxnSpPr>
          <p:spPr>
            <a:xfrm flipV="1">
              <a:off x="5846400" y="1695960"/>
              <a:ext cx="2160" cy="12348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len="med" type="triangle" w="med"/>
            </a:ln>
          </p:spPr>
        </p:cxnSp>
      </p:grpSp>
      <p:grpSp>
        <p:nvGrpSpPr>
          <p:cNvPr id="1195" name="Group 551"/>
          <p:cNvGrpSpPr/>
          <p:nvPr/>
        </p:nvGrpSpPr>
        <p:grpSpPr>
          <a:xfrm>
            <a:off x="3084840" y="1437120"/>
            <a:ext cx="6955920" cy="2426040"/>
            <a:chOff x="3084840" y="1437120"/>
            <a:chExt cx="6955920" cy="2426040"/>
          </a:xfrm>
        </p:grpSpPr>
        <p:grpSp>
          <p:nvGrpSpPr>
            <p:cNvPr id="1196" name="Group 552"/>
            <p:cNvGrpSpPr/>
            <p:nvPr/>
          </p:nvGrpSpPr>
          <p:grpSpPr>
            <a:xfrm>
              <a:off x="3084840" y="1437120"/>
              <a:ext cx="6811560" cy="2426040"/>
              <a:chOff x="3084840" y="1437120"/>
              <a:chExt cx="6811560" cy="2426040"/>
            </a:xfrm>
          </p:grpSpPr>
          <p:sp>
            <p:nvSpPr>
              <p:cNvPr id="1197" name="Oval 555"/>
              <p:cNvSpPr/>
              <p:nvPr/>
            </p:nvSpPr>
            <p:spPr>
              <a:xfrm>
                <a:off x="9581760" y="1437120"/>
                <a:ext cx="31464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1198" name="Straight Arrow Connector 556"/>
              <p:cNvCxnSpPr/>
              <p:nvPr/>
            </p:nvCxnSpPr>
            <p:spPr>
              <a:xfrm flipH="1">
                <a:off x="3386880" y="1732680"/>
                <a:ext cx="6352920" cy="1983240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len="med" type="triangle" w="med"/>
              </a:ln>
            </p:spPr>
          </p:cxnSp>
          <p:sp>
            <p:nvSpPr>
              <p:cNvPr id="1199" name="Oval 557"/>
              <p:cNvSpPr/>
              <p:nvPr/>
            </p:nvSpPr>
            <p:spPr>
              <a:xfrm>
                <a:off x="3084840" y="3567960"/>
                <a:ext cx="301680" cy="29520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1200" name="Oval 114"/>
            <p:cNvSpPr/>
            <p:nvPr/>
          </p:nvSpPr>
          <p:spPr>
            <a:xfrm>
              <a:off x="9438120" y="3268080"/>
              <a:ext cx="602640" cy="30168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ＭＳ Ｐゴシック"/>
              </a:endParaRPr>
            </a:p>
          </p:txBody>
        </p:sp>
        <p:cxnSp>
          <p:nvCxnSpPr>
            <p:cNvPr id="1201" name="Straight Arrow Connector 554"/>
            <p:cNvCxnSpPr>
              <a:stCxn id="1200" idx="0"/>
              <a:endCxn id="1197" idx="4"/>
            </p:cNvCxnSpPr>
            <p:nvPr/>
          </p:nvCxnSpPr>
          <p:spPr>
            <a:xfrm flipH="1" flipV="1">
              <a:off x="9739080" y="1732320"/>
              <a:ext cx="720" cy="153612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len="med" type="triangle" w="med"/>
            </a:ln>
          </p:spPr>
        </p:cxnSp>
      </p:grpSp>
      <p:cxnSp>
        <p:nvCxnSpPr>
          <p:cNvPr id="1202" name="Straight Arrow Connector 37"/>
          <p:cNvCxnSpPr>
            <a:endCxn id="1072" idx="2"/>
          </p:cNvCxnSpPr>
          <p:nvPr/>
        </p:nvCxnSpPr>
        <p:spPr>
          <a:xfrm>
            <a:off x="1957320" y="5544000"/>
            <a:ext cx="440280" cy="42912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1203" name="Straight Arrow Connector 558"/>
          <p:cNvCxnSpPr>
            <a:endCxn id="1083" idx="2"/>
          </p:cNvCxnSpPr>
          <p:nvPr/>
        </p:nvCxnSpPr>
        <p:spPr>
          <a:xfrm>
            <a:off x="2908440" y="6055200"/>
            <a:ext cx="587520" cy="684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1204" name="Straight Arrow Connector 559"/>
          <p:cNvCxnSpPr>
            <a:stCxn id="1067" idx="7"/>
          </p:cNvCxnSpPr>
          <p:nvPr/>
        </p:nvCxnSpPr>
        <p:spPr>
          <a:xfrm flipV="1">
            <a:off x="2068200" y="5023080"/>
            <a:ext cx="502920" cy="2826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1205" name="Straight Arrow Connector 560"/>
          <p:cNvCxnSpPr/>
          <p:nvPr/>
        </p:nvCxnSpPr>
        <p:spPr>
          <a:xfrm flipV="1">
            <a:off x="3744000" y="4988520"/>
            <a:ext cx="360" cy="8838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1206" name="Straight Arrow Connector 561"/>
          <p:cNvCxnSpPr/>
          <p:nvPr/>
        </p:nvCxnSpPr>
        <p:spPr>
          <a:xfrm flipV="1">
            <a:off x="4007160" y="5576760"/>
            <a:ext cx="606960" cy="44856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sp>
        <p:nvSpPr>
          <p:cNvPr id="1207" name="Text Box 3"/>
          <p:cNvSpPr/>
          <p:nvPr/>
        </p:nvSpPr>
        <p:spPr>
          <a:xfrm>
            <a:off x="5894280" y="4463280"/>
            <a:ext cx="5769720" cy="14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find </a:t>
            </a: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not in </a:t>
            </a: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such that </a:t>
            </a: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D(a)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is a minimum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add </a:t>
            </a: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to </a:t>
            </a: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update </a:t>
            </a: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D(b)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for all </a:t>
            </a: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b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adjacent to </a:t>
            </a: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and not in </a:t>
            </a: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</a:t>
            </a: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'</a:t>
            </a: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: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i="1" lang="en-US" sz="2200" strike="noStrike" u="non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    D(b) = </a:t>
            </a:r>
            <a:r>
              <a:rPr b="1" lang="en-US" sz="2200" strike="noStrike" u="non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min</a:t>
            </a:r>
            <a:r>
              <a:rPr b="1" i="1" lang="en-US" sz="2200" strike="noStrike" u="non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 ( D(b), D(a) + c</a:t>
            </a:r>
            <a:r>
              <a:rPr b="1" i="1" lang="en-US" sz="2200" strike="noStrike" u="none" baseline="-25000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a,b </a:t>
            </a:r>
            <a:r>
              <a:rPr b="1" i="1" lang="en-US" sz="2200" strike="noStrike" u="non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)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Rectangle 52"/>
          <p:cNvSpPr/>
          <p:nvPr/>
        </p:nvSpPr>
        <p:spPr>
          <a:xfrm>
            <a:off x="5605920" y="3868200"/>
            <a:ext cx="67208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9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Initialization (step 0): For all a: if </a:t>
            </a: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adjacent to then </a:t>
            </a: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D(a) = c</a:t>
            </a:r>
            <a:r>
              <a:rPr b="0" i="1" lang="en-US" sz="1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u,a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516" dur="indefinite" restart="never" nodeType="tmRoot">
          <p:childTnLst>
            <p:seq>
              <p:cTn id="517" dur="indefinite" nodeType="mainSeq">
                <p:childTnLst>
                  <p:par>
                    <p:cTn id="518" fill="hold">
                      <p:stCondLst>
                        <p:cond delay="indefinite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22" dur="1000"/>
                                        <p:tgtEl>
                                          <p:spTgt spid="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indefinite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7" dur="1000"/>
                                        <p:tgtEl>
                                          <p:spTgt spid="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8" fill="hold">
                            <p:stCondLst>
                              <p:cond delay="1000"/>
                            </p:stCondLst>
                            <p:childTnLst>
                              <p:par>
                                <p:cTn id="52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31" dur="500"/>
                                        <p:tgtEl>
                                          <p:spTgt spid="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533" dur="500"/>
                                        <p:tgtEl>
                                          <p:spTgt spid="1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5" fill="hold">
                      <p:stCondLst>
                        <p:cond delay="indefinite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39" dur="500"/>
                                        <p:tgtEl>
                                          <p:spTgt spid="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0" fill="hold">
                      <p:stCondLst>
                        <p:cond delay="indefinite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543" dur="500"/>
                                        <p:tgtEl>
                                          <p:spTgt spid="1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5" fill="hold">
                      <p:stCondLst>
                        <p:cond delay="indefinite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par>
                                <p:cTn id="54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49" dur="1000"/>
                                        <p:tgtEl>
                                          <p:spTgt spid="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fill="hold">
                      <p:stCondLst>
                        <p:cond delay="indefinite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4" dur="1000"/>
                                        <p:tgtEl>
                                          <p:spTgt spid="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5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8" dur="500"/>
                                        <p:tgtEl>
                                          <p:spTgt spid="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9" fill="hold">
                      <p:stCondLst>
                        <p:cond delay="indefinite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3" dur="500"/>
                                        <p:tgtEl>
                                          <p:spTgt spid="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4" fill="hold">
                      <p:stCondLst>
                        <p:cond delay="indefinite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id="566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567" dur="500"/>
                                        <p:tgtEl>
                                          <p:spTgt spid="1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73" dur="1000"/>
                                        <p:tgtEl>
                                          <p:spTgt spid="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4" fill="hold">
                      <p:stCondLst>
                        <p:cond delay="indefinite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8" dur="1000"/>
                                        <p:tgtEl>
                                          <p:spTgt spid="1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9" fill="hold">
                            <p:stCondLst>
                              <p:cond delay="1000"/>
                            </p:stCondLst>
                            <p:childTnLst>
                              <p:par>
                                <p:cTn id="58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82" dur="500"/>
                                        <p:tgtEl>
                                          <p:spTgt spid="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3" fill="hold">
                      <p:stCondLst>
                        <p:cond delay="indefinite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87" dur="500"/>
                                        <p:tgtEl>
                                          <p:spTgt spid="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8" fill="hold">
                      <p:stCondLst>
                        <p:cond delay="indefinite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591" dur="500"/>
                                        <p:tgtEl>
                                          <p:spTgt spid="1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3" fill="hold">
                      <p:stCondLst>
                        <p:cond delay="indefinite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97" dur="1000"/>
                                        <p:tgtEl>
                                          <p:spTgt spid="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8" fill="hold">
                      <p:stCondLst>
                        <p:cond delay="indefinite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par>
                                <p:cTn id="60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02" dur="1000"/>
                                        <p:tgtEl>
                                          <p:spTgt spid="1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3" fill="hold">
                            <p:stCondLst>
                              <p:cond delay="1000"/>
                            </p:stCondLst>
                            <p:childTnLst>
                              <p:par>
                                <p:cTn id="60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06" dur="500"/>
                                        <p:tgtEl>
                                          <p:spTgt spid="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11" dur="500"/>
                                        <p:tgtEl>
                                          <p:spTgt spid="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2" fill="hold">
                      <p:stCondLst>
                        <p:cond delay="indefinite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nodeType="click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615" dur="500"/>
                                        <p:tgtEl>
                                          <p:spTgt spid="1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7" fill="hold">
                      <p:stCondLst>
                        <p:cond delay="indefinite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21" dur="1000"/>
                                        <p:tgtEl>
                                          <p:spTgt spid="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2" fill="hold">
                      <p:stCondLst>
                        <p:cond delay="indefinite"/>
                      </p:stCondLst>
                      <p:childTnLst>
                        <p:par>
                          <p:cTn id="623" fill="hold">
                            <p:stCondLst>
                              <p:cond delay="0"/>
                            </p:stCondLst>
                            <p:childTnLst>
                              <p:par>
                                <p:cTn id="62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26" dur="1000"/>
                                        <p:tgtEl>
                                          <p:spTgt spid="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7" fill="hold">
                            <p:stCondLst>
                              <p:cond delay="1000"/>
                            </p:stCondLst>
                            <p:childTnLst>
                              <p:par>
                                <p:cTn id="62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30" dur="500"/>
                                        <p:tgtEl>
                                          <p:spTgt spid="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1" fill="hold">
                      <p:stCondLst>
                        <p:cond delay="indefinite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35" dur="500"/>
                                        <p:tgtEl>
                                          <p:spTgt spid="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PlaceHolder 1"/>
          <p:cNvSpPr>
            <a:spLocks noGrp="1"/>
          </p:cNvSpPr>
          <p:nvPr>
            <p:ph type="title"/>
          </p:nvPr>
        </p:nvSpPr>
        <p:spPr>
          <a:xfrm>
            <a:off x="838080" y="354240"/>
            <a:ext cx="111794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Dijkstra’s algorithm: an example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0" name="PlaceHolder 2"/>
          <p:cNvSpPr>
            <a:spLocks noGrp="1"/>
          </p:cNvSpPr>
          <p:nvPr>
            <p:ph type="sldNum" idx="68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7AC06963-E349-44E7-AD96-7C80EBD3CBEE}" type="slidenum"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31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211" name="Group 16"/>
          <p:cNvGrpSpPr/>
          <p:nvPr/>
        </p:nvGrpSpPr>
        <p:grpSpPr>
          <a:xfrm>
            <a:off x="4237200" y="1377720"/>
            <a:ext cx="3571560" cy="2236320"/>
            <a:chOff x="4237200" y="1377720"/>
            <a:chExt cx="3571560" cy="2236320"/>
          </a:xfrm>
        </p:grpSpPr>
        <p:sp>
          <p:nvSpPr>
            <p:cNvPr id="1212" name="Freeform 17"/>
            <p:cNvSpPr/>
            <p:nvPr/>
          </p:nvSpPr>
          <p:spPr>
            <a:xfrm>
              <a:off x="4237200" y="1377720"/>
              <a:ext cx="3571560" cy="2236320"/>
            </a:xfrm>
            <a:custGeom>
              <a:avLst/>
              <a:gdLst>
                <a:gd name="textAreaLeft" fmla="*/ 0 w 3571560"/>
                <a:gd name="textAreaRight" fmla="*/ 3571920 w 3571560"/>
                <a:gd name="textAreaTop" fmla="*/ 0 h 2236320"/>
                <a:gd name="textAreaBottom" fmla="*/ 2236680 h 2236320"/>
                <a:gd name="GluePoint1X" fmla="*/ 0 w 2250"/>
                <a:gd name="GluePoint1Y" fmla="*/ 624 h 1409"/>
                <a:gd name="GluePoint2X" fmla="*/ 219 w 2250"/>
                <a:gd name="GluePoint2Y" fmla="*/ 321 h 1409"/>
                <a:gd name="GluePoint3X" fmla="*/ 529 w 2250"/>
                <a:gd name="GluePoint3Y" fmla="*/ 35 h 1409"/>
                <a:gd name="GluePoint4X" fmla="*/ 1551 w 2250"/>
                <a:gd name="GluePoint4Y" fmla="*/ 111 h 1409"/>
                <a:gd name="GluePoint5X" fmla="*/ 1968 w 2250"/>
                <a:gd name="GluePoint5Y" fmla="*/ 483 h 1409"/>
                <a:gd name="GluePoint6X" fmla="*/ 2199 w 2250"/>
                <a:gd name="GluePoint6Y" fmla="*/ 906 h 1409"/>
                <a:gd name="GluePoint7X" fmla="*/ 1659 w 2250"/>
                <a:gd name="GluePoint7Y" fmla="*/ 1314 h 1409"/>
                <a:gd name="GluePoint8X" fmla="*/ 993 w 2250"/>
                <a:gd name="GluePoint8Y" fmla="*/ 1386 h 1409"/>
                <a:gd name="GluePoint9X" fmla="*/ 465 w 2250"/>
                <a:gd name="GluePoint9Y" fmla="*/ 1356 h 1409"/>
                <a:gd name="GluePoint10X" fmla="*/ 102 w 2250"/>
                <a:gd name="GluePoint10Y" fmla="*/ 1068 h 1409"/>
                <a:gd name="GluePoint11X" fmla="*/ 0 w 2250"/>
                <a:gd name="GluePoint11Y" fmla="*/ 624 h 140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13" name="Freeform 18"/>
            <p:cNvSpPr/>
            <p:nvPr/>
          </p:nvSpPr>
          <p:spPr>
            <a:xfrm>
              <a:off x="4770720" y="224928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14" name="Oval 19"/>
            <p:cNvSpPr/>
            <p:nvPr/>
          </p:nvSpPr>
          <p:spPr>
            <a:xfrm>
              <a:off x="4357800" y="26334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15" name="Line 20"/>
            <p:cNvSpPr/>
            <p:nvPr/>
          </p:nvSpPr>
          <p:spPr>
            <a:xfrm>
              <a:off x="4357800" y="2621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16" name="Line 21"/>
            <p:cNvSpPr/>
            <p:nvPr/>
          </p:nvSpPr>
          <p:spPr>
            <a:xfrm>
              <a:off x="4854600" y="2621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17" name="Rectangle 22"/>
            <p:cNvSpPr/>
            <p:nvPr/>
          </p:nvSpPr>
          <p:spPr>
            <a:xfrm>
              <a:off x="4357800" y="26222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18" name="Oval 23"/>
            <p:cNvSpPr/>
            <p:nvPr/>
          </p:nvSpPr>
          <p:spPr>
            <a:xfrm>
              <a:off x="4353120" y="25286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19" name="Oval 24"/>
            <p:cNvSpPr/>
            <p:nvPr/>
          </p:nvSpPr>
          <p:spPr>
            <a:xfrm>
              <a:off x="5110200" y="324756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20" name="Line 25"/>
            <p:cNvSpPr/>
            <p:nvPr/>
          </p:nvSpPr>
          <p:spPr>
            <a:xfrm>
              <a:off x="5110200" y="323640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21" name="Line 26"/>
            <p:cNvSpPr/>
            <p:nvPr/>
          </p:nvSpPr>
          <p:spPr>
            <a:xfrm>
              <a:off x="5607000" y="323640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22" name="Rectangle 27"/>
            <p:cNvSpPr/>
            <p:nvPr/>
          </p:nvSpPr>
          <p:spPr>
            <a:xfrm>
              <a:off x="5110200" y="323640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23" name="Oval 28"/>
            <p:cNvSpPr/>
            <p:nvPr/>
          </p:nvSpPr>
          <p:spPr>
            <a:xfrm>
              <a:off x="5105520" y="314280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24" name="Oval 29"/>
            <p:cNvSpPr/>
            <p:nvPr/>
          </p:nvSpPr>
          <p:spPr>
            <a:xfrm>
              <a:off x="5104080" y="21524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25" name="Line 30"/>
            <p:cNvSpPr/>
            <p:nvPr/>
          </p:nvSpPr>
          <p:spPr>
            <a:xfrm>
              <a:off x="5103720" y="21409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26" name="Line 31"/>
            <p:cNvSpPr/>
            <p:nvPr/>
          </p:nvSpPr>
          <p:spPr>
            <a:xfrm>
              <a:off x="5600880" y="21409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27" name="Rectangle 32"/>
            <p:cNvSpPr/>
            <p:nvPr/>
          </p:nvSpPr>
          <p:spPr>
            <a:xfrm>
              <a:off x="5104080" y="21412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28" name="Oval 33"/>
            <p:cNvSpPr/>
            <p:nvPr/>
          </p:nvSpPr>
          <p:spPr>
            <a:xfrm>
              <a:off x="5099400" y="20476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29" name="Oval 34"/>
            <p:cNvSpPr/>
            <p:nvPr/>
          </p:nvSpPr>
          <p:spPr>
            <a:xfrm>
              <a:off x="6188400" y="214596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30" name="Line 35"/>
            <p:cNvSpPr/>
            <p:nvPr/>
          </p:nvSpPr>
          <p:spPr>
            <a:xfrm>
              <a:off x="6188040" y="213480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31" name="Line 36"/>
            <p:cNvSpPr/>
            <p:nvPr/>
          </p:nvSpPr>
          <p:spPr>
            <a:xfrm>
              <a:off x="6683400" y="213480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32" name="Rectangle 37"/>
            <p:cNvSpPr/>
            <p:nvPr/>
          </p:nvSpPr>
          <p:spPr>
            <a:xfrm>
              <a:off x="6188400" y="213480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33" name="Oval 38"/>
            <p:cNvSpPr/>
            <p:nvPr/>
          </p:nvSpPr>
          <p:spPr>
            <a:xfrm>
              <a:off x="6193080" y="204588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34" name="Oval 39"/>
            <p:cNvSpPr/>
            <p:nvPr/>
          </p:nvSpPr>
          <p:spPr>
            <a:xfrm>
              <a:off x="6204240" y="324288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35" name="Line 40"/>
            <p:cNvSpPr/>
            <p:nvPr/>
          </p:nvSpPr>
          <p:spPr>
            <a:xfrm>
              <a:off x="6203880" y="323172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36" name="Line 41"/>
            <p:cNvSpPr/>
            <p:nvPr/>
          </p:nvSpPr>
          <p:spPr>
            <a:xfrm>
              <a:off x="6700680" y="323172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37" name="Rectangle 42"/>
            <p:cNvSpPr/>
            <p:nvPr/>
          </p:nvSpPr>
          <p:spPr>
            <a:xfrm>
              <a:off x="6204240" y="323172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38" name="Oval 43"/>
            <p:cNvSpPr/>
            <p:nvPr/>
          </p:nvSpPr>
          <p:spPr>
            <a:xfrm>
              <a:off x="6199560" y="313812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39" name="Oval 44"/>
            <p:cNvSpPr/>
            <p:nvPr/>
          </p:nvSpPr>
          <p:spPr>
            <a:xfrm>
              <a:off x="7101000" y="270144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40" name="Line 45"/>
            <p:cNvSpPr/>
            <p:nvPr/>
          </p:nvSpPr>
          <p:spPr>
            <a:xfrm>
              <a:off x="7101000" y="26902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41" name="Line 46"/>
            <p:cNvSpPr/>
            <p:nvPr/>
          </p:nvSpPr>
          <p:spPr>
            <a:xfrm>
              <a:off x="7597800" y="26902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42" name="Rectangle 47"/>
            <p:cNvSpPr/>
            <p:nvPr/>
          </p:nvSpPr>
          <p:spPr>
            <a:xfrm>
              <a:off x="7101000" y="269028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43" name="Oval 48"/>
            <p:cNvSpPr/>
            <p:nvPr/>
          </p:nvSpPr>
          <p:spPr>
            <a:xfrm>
              <a:off x="7096320" y="25966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44" name="Freeform 49"/>
            <p:cNvSpPr/>
            <p:nvPr/>
          </p:nvSpPr>
          <p:spPr>
            <a:xfrm>
              <a:off x="6451920" y="229212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45" name="Freeform 50"/>
            <p:cNvSpPr/>
            <p:nvPr/>
          </p:nvSpPr>
          <p:spPr>
            <a:xfrm>
              <a:off x="5351760" y="2301480"/>
              <a:ext cx="1080" cy="8521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52120"/>
                <a:gd name="textAreaBottom" fmla="*/ 852480 h 852120"/>
                <a:gd name="GluePoint1X" fmla="*/ 0 w 1"/>
                <a:gd name="GluePoint1Y" fmla="*/ 0 h 537"/>
                <a:gd name="GluePoint2X" fmla="*/ 0 w 1"/>
                <a:gd name="GluePoint2Y" fmla="*/ 537 h 5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46" name="Freeform 51"/>
            <p:cNvSpPr/>
            <p:nvPr/>
          </p:nvSpPr>
          <p:spPr>
            <a:xfrm>
              <a:off x="5613480" y="2277720"/>
              <a:ext cx="799920" cy="952200"/>
            </a:xfrm>
            <a:custGeom>
              <a:avLst/>
              <a:gdLst>
                <a:gd name="textAreaLeft" fmla="*/ 0 w 799920"/>
                <a:gd name="textAreaRight" fmla="*/ 800280 w 799920"/>
                <a:gd name="textAreaTop" fmla="*/ 0 h 952200"/>
                <a:gd name="textAreaBottom" fmla="*/ 952560 h 952200"/>
                <a:gd name="GluePoint1X" fmla="*/ 0 w 378"/>
                <a:gd name="GluePoint1Y" fmla="*/ 11993521 h 174"/>
                <a:gd name="GluePoint2X" fmla="*/ 5035 w 378"/>
                <a:gd name="GluePoint2Y" fmla="*/ 0 h 1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47" name="Freeform 52"/>
            <p:cNvSpPr/>
            <p:nvPr/>
          </p:nvSpPr>
          <p:spPr>
            <a:xfrm>
              <a:off x="6704280" y="283032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48" name="Freeform 53"/>
            <p:cNvSpPr/>
            <p:nvPr/>
          </p:nvSpPr>
          <p:spPr>
            <a:xfrm>
              <a:off x="5623200" y="327780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43560" bIns="-43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49" name="Freeform 54"/>
            <p:cNvSpPr/>
            <p:nvPr/>
          </p:nvSpPr>
          <p:spPr>
            <a:xfrm>
              <a:off x="4685040" y="276336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50" name="Freeform 55"/>
            <p:cNvSpPr/>
            <p:nvPr/>
          </p:nvSpPr>
          <p:spPr>
            <a:xfrm>
              <a:off x="5613480" y="218232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43560" bIns="-43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51" name="Freeform 56"/>
            <p:cNvSpPr/>
            <p:nvPr/>
          </p:nvSpPr>
          <p:spPr>
            <a:xfrm>
              <a:off x="6685200" y="2177640"/>
              <a:ext cx="628200" cy="423360"/>
            </a:xfrm>
            <a:custGeom>
              <a:avLst/>
              <a:gdLst>
                <a:gd name="textAreaLeft" fmla="*/ 0 w 628200"/>
                <a:gd name="textAreaRight" fmla="*/ 628560 w 628200"/>
                <a:gd name="textAreaTop" fmla="*/ 0 h 423360"/>
                <a:gd name="textAreaBottom" fmla="*/ 423720 h 423360"/>
                <a:gd name="GluePoint1X" fmla="*/ 396 w 396"/>
                <a:gd name="GluePoint1Y" fmla="*/ 267 h 267"/>
                <a:gd name="GluePoint2X" fmla="*/ 0 w 396"/>
                <a:gd name="GluePoint2Y" fmla="*/ 0 h 2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52" name="Freeform 57"/>
            <p:cNvSpPr/>
            <p:nvPr/>
          </p:nvSpPr>
          <p:spPr>
            <a:xfrm>
              <a:off x="4594320" y="1496520"/>
              <a:ext cx="1761840" cy="1023480"/>
            </a:xfrm>
            <a:custGeom>
              <a:avLst/>
              <a:gdLst>
                <a:gd name="textAreaLeft" fmla="*/ 0 w 1761840"/>
                <a:gd name="textAreaRight" fmla="*/ 1762200 w 1761840"/>
                <a:gd name="textAreaTop" fmla="*/ 0 h 1023480"/>
                <a:gd name="textAreaBottom" fmla="*/ 1023840 h 1023480"/>
                <a:gd name="GluePoint1X" fmla="*/ 1110 w 1110"/>
                <a:gd name="GluePoint1Y" fmla="*/ 342 h 645"/>
                <a:gd name="GluePoint2X" fmla="*/ 0 w 1110"/>
                <a:gd name="GluePoint2Y" fmla="*/ 645 h 6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grpSp>
          <p:nvGrpSpPr>
            <p:cNvPr id="1253" name="Group 58"/>
            <p:cNvGrpSpPr/>
            <p:nvPr/>
          </p:nvGrpSpPr>
          <p:grpSpPr>
            <a:xfrm>
              <a:off x="4435560" y="2445840"/>
              <a:ext cx="325080" cy="396360"/>
              <a:chOff x="4435560" y="2445840"/>
              <a:chExt cx="325080" cy="396360"/>
            </a:xfrm>
          </p:grpSpPr>
          <p:sp>
            <p:nvSpPr>
              <p:cNvPr id="1254" name="Rectangle 59"/>
              <p:cNvSpPr/>
              <p:nvPr/>
            </p:nvSpPr>
            <p:spPr>
              <a:xfrm>
                <a:off x="4479480" y="254916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255" name="Text Box 60"/>
              <p:cNvSpPr/>
              <p:nvPr/>
            </p:nvSpPr>
            <p:spPr>
              <a:xfrm>
                <a:off x="4435560" y="2445840"/>
                <a:ext cx="32508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56" name="Group 61"/>
            <p:cNvGrpSpPr/>
            <p:nvPr/>
          </p:nvGrpSpPr>
          <p:grpSpPr>
            <a:xfrm>
              <a:off x="6299280" y="3055680"/>
              <a:ext cx="310680" cy="396360"/>
              <a:chOff x="6299280" y="3055680"/>
              <a:chExt cx="310680" cy="396360"/>
            </a:xfrm>
          </p:grpSpPr>
          <p:sp>
            <p:nvSpPr>
              <p:cNvPr id="1257" name="Rectangle 62"/>
              <p:cNvSpPr/>
              <p:nvPr/>
            </p:nvSpPr>
            <p:spPr>
              <a:xfrm>
                <a:off x="6337080" y="315864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258" name="Text Box 63"/>
              <p:cNvSpPr/>
              <p:nvPr/>
            </p:nvSpPr>
            <p:spPr>
              <a:xfrm>
                <a:off x="6299280" y="3055680"/>
                <a:ext cx="31068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59" name="Group 64"/>
            <p:cNvGrpSpPr/>
            <p:nvPr/>
          </p:nvGrpSpPr>
          <p:grpSpPr>
            <a:xfrm>
              <a:off x="5205600" y="3003120"/>
              <a:ext cx="336240" cy="456840"/>
              <a:chOff x="5205600" y="3003120"/>
              <a:chExt cx="336240" cy="456840"/>
            </a:xfrm>
          </p:grpSpPr>
          <p:sp>
            <p:nvSpPr>
              <p:cNvPr id="1260" name="Rectangle 65"/>
              <p:cNvSpPr/>
              <p:nvPr/>
            </p:nvSpPr>
            <p:spPr>
              <a:xfrm>
                <a:off x="5254560" y="315396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261" name="Text Box 66"/>
              <p:cNvSpPr/>
              <p:nvPr/>
            </p:nvSpPr>
            <p:spPr>
              <a:xfrm>
                <a:off x="5205600" y="3003120"/>
                <a:ext cx="33624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62" name="Group 67"/>
            <p:cNvGrpSpPr/>
            <p:nvPr/>
          </p:nvGrpSpPr>
          <p:grpSpPr>
            <a:xfrm>
              <a:off x="6262920" y="1960200"/>
              <a:ext cx="367920" cy="396360"/>
              <a:chOff x="6262920" y="1960200"/>
              <a:chExt cx="367920" cy="396360"/>
            </a:xfrm>
          </p:grpSpPr>
          <p:sp>
            <p:nvSpPr>
              <p:cNvPr id="1263" name="Rectangle 68"/>
              <p:cNvSpPr/>
              <p:nvPr/>
            </p:nvSpPr>
            <p:spPr>
              <a:xfrm>
                <a:off x="6327000" y="206352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264" name="Text Box 69"/>
              <p:cNvSpPr/>
              <p:nvPr/>
            </p:nvSpPr>
            <p:spPr>
              <a:xfrm>
                <a:off x="6262920" y="1960200"/>
                <a:ext cx="36792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65" name="Group 70"/>
            <p:cNvGrpSpPr/>
            <p:nvPr/>
          </p:nvGrpSpPr>
          <p:grpSpPr>
            <a:xfrm>
              <a:off x="5204160" y="1960200"/>
              <a:ext cx="310680" cy="396360"/>
              <a:chOff x="5204160" y="1960200"/>
              <a:chExt cx="310680" cy="396360"/>
            </a:xfrm>
          </p:grpSpPr>
          <p:sp>
            <p:nvSpPr>
              <p:cNvPr id="1266" name="Rectangle 71"/>
              <p:cNvSpPr/>
              <p:nvPr/>
            </p:nvSpPr>
            <p:spPr>
              <a:xfrm>
                <a:off x="5241600" y="206352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267" name="Text Box 72"/>
              <p:cNvSpPr/>
              <p:nvPr/>
            </p:nvSpPr>
            <p:spPr>
              <a:xfrm>
                <a:off x="5204160" y="1960200"/>
                <a:ext cx="31068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68" name="Group 73"/>
            <p:cNvGrpSpPr/>
            <p:nvPr/>
          </p:nvGrpSpPr>
          <p:grpSpPr>
            <a:xfrm>
              <a:off x="7194600" y="2464920"/>
              <a:ext cx="336240" cy="456840"/>
              <a:chOff x="7194600" y="2464920"/>
              <a:chExt cx="336240" cy="456840"/>
            </a:xfrm>
          </p:grpSpPr>
          <p:sp>
            <p:nvSpPr>
              <p:cNvPr id="1269" name="Rectangle 74"/>
              <p:cNvSpPr/>
              <p:nvPr/>
            </p:nvSpPr>
            <p:spPr>
              <a:xfrm>
                <a:off x="7246800" y="261576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270" name="Text Box 75"/>
              <p:cNvSpPr/>
              <p:nvPr/>
            </p:nvSpPr>
            <p:spPr>
              <a:xfrm>
                <a:off x="7194600" y="2464920"/>
                <a:ext cx="33624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71" name="Text Box 76"/>
            <p:cNvSpPr/>
            <p:nvPr/>
          </p:nvSpPr>
          <p:spPr>
            <a:xfrm>
              <a:off x="4762800" y="216648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2" name="Text Box 77"/>
            <p:cNvSpPr/>
            <p:nvPr/>
          </p:nvSpPr>
          <p:spPr>
            <a:xfrm>
              <a:off x="5315040" y="251424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3" name="Text Box 78"/>
            <p:cNvSpPr/>
            <p:nvPr/>
          </p:nvSpPr>
          <p:spPr>
            <a:xfrm>
              <a:off x="4624560" y="285228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4" name="Text Box 79"/>
            <p:cNvSpPr/>
            <p:nvPr/>
          </p:nvSpPr>
          <p:spPr>
            <a:xfrm>
              <a:off x="5924880" y="266184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5" name="Text Box 80"/>
            <p:cNvSpPr/>
            <p:nvPr/>
          </p:nvSpPr>
          <p:spPr>
            <a:xfrm>
              <a:off x="5824800" y="322380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6" name="Text Box 81"/>
            <p:cNvSpPr/>
            <p:nvPr/>
          </p:nvSpPr>
          <p:spPr>
            <a:xfrm>
              <a:off x="6396120" y="254268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1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7" name="Text Box 82"/>
            <p:cNvSpPr/>
            <p:nvPr/>
          </p:nvSpPr>
          <p:spPr>
            <a:xfrm>
              <a:off x="6967800" y="296208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8" name="Text Box 83"/>
            <p:cNvSpPr/>
            <p:nvPr/>
          </p:nvSpPr>
          <p:spPr>
            <a:xfrm>
              <a:off x="6924960" y="210960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Text Box 84"/>
            <p:cNvSpPr/>
            <p:nvPr/>
          </p:nvSpPr>
          <p:spPr>
            <a:xfrm>
              <a:off x="5758200" y="187128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Text Box 85"/>
            <p:cNvSpPr/>
            <p:nvPr/>
          </p:nvSpPr>
          <p:spPr>
            <a:xfrm>
              <a:off x="5200920" y="1447560"/>
              <a:ext cx="3106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5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1" name="Text Box 6"/>
          <p:cNvSpPr/>
          <p:nvPr/>
        </p:nvSpPr>
        <p:spPr>
          <a:xfrm>
            <a:off x="13837320" y="2958840"/>
            <a:ext cx="1283760" cy="161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D(w),p(w)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5,u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4,x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3,y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3,y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82" name="Straight Arrow Connector 37"/>
          <p:cNvCxnSpPr>
            <a:endCxn id="1223" idx="2"/>
          </p:cNvCxnSpPr>
          <p:nvPr/>
        </p:nvCxnSpPr>
        <p:spPr>
          <a:xfrm>
            <a:off x="4665960" y="2789280"/>
            <a:ext cx="439920" cy="42912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1283" name="Straight Arrow Connector 558"/>
          <p:cNvCxnSpPr>
            <a:endCxn id="1234" idx="2"/>
          </p:cNvCxnSpPr>
          <p:nvPr/>
        </p:nvCxnSpPr>
        <p:spPr>
          <a:xfrm>
            <a:off x="5617080" y="3300480"/>
            <a:ext cx="587520" cy="684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1284" name="Straight Arrow Connector 559"/>
          <p:cNvCxnSpPr>
            <a:stCxn id="1218" idx="7"/>
          </p:cNvCxnSpPr>
          <p:nvPr/>
        </p:nvCxnSpPr>
        <p:spPr>
          <a:xfrm flipV="1">
            <a:off x="4776840" y="2268360"/>
            <a:ext cx="502920" cy="2826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1285" name="Straight Arrow Connector 560"/>
          <p:cNvCxnSpPr/>
          <p:nvPr/>
        </p:nvCxnSpPr>
        <p:spPr>
          <a:xfrm flipV="1">
            <a:off x="6452280" y="2233800"/>
            <a:ext cx="360" cy="88380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cxnSp>
        <p:nvCxnSpPr>
          <p:cNvPr id="1286" name="Straight Arrow Connector 561"/>
          <p:cNvCxnSpPr/>
          <p:nvPr/>
        </p:nvCxnSpPr>
        <p:spPr>
          <a:xfrm flipV="1">
            <a:off x="6715440" y="2822040"/>
            <a:ext cx="607320" cy="448560"/>
          </a:xfrm>
          <a:prstGeom prst="straightConnector1">
            <a:avLst/>
          </a:prstGeom>
          <a:ln w="31750">
            <a:solidFill>
              <a:srgbClr val="ff0000"/>
            </a:solidFill>
            <a:tailEnd len="med" type="triangle" w="med"/>
          </a:ln>
        </p:spPr>
      </p:cxnSp>
      <p:grpSp>
        <p:nvGrpSpPr>
          <p:cNvPr id="1287" name="Group 3"/>
          <p:cNvGrpSpPr/>
          <p:nvPr/>
        </p:nvGrpSpPr>
        <p:grpSpPr>
          <a:xfrm>
            <a:off x="1182240" y="4594680"/>
            <a:ext cx="3245040" cy="1499760"/>
            <a:chOff x="1182240" y="4594680"/>
            <a:chExt cx="3245040" cy="1499760"/>
          </a:xfrm>
        </p:grpSpPr>
        <p:sp>
          <p:nvSpPr>
            <p:cNvPr id="1288" name="Freeform 4"/>
            <p:cNvSpPr/>
            <p:nvPr/>
          </p:nvSpPr>
          <p:spPr>
            <a:xfrm>
              <a:off x="1599840" y="4883760"/>
              <a:ext cx="542520" cy="294840"/>
            </a:xfrm>
            <a:custGeom>
              <a:avLst/>
              <a:gdLst>
                <a:gd name="textAreaLeft" fmla="*/ 0 w 542520"/>
                <a:gd name="textAreaRight" fmla="*/ 542880 w 542520"/>
                <a:gd name="textAreaTop" fmla="*/ 0 h 294840"/>
                <a:gd name="textAreaBottom" fmla="*/ 295200 h 294840"/>
                <a:gd name="GluePoint1X" fmla="*/ 0 w 342"/>
                <a:gd name="GluePoint1Y" fmla="*/ 186 h 186"/>
                <a:gd name="GluePoint2X" fmla="*/ 342 w 342"/>
                <a:gd name="GluePoint2Y" fmla="*/ 0 h 1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89" name="Oval 5"/>
            <p:cNvSpPr/>
            <p:nvPr/>
          </p:nvSpPr>
          <p:spPr>
            <a:xfrm>
              <a:off x="1187280" y="526788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90" name="Line 6"/>
            <p:cNvSpPr/>
            <p:nvPr/>
          </p:nvSpPr>
          <p:spPr>
            <a:xfrm>
              <a:off x="1186920" y="525672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91" name="Line 7"/>
            <p:cNvSpPr/>
            <p:nvPr/>
          </p:nvSpPr>
          <p:spPr>
            <a:xfrm>
              <a:off x="1683720" y="525672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92" name="Rectangle 8"/>
            <p:cNvSpPr/>
            <p:nvPr/>
          </p:nvSpPr>
          <p:spPr>
            <a:xfrm>
              <a:off x="1187280" y="525672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93" name="Oval 9"/>
            <p:cNvSpPr/>
            <p:nvPr/>
          </p:nvSpPr>
          <p:spPr>
            <a:xfrm>
              <a:off x="1182240" y="516312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94" name="Oval 10"/>
            <p:cNvSpPr/>
            <p:nvPr/>
          </p:nvSpPr>
          <p:spPr>
            <a:xfrm>
              <a:off x="1939680" y="58824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95" name="Line 11"/>
            <p:cNvSpPr/>
            <p:nvPr/>
          </p:nvSpPr>
          <p:spPr>
            <a:xfrm>
              <a:off x="1939320" y="5870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96" name="Line 12"/>
            <p:cNvSpPr/>
            <p:nvPr/>
          </p:nvSpPr>
          <p:spPr>
            <a:xfrm>
              <a:off x="2436480" y="58708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97" name="Rectangle 13"/>
            <p:cNvSpPr/>
            <p:nvPr/>
          </p:nvSpPr>
          <p:spPr>
            <a:xfrm>
              <a:off x="1939680" y="58712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98" name="Oval 14"/>
            <p:cNvSpPr/>
            <p:nvPr/>
          </p:nvSpPr>
          <p:spPr>
            <a:xfrm>
              <a:off x="1935000" y="577728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99" name="Oval 15"/>
            <p:cNvSpPr/>
            <p:nvPr/>
          </p:nvSpPr>
          <p:spPr>
            <a:xfrm>
              <a:off x="1933200" y="478692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00" name="Line 16"/>
            <p:cNvSpPr/>
            <p:nvPr/>
          </p:nvSpPr>
          <p:spPr>
            <a:xfrm>
              <a:off x="1933200" y="4775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01" name="Line 17"/>
            <p:cNvSpPr/>
            <p:nvPr/>
          </p:nvSpPr>
          <p:spPr>
            <a:xfrm>
              <a:off x="2430000" y="477540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02" name="Rectangle 18"/>
            <p:cNvSpPr/>
            <p:nvPr/>
          </p:nvSpPr>
          <p:spPr>
            <a:xfrm>
              <a:off x="1933200" y="477576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03" name="Oval 19"/>
            <p:cNvSpPr/>
            <p:nvPr/>
          </p:nvSpPr>
          <p:spPr>
            <a:xfrm>
              <a:off x="1928520" y="468216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04" name="Oval 20"/>
            <p:cNvSpPr/>
            <p:nvPr/>
          </p:nvSpPr>
          <p:spPr>
            <a:xfrm>
              <a:off x="3017520" y="478044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05" name="Line 21"/>
            <p:cNvSpPr/>
            <p:nvPr/>
          </p:nvSpPr>
          <p:spPr>
            <a:xfrm>
              <a:off x="3017160" y="47692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06" name="Line 22"/>
            <p:cNvSpPr/>
            <p:nvPr/>
          </p:nvSpPr>
          <p:spPr>
            <a:xfrm>
              <a:off x="3512520" y="476928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07" name="Rectangle 23"/>
            <p:cNvSpPr/>
            <p:nvPr/>
          </p:nvSpPr>
          <p:spPr>
            <a:xfrm>
              <a:off x="3017520" y="476928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08" name="Oval 24"/>
            <p:cNvSpPr/>
            <p:nvPr/>
          </p:nvSpPr>
          <p:spPr>
            <a:xfrm>
              <a:off x="3022200" y="468036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09" name="Oval 25"/>
            <p:cNvSpPr/>
            <p:nvPr/>
          </p:nvSpPr>
          <p:spPr>
            <a:xfrm>
              <a:off x="3033360" y="587736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10" name="Line 26"/>
            <p:cNvSpPr/>
            <p:nvPr/>
          </p:nvSpPr>
          <p:spPr>
            <a:xfrm>
              <a:off x="3033360" y="586620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11" name="Line 27"/>
            <p:cNvSpPr/>
            <p:nvPr/>
          </p:nvSpPr>
          <p:spPr>
            <a:xfrm>
              <a:off x="3530160" y="586620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12" name="Rectangle 28"/>
            <p:cNvSpPr/>
            <p:nvPr/>
          </p:nvSpPr>
          <p:spPr>
            <a:xfrm>
              <a:off x="3033360" y="586620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13" name="Oval 29"/>
            <p:cNvSpPr/>
            <p:nvPr/>
          </p:nvSpPr>
          <p:spPr>
            <a:xfrm>
              <a:off x="3028680" y="577260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14" name="Oval 30"/>
            <p:cNvSpPr/>
            <p:nvPr/>
          </p:nvSpPr>
          <p:spPr>
            <a:xfrm>
              <a:off x="3930480" y="533628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15" name="Line 31"/>
            <p:cNvSpPr/>
            <p:nvPr/>
          </p:nvSpPr>
          <p:spPr>
            <a:xfrm>
              <a:off x="3930120" y="532476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16" name="Line 32"/>
            <p:cNvSpPr/>
            <p:nvPr/>
          </p:nvSpPr>
          <p:spPr>
            <a:xfrm>
              <a:off x="4426920" y="532476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17" name="Rectangle 33"/>
            <p:cNvSpPr/>
            <p:nvPr/>
          </p:nvSpPr>
          <p:spPr>
            <a:xfrm>
              <a:off x="3930480" y="532512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18" name="Oval 34"/>
            <p:cNvSpPr/>
            <p:nvPr/>
          </p:nvSpPr>
          <p:spPr>
            <a:xfrm>
              <a:off x="3925440" y="523152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19" name="Freeform 35"/>
            <p:cNvSpPr/>
            <p:nvPr/>
          </p:nvSpPr>
          <p:spPr>
            <a:xfrm>
              <a:off x="3281040" y="4926600"/>
              <a:ext cx="1080" cy="828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828360"/>
                <a:gd name="textAreaBottom" fmla="*/ 828720 h 828360"/>
                <a:gd name="GluePoint1X" fmla="*/ 0 w 1"/>
                <a:gd name="GluePoint1Y" fmla="*/ 0 h 522"/>
                <a:gd name="GluePoint2X" fmla="*/ 0 w 1"/>
                <a:gd name="GluePoint2Y" fmla="*/ 522 h 5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20" name="Freeform 36"/>
            <p:cNvSpPr/>
            <p:nvPr/>
          </p:nvSpPr>
          <p:spPr>
            <a:xfrm>
              <a:off x="3533400" y="5464800"/>
              <a:ext cx="580680" cy="42840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428400"/>
                <a:gd name="textAreaBottom" fmla="*/ 428760 h 428400"/>
                <a:gd name="GluePoint1X" fmla="*/ 0 w 366"/>
                <a:gd name="GluePoint1Y" fmla="*/ 270 h 270"/>
                <a:gd name="GluePoint2X" fmla="*/ 366 w 366"/>
                <a:gd name="GluePoint2Y" fmla="*/ 0 h 27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21" name="Freeform 37"/>
            <p:cNvSpPr/>
            <p:nvPr/>
          </p:nvSpPr>
          <p:spPr>
            <a:xfrm>
              <a:off x="2452320" y="5912280"/>
              <a:ext cx="580680" cy="108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1080"/>
                <a:gd name="textAreaBottom" fmla="*/ 1440 h 1080"/>
                <a:gd name="GluePoint1X" fmla="*/ 366 w 366"/>
                <a:gd name="GluePoint1Y" fmla="*/ 0 h 1"/>
                <a:gd name="GluePoint2X" fmla="*/ 0 w 366"/>
                <a:gd name="GluePoint2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43560" bIns="-43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322" name="Freeform 38"/>
            <p:cNvSpPr/>
            <p:nvPr/>
          </p:nvSpPr>
          <p:spPr>
            <a:xfrm>
              <a:off x="1514160" y="5398200"/>
              <a:ext cx="437760" cy="418680"/>
            </a:xfrm>
            <a:custGeom>
              <a:avLst/>
              <a:gdLst>
                <a:gd name="textAreaLeft" fmla="*/ 0 w 437760"/>
                <a:gd name="textAreaRight" fmla="*/ 438120 w 437760"/>
                <a:gd name="textAreaTop" fmla="*/ 0 h 418680"/>
                <a:gd name="textAreaBottom" fmla="*/ 419040 h 418680"/>
                <a:gd name="GluePoint1X" fmla="*/ 276 w 276"/>
                <a:gd name="GluePoint1Y" fmla="*/ 264 h 264"/>
                <a:gd name="GluePoint2X" fmla="*/ 0 w 276"/>
                <a:gd name="GluePoint2Y" fmla="*/ 0 h 2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grpSp>
          <p:nvGrpSpPr>
            <p:cNvPr id="1323" name="Group 39"/>
            <p:cNvGrpSpPr/>
            <p:nvPr/>
          </p:nvGrpSpPr>
          <p:grpSpPr>
            <a:xfrm>
              <a:off x="1265040" y="5080680"/>
              <a:ext cx="325080" cy="396360"/>
              <a:chOff x="1265040" y="5080680"/>
              <a:chExt cx="325080" cy="396360"/>
            </a:xfrm>
          </p:grpSpPr>
          <p:sp>
            <p:nvSpPr>
              <p:cNvPr id="1324" name="Rectangle 40"/>
              <p:cNvSpPr/>
              <p:nvPr/>
            </p:nvSpPr>
            <p:spPr>
              <a:xfrm>
                <a:off x="1308600" y="5183640"/>
                <a:ext cx="2250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325" name="Text Box 41"/>
              <p:cNvSpPr/>
              <p:nvPr/>
            </p:nvSpPr>
            <p:spPr>
              <a:xfrm>
                <a:off x="1265040" y="5080680"/>
                <a:ext cx="32508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u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26" name="Group 42"/>
            <p:cNvGrpSpPr/>
            <p:nvPr/>
          </p:nvGrpSpPr>
          <p:grpSpPr>
            <a:xfrm>
              <a:off x="3128760" y="5690160"/>
              <a:ext cx="310680" cy="396360"/>
              <a:chOff x="3128760" y="5690160"/>
              <a:chExt cx="310680" cy="396360"/>
            </a:xfrm>
          </p:grpSpPr>
          <p:sp>
            <p:nvSpPr>
              <p:cNvPr id="1327" name="Rectangle 43"/>
              <p:cNvSpPr/>
              <p:nvPr/>
            </p:nvSpPr>
            <p:spPr>
              <a:xfrm>
                <a:off x="3166200" y="579348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328" name="Text Box 44"/>
              <p:cNvSpPr/>
              <p:nvPr/>
            </p:nvSpPr>
            <p:spPr>
              <a:xfrm>
                <a:off x="3128760" y="5690160"/>
                <a:ext cx="31068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y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29" name="Group 45"/>
            <p:cNvGrpSpPr/>
            <p:nvPr/>
          </p:nvGrpSpPr>
          <p:grpSpPr>
            <a:xfrm>
              <a:off x="2034720" y="5637600"/>
              <a:ext cx="336240" cy="456840"/>
              <a:chOff x="2034720" y="5637600"/>
              <a:chExt cx="336240" cy="456840"/>
            </a:xfrm>
          </p:grpSpPr>
          <p:sp>
            <p:nvSpPr>
              <p:cNvPr id="1330" name="Rectangle 46"/>
              <p:cNvSpPr/>
              <p:nvPr/>
            </p:nvSpPr>
            <p:spPr>
              <a:xfrm>
                <a:off x="2083680" y="578844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331" name="Text Box 47"/>
              <p:cNvSpPr/>
              <p:nvPr/>
            </p:nvSpPr>
            <p:spPr>
              <a:xfrm>
                <a:off x="2034720" y="5637600"/>
                <a:ext cx="33624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32" name="Group 48"/>
            <p:cNvGrpSpPr/>
            <p:nvPr/>
          </p:nvGrpSpPr>
          <p:grpSpPr>
            <a:xfrm>
              <a:off x="3092040" y="4594680"/>
              <a:ext cx="367920" cy="396360"/>
              <a:chOff x="3092040" y="4594680"/>
              <a:chExt cx="367920" cy="396360"/>
            </a:xfrm>
          </p:grpSpPr>
          <p:sp>
            <p:nvSpPr>
              <p:cNvPr id="1333" name="Rectangle 49"/>
              <p:cNvSpPr/>
              <p:nvPr/>
            </p:nvSpPr>
            <p:spPr>
              <a:xfrm>
                <a:off x="3156480" y="469800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334" name="Text Box 50"/>
              <p:cNvSpPr/>
              <p:nvPr/>
            </p:nvSpPr>
            <p:spPr>
              <a:xfrm>
                <a:off x="3092040" y="4594680"/>
                <a:ext cx="36792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35" name="Group 51"/>
            <p:cNvGrpSpPr/>
            <p:nvPr/>
          </p:nvGrpSpPr>
          <p:grpSpPr>
            <a:xfrm>
              <a:off x="2033280" y="4594680"/>
              <a:ext cx="310680" cy="396360"/>
              <a:chOff x="2033280" y="4594680"/>
              <a:chExt cx="310680" cy="396360"/>
            </a:xfrm>
          </p:grpSpPr>
          <p:sp>
            <p:nvSpPr>
              <p:cNvPr id="1336" name="Rectangle 52"/>
              <p:cNvSpPr/>
              <p:nvPr/>
            </p:nvSpPr>
            <p:spPr>
              <a:xfrm>
                <a:off x="2070720" y="469800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337" name="Text Box 53"/>
              <p:cNvSpPr/>
              <p:nvPr/>
            </p:nvSpPr>
            <p:spPr>
              <a:xfrm>
                <a:off x="2033280" y="4594680"/>
                <a:ext cx="31068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38" name="Group 54"/>
            <p:cNvGrpSpPr/>
            <p:nvPr/>
          </p:nvGrpSpPr>
          <p:grpSpPr>
            <a:xfrm>
              <a:off x="4024080" y="5099760"/>
              <a:ext cx="336240" cy="456840"/>
              <a:chOff x="4024080" y="5099760"/>
              <a:chExt cx="336240" cy="456840"/>
            </a:xfrm>
          </p:grpSpPr>
          <p:sp>
            <p:nvSpPr>
              <p:cNvPr id="1339" name="Rectangle 55"/>
              <p:cNvSpPr/>
              <p:nvPr/>
            </p:nvSpPr>
            <p:spPr>
              <a:xfrm>
                <a:off x="4075920" y="5250240"/>
                <a:ext cx="22284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340" name="Text Box 56"/>
              <p:cNvSpPr/>
              <p:nvPr/>
            </p:nvSpPr>
            <p:spPr>
              <a:xfrm>
                <a:off x="4024080" y="5099760"/>
                <a:ext cx="33624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z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41" name="Text Box 57"/>
          <p:cNvSpPr/>
          <p:nvPr/>
        </p:nvSpPr>
        <p:spPr>
          <a:xfrm>
            <a:off x="441360" y="3975480"/>
            <a:ext cx="4751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resulting least-cost-path tree from u: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42" name="Group 23"/>
          <p:cNvGrpSpPr/>
          <p:nvPr/>
        </p:nvGrpSpPr>
        <p:grpSpPr>
          <a:xfrm>
            <a:off x="5257800" y="3974760"/>
            <a:ext cx="4887000" cy="2564280"/>
            <a:chOff x="5257800" y="3974760"/>
            <a:chExt cx="4887000" cy="2564280"/>
          </a:xfrm>
        </p:grpSpPr>
        <p:sp>
          <p:nvSpPr>
            <p:cNvPr id="1343" name="Text Box 73"/>
            <p:cNvSpPr/>
            <p:nvPr/>
          </p:nvSpPr>
          <p:spPr>
            <a:xfrm>
              <a:off x="5257800" y="3974760"/>
              <a:ext cx="4887000" cy="45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resulting forwarding table in u: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44" name="Group 21"/>
            <p:cNvGrpSpPr/>
            <p:nvPr/>
          </p:nvGrpSpPr>
          <p:grpSpPr>
            <a:xfrm>
              <a:off x="5975280" y="4483800"/>
              <a:ext cx="2798280" cy="2055240"/>
              <a:chOff x="5975280" y="4483800"/>
              <a:chExt cx="2798280" cy="2055240"/>
            </a:xfrm>
          </p:grpSpPr>
          <p:sp>
            <p:nvSpPr>
              <p:cNvPr id="1345" name="Rectangle 20"/>
              <p:cNvSpPr/>
              <p:nvPr/>
            </p:nvSpPr>
            <p:spPr>
              <a:xfrm>
                <a:off x="5998680" y="4521240"/>
                <a:ext cx="2655720" cy="2768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346" name="Rectangle 1"/>
              <p:cNvSpPr/>
              <p:nvPr/>
            </p:nvSpPr>
            <p:spPr>
              <a:xfrm>
                <a:off x="5988600" y="4514040"/>
                <a:ext cx="2667240" cy="1978920"/>
              </a:xfrm>
              <a:prstGeom prst="rect">
                <a:avLst/>
              </a:prstGeom>
              <a:noFill/>
              <a:ln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347" name="TextBox 6"/>
              <p:cNvSpPr/>
              <p:nvPr/>
            </p:nvSpPr>
            <p:spPr>
              <a:xfrm>
                <a:off x="6426720" y="4803480"/>
                <a:ext cx="430200" cy="1735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90000"/>
                  </a:lnSpc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v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90000"/>
                  </a:lnSpc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x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90000"/>
                  </a:lnSpc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y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90000"/>
                  </a:lnSpc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w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90000"/>
                  </a:lnSpc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x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8" name="TextBox 329"/>
              <p:cNvSpPr/>
              <p:nvPr/>
            </p:nvSpPr>
            <p:spPr>
              <a:xfrm>
                <a:off x="7583760" y="4793760"/>
                <a:ext cx="888120" cy="1735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90000"/>
                  </a:lnSpc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(u,v)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90000"/>
                  </a:lnSpc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(u,x)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90000"/>
                  </a:lnSpc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(u,x)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90000"/>
                  </a:lnSpc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(u,x)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90000"/>
                  </a:lnSpc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(u,x)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9" name="TextBox 7"/>
              <p:cNvSpPr/>
              <p:nvPr/>
            </p:nvSpPr>
            <p:spPr>
              <a:xfrm>
                <a:off x="6022440" y="4491000"/>
                <a:ext cx="1315800" cy="334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destination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0" name="TextBox 330"/>
              <p:cNvSpPr/>
              <p:nvPr/>
            </p:nvSpPr>
            <p:spPr>
              <a:xfrm>
                <a:off x="7272720" y="4483800"/>
                <a:ext cx="1500840" cy="334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outgoing link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1351" name="Straight Connector 9"/>
              <p:cNvCxnSpPr/>
              <p:nvPr/>
            </p:nvCxnSpPr>
            <p:spPr>
              <a:xfrm>
                <a:off x="5975280" y="4803480"/>
                <a:ext cx="2681640" cy="360"/>
              </a:xfrm>
              <a:prstGeom prst="straightConnector1">
                <a:avLst/>
              </a:prstGeom>
              <a:ln w="12700">
                <a:solidFill>
                  <a:srgbClr val="0000a8"/>
                </a:solidFill>
              </a:ln>
            </p:spPr>
          </p:cxnSp>
          <p:cxnSp>
            <p:nvCxnSpPr>
              <p:cNvPr id="1352" name="Straight Connector 331"/>
              <p:cNvCxnSpPr/>
              <p:nvPr/>
            </p:nvCxnSpPr>
            <p:spPr>
              <a:xfrm>
                <a:off x="7296480" y="4514040"/>
                <a:ext cx="360" cy="1991160"/>
              </a:xfrm>
              <a:prstGeom prst="straightConnector1">
                <a:avLst/>
              </a:prstGeom>
              <a:ln w="12700">
                <a:solidFill>
                  <a:srgbClr val="0000a8"/>
                </a:solidFill>
              </a:ln>
            </p:spPr>
          </p:cxnSp>
        </p:grpSp>
      </p:grpSp>
      <p:grpSp>
        <p:nvGrpSpPr>
          <p:cNvPr id="1353" name="Group 28"/>
          <p:cNvGrpSpPr/>
          <p:nvPr/>
        </p:nvGrpSpPr>
        <p:grpSpPr>
          <a:xfrm>
            <a:off x="8565120" y="4815000"/>
            <a:ext cx="3170520" cy="369000"/>
            <a:chOff x="8565120" y="4815000"/>
            <a:chExt cx="3170520" cy="369000"/>
          </a:xfrm>
        </p:grpSpPr>
        <p:sp>
          <p:nvSpPr>
            <p:cNvPr id="1354" name="TextBox 24"/>
            <p:cNvSpPr/>
            <p:nvPr/>
          </p:nvSpPr>
          <p:spPr>
            <a:xfrm>
              <a:off x="9201960" y="4815000"/>
              <a:ext cx="253368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route from </a:t>
              </a:r>
              <a:r>
                <a:rPr b="0" i="1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u</a:t>
              </a: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 to</a:t>
              </a:r>
              <a:r>
                <a:rPr b="0" i="1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 v </a:t>
              </a: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directly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355" name="Straight Connector 26"/>
            <p:cNvCxnSpPr/>
            <p:nvPr/>
          </p:nvCxnSpPr>
          <p:spPr>
            <a:xfrm>
              <a:off x="8565120" y="5000040"/>
              <a:ext cx="683280" cy="360"/>
            </a:xfrm>
            <a:prstGeom prst="straightConnector1">
              <a:avLst/>
            </a:prstGeom>
            <a:ln w="12700">
              <a:solidFill>
                <a:srgbClr val="c00000"/>
              </a:solidFill>
            </a:ln>
          </p:spPr>
        </p:cxnSp>
      </p:grpSp>
      <p:grpSp>
        <p:nvGrpSpPr>
          <p:cNvPr id="1356" name="Group 30"/>
          <p:cNvGrpSpPr/>
          <p:nvPr/>
        </p:nvGrpSpPr>
        <p:grpSpPr>
          <a:xfrm>
            <a:off x="8877960" y="5196960"/>
            <a:ext cx="2372040" cy="1260720"/>
            <a:chOff x="8877960" y="5196960"/>
            <a:chExt cx="2372040" cy="1260720"/>
          </a:xfrm>
        </p:grpSpPr>
        <p:sp>
          <p:nvSpPr>
            <p:cNvPr id="1357" name="TextBox 332"/>
            <p:cNvSpPr/>
            <p:nvPr/>
          </p:nvSpPr>
          <p:spPr>
            <a:xfrm>
              <a:off x="9215280" y="5534640"/>
              <a:ext cx="2034720" cy="92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route from u to all other destinations via </a:t>
              </a:r>
              <a:r>
                <a:rPr b="0" i="1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x</a:t>
              </a: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8" name="Right Brace 29"/>
            <p:cNvSpPr/>
            <p:nvPr/>
          </p:nvSpPr>
          <p:spPr>
            <a:xfrm>
              <a:off x="8877960" y="5196960"/>
              <a:ext cx="351720" cy="123804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636" dur="indefinite" restart="never" nodeType="tmRoot">
          <p:childTnLst>
            <p:seq>
              <p:cTn id="637" dur="indefinite" nodeType="mainSeq">
                <p:childTnLst>
                  <p:par>
                    <p:cTn id="638" fill="hold">
                      <p:stCondLst>
                        <p:cond delay="indefinite"/>
                      </p:stCondLst>
                      <p:childTnLst>
                        <p:par>
                          <p:cTn id="639" fill="hold">
                            <p:stCondLst>
                              <p:cond delay="0"/>
                            </p:stCondLst>
                            <p:childTnLst>
                              <p:par>
                                <p:cTn id="64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42" dur="500"/>
                                        <p:tgtEl>
                                          <p:spTgt spid="1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3" fill="hold">
                      <p:stCondLst>
                        <p:cond delay="indefinite"/>
                      </p:stCondLst>
                      <p:childTnLst>
                        <p:par>
                          <p:cTn id="644" fill="hold">
                            <p:stCondLst>
                              <p:cond delay="0"/>
                            </p:stCondLst>
                            <p:childTnLst>
                              <p:par>
                                <p:cTn id="64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47" dur="500"/>
                                        <p:tgtEl>
                                          <p:spTgt spid="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8" fill="hold">
                      <p:stCondLst>
                        <p:cond delay="indefinite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52" dur="500"/>
                                        <p:tgtEl>
                                          <p:spTgt spid="1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PlaceHolder 1"/>
          <p:cNvSpPr>
            <a:spLocks noGrp="1"/>
          </p:cNvSpPr>
          <p:nvPr>
            <p:ph type="title"/>
          </p:nvPr>
        </p:nvSpPr>
        <p:spPr>
          <a:xfrm>
            <a:off x="798840" y="289440"/>
            <a:ext cx="1051524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75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Network layer: “control plane” roadmap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60" name="Picture 5" descr="A train crossing a bridge over a body of water&#10;&#10;Description automatically generated"/>
          <p:cNvPicPr/>
          <p:nvPr/>
        </p:nvPicPr>
        <p:blipFill>
          <a:blip r:embed="rId1"/>
          <a:stretch/>
        </p:blipFill>
        <p:spPr>
          <a:xfrm>
            <a:off x="8015400" y="1379160"/>
            <a:ext cx="3102120" cy="23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1" name="Rectangle 4"/>
          <p:cNvSpPr/>
          <p:nvPr/>
        </p:nvSpPr>
        <p:spPr>
          <a:xfrm>
            <a:off x="622440" y="1361520"/>
            <a:ext cx="5571360" cy="50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introduction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746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routing protocols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6280" indent="-27288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link state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6280" indent="-272880" defTabSz="914400">
              <a:lnSpc>
                <a:spcPct val="90000"/>
              </a:lnSpc>
              <a:spcBef>
                <a:spcPts val="601"/>
              </a:spcBef>
              <a:buClr>
                <a:srgbClr val="0000a8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rgbClr val="c00000"/>
                </a:solidFill>
                <a:effectLst/>
                <a:uFillTx/>
                <a:latin typeface="Calibri"/>
                <a:ea typeface="ＭＳ Ｐゴシック"/>
              </a:rPr>
              <a:t>distance vector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intra-ISP routing: OSPF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routing among ISPs: BGP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SDN control plane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601"/>
              </a:spcBef>
              <a:buClr>
                <a:srgbClr val="bfbfbf"/>
              </a:buClr>
              <a:buFont typeface="Wingdings" charset="2"/>
              <a:buChar char=""/>
            </a:pPr>
            <a:r>
              <a:rPr b="0" lang="en-US" sz="3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ＭＳ Ｐゴシック"/>
              </a:rPr>
              <a:t>Internet Control Message Protocol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6560" indent="-409680" defTabSz="914400">
              <a:lnSpc>
                <a:spcPct val="90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2" name="PlaceHolder 2"/>
          <p:cNvSpPr>
            <a:spLocks noGrp="1"/>
          </p:cNvSpPr>
          <p:nvPr>
            <p:ph type="sldNum" idx="69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7B0CC56C-5024-4511-8C49-2190DF209ED1}" type="slidenum"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35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PlaceHolder 1"/>
          <p:cNvSpPr>
            <a:spLocks noGrp="1"/>
          </p:cNvSpPr>
          <p:nvPr>
            <p:ph/>
          </p:nvPr>
        </p:nvSpPr>
        <p:spPr>
          <a:xfrm>
            <a:off x="838080" y="1724040"/>
            <a:ext cx="10812600" cy="51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13032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Based on </a:t>
            </a:r>
            <a:r>
              <a:rPr b="0" i="1" lang="en-US" sz="3200" strike="noStrike" u="none">
                <a:solidFill>
                  <a:srgbClr val="0000a8"/>
                </a:solidFill>
                <a:effectLst/>
                <a:uFillTx/>
                <a:latin typeface="Calibri"/>
              </a:rPr>
              <a:t>Bellman-Ford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(BF) equation (dynamic programming):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4" name="PlaceHolder 2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Distance vector algorithm 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5" name="PlaceHolder 3"/>
          <p:cNvSpPr>
            <a:spLocks noGrp="1"/>
          </p:cNvSpPr>
          <p:nvPr>
            <p:ph type="sldNum" idx="70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54FDE0A5-A44F-47FD-967F-AF09F818121F}" type="slidenum"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366" name="Group 29"/>
          <p:cNvGrpSpPr/>
          <p:nvPr/>
        </p:nvGrpSpPr>
        <p:grpSpPr>
          <a:xfrm>
            <a:off x="1902600" y="2507400"/>
            <a:ext cx="8853840" cy="2757600"/>
            <a:chOff x="1902600" y="2507400"/>
            <a:chExt cx="8853840" cy="2757600"/>
          </a:xfrm>
        </p:grpSpPr>
        <p:sp>
          <p:nvSpPr>
            <p:cNvPr id="1367" name="Rectangle 3"/>
            <p:cNvSpPr/>
            <p:nvPr/>
          </p:nvSpPr>
          <p:spPr>
            <a:xfrm>
              <a:off x="2803320" y="3288960"/>
              <a:ext cx="7953120" cy="1976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rmAutofit fontScale="92500" lnSpcReduction="9999"/>
            </a:bodyPr>
            <a:p>
              <a:pPr marL="352440" indent="-222120" defTabSz="914400">
                <a:lnSpc>
                  <a:spcPct val="90000"/>
                </a:lnSpc>
                <a:spcBef>
                  <a:spcPts val="1001"/>
                </a:spcBef>
                <a:tabLst>
                  <a:tab algn="l" pos="0"/>
                </a:tabLst>
              </a:pPr>
              <a:r>
                <a:rPr b="0" lang="en-US" sz="3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Let </a:t>
              </a:r>
              <a:r>
                <a:rPr b="0" i="1" lang="en-US" sz="3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D</a:t>
              </a:r>
              <a:r>
                <a:rPr b="0" i="1" lang="en-US" sz="3000" strike="noStrike" u="none" baseline="-25000">
                  <a:solidFill>
                    <a:schemeClr val="dk1"/>
                  </a:solidFill>
                  <a:effectLst/>
                  <a:uFillTx/>
                  <a:latin typeface="Arial"/>
                </a:rPr>
                <a:t>x</a:t>
              </a:r>
              <a:r>
                <a:rPr b="0" i="1" lang="en-US" sz="3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(y): </a:t>
              </a:r>
              <a:r>
                <a:rPr b="0" lang="en-US" sz="3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cost of least-cost path from </a:t>
              </a:r>
              <a:r>
                <a:rPr b="0" i="1" lang="en-US" sz="3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x</a:t>
              </a:r>
              <a:r>
                <a:rPr b="0" lang="en-US" sz="3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 to </a:t>
              </a:r>
              <a:r>
                <a:rPr b="0" i="1" lang="en-US" sz="3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y</a:t>
              </a:r>
              <a:r>
                <a:rPr b="0" lang="en-US" sz="3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.</a:t>
              </a:r>
              <a:endParaRPr b="0" lang="en-US" sz="3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52440" indent="-222120" defTabSz="914400">
                <a:lnSpc>
                  <a:spcPct val="90000"/>
                </a:lnSpc>
                <a:spcBef>
                  <a:spcPts val="1001"/>
                </a:spcBef>
                <a:tabLst>
                  <a:tab algn="l" pos="0"/>
                </a:tabLst>
              </a:pPr>
              <a:r>
                <a:rPr b="0" lang="en-US" sz="3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Then:</a:t>
              </a:r>
              <a:endParaRPr b="0" lang="en-US" sz="3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52440" indent="-222120" defTabSz="914400">
                <a:lnSpc>
                  <a:spcPct val="90000"/>
                </a:lnSpc>
                <a:spcBef>
                  <a:spcPts val="1001"/>
                </a:spcBef>
                <a:tabLst>
                  <a:tab algn="l" pos="0"/>
                </a:tabLst>
              </a:pPr>
              <a:r>
                <a:rPr b="0" lang="en-US" sz="2800" strike="noStrike" u="none">
                  <a:solidFill>
                    <a:srgbClr val="cc0000"/>
                  </a:solidFill>
                  <a:effectLst/>
                  <a:uFillTx/>
                  <a:latin typeface="Arial"/>
                </a:rPr>
                <a:t>   </a:t>
              </a:r>
              <a:r>
                <a:rPr b="0" i="1" lang="en-US" sz="3200" strike="noStrike" u="none">
                  <a:solidFill>
                    <a:srgbClr val="cc0000"/>
                  </a:solidFill>
                  <a:effectLst/>
                  <a:uFillTx/>
                  <a:latin typeface="Arial"/>
                </a:rPr>
                <a:t>D</a:t>
              </a:r>
              <a:r>
                <a:rPr b="0" i="1" lang="en-US" sz="3200" strike="noStrike" u="none" baseline="-25000">
                  <a:solidFill>
                    <a:srgbClr val="cc0000"/>
                  </a:solidFill>
                  <a:effectLst/>
                  <a:uFillTx/>
                  <a:latin typeface="Arial"/>
                </a:rPr>
                <a:t>x</a:t>
              </a:r>
              <a:r>
                <a:rPr b="0" i="1" lang="en-US" sz="3200" strike="noStrike" u="none">
                  <a:solidFill>
                    <a:srgbClr val="cc0000"/>
                  </a:solidFill>
                  <a:effectLst/>
                  <a:uFillTx/>
                  <a:latin typeface="Arial"/>
                </a:rPr>
                <a:t>(y) = </a:t>
              </a:r>
              <a:r>
                <a:rPr b="0" lang="en-US" sz="3200" strike="noStrike" u="none">
                  <a:solidFill>
                    <a:srgbClr val="cc0000"/>
                  </a:solidFill>
                  <a:effectLst/>
                  <a:uFillTx/>
                  <a:latin typeface="Arial"/>
                </a:rPr>
                <a:t>min</a:t>
              </a:r>
              <a:r>
                <a:rPr b="0" i="1" lang="en-US" sz="3200" strike="noStrike" u="none" baseline="-25000">
                  <a:solidFill>
                    <a:srgbClr val="cc0000"/>
                  </a:solidFill>
                  <a:effectLst/>
                  <a:uFillTx/>
                  <a:latin typeface="Arial"/>
                </a:rPr>
                <a:t>v</a:t>
              </a:r>
              <a:r>
                <a:rPr b="0" i="1" lang="en-US" sz="3200" strike="noStrike" u="none">
                  <a:solidFill>
                    <a:srgbClr val="cc0000"/>
                  </a:solidFill>
                  <a:effectLst/>
                  <a:uFillTx/>
                  <a:latin typeface="Arial"/>
                </a:rPr>
                <a:t> { c</a:t>
              </a:r>
              <a:r>
                <a:rPr b="0" i="1" lang="en-US" sz="3200" strike="noStrike" u="none" baseline="-25000">
                  <a:solidFill>
                    <a:srgbClr val="cc0000"/>
                  </a:solidFill>
                  <a:effectLst/>
                  <a:uFillTx/>
                  <a:latin typeface="Arial"/>
                </a:rPr>
                <a:t>x,v </a:t>
              </a:r>
              <a:r>
                <a:rPr b="0" i="1" lang="en-US" sz="3200" strike="noStrike" u="none">
                  <a:solidFill>
                    <a:srgbClr val="cc0000"/>
                  </a:solidFill>
                  <a:effectLst/>
                  <a:uFillTx/>
                  <a:latin typeface="Arial"/>
                </a:rPr>
                <a:t>+ D</a:t>
              </a:r>
              <a:r>
                <a:rPr b="0" i="1" lang="en-US" sz="3200" strike="noStrike" u="none" baseline="-25000">
                  <a:solidFill>
                    <a:srgbClr val="cc0000"/>
                  </a:solidFill>
                  <a:effectLst/>
                  <a:uFillTx/>
                  <a:latin typeface="Arial"/>
                </a:rPr>
                <a:t>v</a:t>
              </a:r>
              <a:r>
                <a:rPr b="0" i="1" lang="en-US" sz="3200" strike="noStrike" u="none">
                  <a:solidFill>
                    <a:srgbClr val="cc0000"/>
                  </a:solidFill>
                  <a:effectLst/>
                  <a:uFillTx/>
                  <a:latin typeface="Arial"/>
                </a:rPr>
                <a:t>(y) }</a:t>
              </a: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52440" indent="-222120" defTabSz="914400">
                <a:lnSpc>
                  <a:spcPct val="90000"/>
                </a:lnSpc>
                <a:spcBef>
                  <a:spcPts val="1001"/>
                </a:spcBef>
                <a:tabLst>
                  <a:tab algn="l" pos="0"/>
                </a:tabLst>
              </a:pPr>
              <a:r>
                <a:rPr b="0" lang="en-US" sz="32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   </a:t>
              </a: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352440" indent="-222120" defTabSz="914400">
                <a:lnSpc>
                  <a:spcPct val="90000"/>
                </a:lnSpc>
                <a:spcBef>
                  <a:spcPts val="1001"/>
                </a:spcBef>
                <a:tabLst>
                  <a:tab algn="l" pos="0"/>
                </a:tabLst>
              </a:pP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8" name="Rectangle 8"/>
            <p:cNvSpPr/>
            <p:nvPr/>
          </p:nvSpPr>
          <p:spPr>
            <a:xfrm>
              <a:off x="1902600" y="2743200"/>
              <a:ext cx="8686440" cy="2182320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69" name="TextBox 9"/>
            <p:cNvSpPr/>
            <p:nvPr/>
          </p:nvSpPr>
          <p:spPr>
            <a:xfrm>
              <a:off x="2418840" y="2507400"/>
              <a:ext cx="3047040" cy="46116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2400" strike="noStrike" u="none">
                  <a:solidFill>
                    <a:srgbClr val="c00000"/>
                  </a:solidFill>
                  <a:effectLst/>
                  <a:uFillTx/>
                  <a:latin typeface="Calibri"/>
                </a:rPr>
                <a:t>Bellman-Ford equation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70" name="Group 19"/>
          <p:cNvGrpSpPr/>
          <p:nvPr/>
        </p:nvGrpSpPr>
        <p:grpSpPr>
          <a:xfrm>
            <a:off x="882000" y="4742640"/>
            <a:ext cx="4443120" cy="1557000"/>
            <a:chOff x="882000" y="4742640"/>
            <a:chExt cx="4443120" cy="1557000"/>
          </a:xfrm>
        </p:grpSpPr>
        <p:sp>
          <p:nvSpPr>
            <p:cNvPr id="1371" name="Text Box 8"/>
            <p:cNvSpPr/>
            <p:nvPr/>
          </p:nvSpPr>
          <p:spPr>
            <a:xfrm>
              <a:off x="882000" y="5842800"/>
              <a:ext cx="444312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i="1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min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 taken over all neighbors</a:t>
              </a:r>
              <a:r>
                <a:rPr b="0" i="1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 v 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of </a:t>
              </a:r>
              <a:r>
                <a:rPr b="0" i="1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x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2" name="Line 10"/>
            <p:cNvSpPr/>
            <p:nvPr/>
          </p:nvSpPr>
          <p:spPr>
            <a:xfrm>
              <a:off x="5250600" y="4742640"/>
              <a:ext cx="360" cy="1357200"/>
            </a:xfrm>
            <a:prstGeom prst="line">
              <a:avLst/>
            </a:prstGeom>
            <a:ln w="12700">
              <a:solidFill>
                <a:srgbClr val="0000a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373" name="Group 28"/>
          <p:cNvGrpSpPr/>
          <p:nvPr/>
        </p:nvGrpSpPr>
        <p:grpSpPr>
          <a:xfrm>
            <a:off x="6490440" y="4684680"/>
            <a:ext cx="4854960" cy="1072440"/>
            <a:chOff x="6490440" y="4684680"/>
            <a:chExt cx="4854960" cy="1072440"/>
          </a:xfrm>
        </p:grpSpPr>
        <p:sp>
          <p:nvSpPr>
            <p:cNvPr id="1374" name="Text Box 9"/>
            <p:cNvSpPr/>
            <p:nvPr/>
          </p:nvSpPr>
          <p:spPr>
            <a:xfrm>
              <a:off x="6490440" y="5295960"/>
              <a:ext cx="485496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i="1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v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’s estimated least-cost-path cost to </a:t>
              </a:r>
              <a:r>
                <a:rPr b="0" i="1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y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375" name="Straight Connector 23"/>
            <p:cNvCxnSpPr/>
            <p:nvPr/>
          </p:nvCxnSpPr>
          <p:spPr>
            <a:xfrm flipV="1">
              <a:off x="6788880" y="4684680"/>
              <a:ext cx="360" cy="714240"/>
            </a:xfrm>
            <a:prstGeom prst="straightConnector1">
              <a:avLst/>
            </a:prstGeom>
            <a:ln w="12700">
              <a:solidFill>
                <a:srgbClr val="0000a8"/>
              </a:solidFill>
            </a:ln>
          </p:spPr>
        </p:cxnSp>
      </p:grpSp>
      <p:grpSp>
        <p:nvGrpSpPr>
          <p:cNvPr id="1376" name="Group 27"/>
          <p:cNvGrpSpPr/>
          <p:nvPr/>
        </p:nvGrpSpPr>
        <p:grpSpPr>
          <a:xfrm>
            <a:off x="5898960" y="4749120"/>
            <a:ext cx="3734640" cy="1589760"/>
            <a:chOff x="5898960" y="4749120"/>
            <a:chExt cx="3734640" cy="1589760"/>
          </a:xfrm>
        </p:grpSpPr>
        <p:sp>
          <p:nvSpPr>
            <p:cNvPr id="1377" name="Text Box 7"/>
            <p:cNvSpPr/>
            <p:nvPr/>
          </p:nvSpPr>
          <p:spPr>
            <a:xfrm>
              <a:off x="5898960" y="5877720"/>
              <a:ext cx="373464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direct cost of link from</a:t>
              </a:r>
              <a:r>
                <a:rPr b="0" i="1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 x 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to </a:t>
              </a:r>
              <a:r>
                <a:rPr b="0" i="1" lang="en-US" sz="24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v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378" name="Straight Connector 24"/>
            <p:cNvCxnSpPr/>
            <p:nvPr/>
          </p:nvCxnSpPr>
          <p:spPr>
            <a:xfrm flipV="1">
              <a:off x="5901840" y="4749120"/>
              <a:ext cx="360" cy="1338840"/>
            </a:xfrm>
            <a:prstGeom prst="straightConnector1">
              <a:avLst/>
            </a:prstGeom>
            <a:ln w="12700">
              <a:solidFill>
                <a:srgbClr val="0000a8"/>
              </a:solidFill>
            </a:ln>
          </p:spPr>
        </p:cxn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653" dur="indefinite" restart="never" nodeType="tmRoot">
          <p:childTnLst>
            <p:seq>
              <p:cTn id="654" dur="indefinite" nodeType="mainSeq">
                <p:childTnLst>
                  <p:par>
                    <p:cTn id="655" fill="hold">
                      <p:stCondLst>
                        <p:cond delay="indefinite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59" dur="500"/>
                                        <p:tgtEl>
                                          <p:spTgt spid="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0" fill="hold">
                      <p:stCondLst>
                        <p:cond delay="indefinite"/>
                      </p:stCondLst>
                      <p:childTnLst>
                        <p:par>
                          <p:cTn id="661" fill="hold">
                            <p:stCondLst>
                              <p:cond delay="0"/>
                            </p:stCondLst>
                            <p:childTnLst>
                              <p:par>
                                <p:cTn id="66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64" dur="500"/>
                                        <p:tgtEl>
                                          <p:spTgt spid="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5" fill="hold">
                      <p:stCondLst>
                        <p:cond delay="indefinite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69" dur="500"/>
                                        <p:tgtEl>
                                          <p:spTgt spid="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0" fill="hold">
                      <p:stCondLst>
                        <p:cond delay="indefinite"/>
                      </p:stCondLst>
                      <p:childTnLst>
                        <p:par>
                          <p:cTn id="671" fill="hold">
                            <p:stCondLst>
                              <p:cond delay="0"/>
                            </p:stCondLst>
                            <p:childTnLst>
                              <p:par>
                                <p:cTn id="67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74" dur="500"/>
                                        <p:tgtEl>
                                          <p:spTgt spid="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Bellman-Ford Example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0" name="PlaceHolder 2"/>
          <p:cNvSpPr>
            <a:spLocks noGrp="1"/>
          </p:cNvSpPr>
          <p:nvPr>
            <p:ph type="sldNum" idx="71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E50F4902-C910-47AC-B9ED-FACBBAE26DCE}" type="slidenum"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Freeform 4"/>
          <p:cNvSpPr/>
          <p:nvPr/>
        </p:nvSpPr>
        <p:spPr>
          <a:xfrm>
            <a:off x="1464840" y="2577600"/>
            <a:ext cx="3571560" cy="2236320"/>
          </a:xfrm>
          <a:custGeom>
            <a:avLst/>
            <a:gdLst>
              <a:gd name="textAreaLeft" fmla="*/ 0 w 3571560"/>
              <a:gd name="textAreaRight" fmla="*/ 3571920 w 3571560"/>
              <a:gd name="textAreaTop" fmla="*/ 0 h 2236320"/>
              <a:gd name="textAreaBottom" fmla="*/ 2236680 h 2236320"/>
              <a:gd name="GluePoint1X" fmla="*/ 0 w 2250"/>
              <a:gd name="GluePoint1Y" fmla="*/ 624 h 1409"/>
              <a:gd name="GluePoint2X" fmla="*/ 219 w 2250"/>
              <a:gd name="GluePoint2Y" fmla="*/ 321 h 1409"/>
              <a:gd name="GluePoint3X" fmla="*/ 529 w 2250"/>
              <a:gd name="GluePoint3Y" fmla="*/ 35 h 1409"/>
              <a:gd name="GluePoint4X" fmla="*/ 1551 w 2250"/>
              <a:gd name="GluePoint4Y" fmla="*/ 111 h 1409"/>
              <a:gd name="GluePoint5X" fmla="*/ 1968 w 2250"/>
              <a:gd name="GluePoint5Y" fmla="*/ 483 h 1409"/>
              <a:gd name="GluePoint6X" fmla="*/ 2199 w 2250"/>
              <a:gd name="GluePoint6Y" fmla="*/ 906 h 1409"/>
              <a:gd name="GluePoint7X" fmla="*/ 1659 w 2250"/>
              <a:gd name="GluePoint7Y" fmla="*/ 1314 h 1409"/>
              <a:gd name="GluePoint8X" fmla="*/ 993 w 2250"/>
              <a:gd name="GluePoint8Y" fmla="*/ 1386 h 1409"/>
              <a:gd name="GluePoint9X" fmla="*/ 465 w 2250"/>
              <a:gd name="GluePoint9Y" fmla="*/ 1356 h 1409"/>
              <a:gd name="GluePoint10X" fmla="*/ 102 w 2250"/>
              <a:gd name="GluePoint10Y" fmla="*/ 1068 h 1409"/>
              <a:gd name="GluePoint11X" fmla="*/ 0 w 2250"/>
              <a:gd name="GluePoint11Y" fmla="*/ 624 h 140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2250" h="1409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9ce0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382" name="Freeform 5"/>
          <p:cNvSpPr/>
          <p:nvPr/>
        </p:nvSpPr>
        <p:spPr>
          <a:xfrm>
            <a:off x="1974600" y="3431160"/>
            <a:ext cx="542520" cy="294840"/>
          </a:xfrm>
          <a:custGeom>
            <a:avLst/>
            <a:gdLst>
              <a:gd name="textAreaLeft" fmla="*/ 0 w 542520"/>
              <a:gd name="textAreaRight" fmla="*/ 542880 w 542520"/>
              <a:gd name="textAreaTop" fmla="*/ 0 h 294840"/>
              <a:gd name="textAreaBottom" fmla="*/ 295200 h 294840"/>
              <a:gd name="GluePoint1X" fmla="*/ 0 w 342"/>
              <a:gd name="GluePoint1Y" fmla="*/ 186 h 186"/>
              <a:gd name="GluePoint2X" fmla="*/ 342 w 342"/>
              <a:gd name="GluePoint2Y" fmla="*/ 0 h 1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383" name="Oval 6"/>
          <p:cNvSpPr/>
          <p:nvPr/>
        </p:nvSpPr>
        <p:spPr>
          <a:xfrm>
            <a:off x="1561680" y="3815640"/>
            <a:ext cx="496440" cy="12816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384" name="Line 7"/>
          <p:cNvSpPr/>
          <p:nvPr/>
        </p:nvSpPr>
        <p:spPr>
          <a:xfrm>
            <a:off x="1561680" y="3804120"/>
            <a:ext cx="360" cy="795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4560" bIns="345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385" name="Line 8"/>
          <p:cNvSpPr/>
          <p:nvPr/>
        </p:nvSpPr>
        <p:spPr>
          <a:xfrm>
            <a:off x="2058480" y="3804120"/>
            <a:ext cx="360" cy="795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4560" bIns="345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386" name="Rectangle 9"/>
          <p:cNvSpPr/>
          <p:nvPr/>
        </p:nvSpPr>
        <p:spPr>
          <a:xfrm>
            <a:off x="1561680" y="3804480"/>
            <a:ext cx="491760" cy="7740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2760" bIns="32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387" name="Oval 10"/>
          <p:cNvSpPr/>
          <p:nvPr/>
        </p:nvSpPr>
        <p:spPr>
          <a:xfrm>
            <a:off x="1557000" y="3710880"/>
            <a:ext cx="496440" cy="1504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388" name="Oval 26"/>
          <p:cNvSpPr/>
          <p:nvPr/>
        </p:nvSpPr>
        <p:spPr>
          <a:xfrm>
            <a:off x="3408120" y="4425120"/>
            <a:ext cx="496440" cy="12816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389" name="Line 27"/>
          <p:cNvSpPr/>
          <p:nvPr/>
        </p:nvSpPr>
        <p:spPr>
          <a:xfrm>
            <a:off x="3407760" y="4413960"/>
            <a:ext cx="360" cy="792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390" name="Line 28"/>
          <p:cNvSpPr/>
          <p:nvPr/>
        </p:nvSpPr>
        <p:spPr>
          <a:xfrm>
            <a:off x="3904920" y="4413960"/>
            <a:ext cx="360" cy="792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391" name="Rectangle 29"/>
          <p:cNvSpPr/>
          <p:nvPr/>
        </p:nvSpPr>
        <p:spPr>
          <a:xfrm>
            <a:off x="3408120" y="4413960"/>
            <a:ext cx="491760" cy="7740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2760" bIns="32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392" name="Oval 30"/>
          <p:cNvSpPr/>
          <p:nvPr/>
        </p:nvSpPr>
        <p:spPr>
          <a:xfrm>
            <a:off x="3403440" y="4320360"/>
            <a:ext cx="496440" cy="1504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393" name="Oval 31"/>
          <p:cNvSpPr/>
          <p:nvPr/>
        </p:nvSpPr>
        <p:spPr>
          <a:xfrm>
            <a:off x="4304880" y="3883680"/>
            <a:ext cx="496440" cy="12816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394" name="Line 32"/>
          <p:cNvSpPr/>
          <p:nvPr/>
        </p:nvSpPr>
        <p:spPr>
          <a:xfrm>
            <a:off x="4304880" y="3872520"/>
            <a:ext cx="360" cy="792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395" name="Line 33"/>
          <p:cNvSpPr/>
          <p:nvPr/>
        </p:nvSpPr>
        <p:spPr>
          <a:xfrm>
            <a:off x="4801680" y="3872520"/>
            <a:ext cx="360" cy="792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396" name="Rectangle 34"/>
          <p:cNvSpPr/>
          <p:nvPr/>
        </p:nvSpPr>
        <p:spPr>
          <a:xfrm>
            <a:off x="4304880" y="3872520"/>
            <a:ext cx="491760" cy="77400"/>
          </a:xfrm>
          <a:prstGeom prst="rect">
            <a:avLst/>
          </a:prstGeom>
          <a:solidFill>
            <a:srgbClr val="ccc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2760" bIns="32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397" name="Oval 35"/>
          <p:cNvSpPr/>
          <p:nvPr/>
        </p:nvSpPr>
        <p:spPr>
          <a:xfrm>
            <a:off x="4300200" y="3778920"/>
            <a:ext cx="496440" cy="15048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398" name="Freeform 36"/>
          <p:cNvSpPr/>
          <p:nvPr/>
        </p:nvSpPr>
        <p:spPr>
          <a:xfrm>
            <a:off x="3655800" y="3474360"/>
            <a:ext cx="1080" cy="828360"/>
          </a:xfrm>
          <a:custGeom>
            <a:avLst/>
            <a:gdLst>
              <a:gd name="textAreaLeft" fmla="*/ 0 w 1080"/>
              <a:gd name="textAreaRight" fmla="*/ 1440 w 1080"/>
              <a:gd name="textAreaTop" fmla="*/ 0 h 828360"/>
              <a:gd name="textAreaBottom" fmla="*/ 828720 h 828360"/>
              <a:gd name="GluePoint1X" fmla="*/ 0 w 1"/>
              <a:gd name="GluePoint1Y" fmla="*/ 0 h 522"/>
              <a:gd name="GluePoint2X" fmla="*/ 0 w 1"/>
              <a:gd name="GluePoint2Y" fmla="*/ 522 h 5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399" name="Freeform 37"/>
          <p:cNvSpPr/>
          <p:nvPr/>
        </p:nvSpPr>
        <p:spPr>
          <a:xfrm>
            <a:off x="2555640" y="3483720"/>
            <a:ext cx="1080" cy="852120"/>
          </a:xfrm>
          <a:custGeom>
            <a:avLst/>
            <a:gdLst>
              <a:gd name="textAreaLeft" fmla="*/ 0 w 1080"/>
              <a:gd name="textAreaRight" fmla="*/ 1440 w 1080"/>
              <a:gd name="textAreaTop" fmla="*/ 0 h 852120"/>
              <a:gd name="textAreaBottom" fmla="*/ 852480 h 852120"/>
              <a:gd name="GluePoint1X" fmla="*/ 0 w 1"/>
              <a:gd name="GluePoint1Y" fmla="*/ 0 h 537"/>
              <a:gd name="GluePoint2X" fmla="*/ 0 w 1"/>
              <a:gd name="GluePoint2Y" fmla="*/ 537 h 53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400" name="Freeform 38"/>
          <p:cNvSpPr/>
          <p:nvPr/>
        </p:nvSpPr>
        <p:spPr>
          <a:xfrm>
            <a:off x="2817360" y="3459960"/>
            <a:ext cx="799920" cy="952200"/>
          </a:xfrm>
          <a:custGeom>
            <a:avLst/>
            <a:gdLst>
              <a:gd name="textAreaLeft" fmla="*/ 0 w 799920"/>
              <a:gd name="textAreaRight" fmla="*/ 800280 w 799920"/>
              <a:gd name="textAreaTop" fmla="*/ 0 h 952200"/>
              <a:gd name="textAreaBottom" fmla="*/ 952560 h 952200"/>
              <a:gd name="GluePoint1X" fmla="*/ 0 w 378"/>
              <a:gd name="GluePoint1Y" fmla="*/ 11993521 h 174"/>
              <a:gd name="GluePoint2X" fmla="*/ 5035 w 378"/>
              <a:gd name="GluePoint2Y" fmla="*/ 0 h 17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401" name="Freeform 39"/>
          <p:cNvSpPr/>
          <p:nvPr/>
        </p:nvSpPr>
        <p:spPr>
          <a:xfrm>
            <a:off x="3908160" y="4012200"/>
            <a:ext cx="580680" cy="428400"/>
          </a:xfrm>
          <a:custGeom>
            <a:avLst/>
            <a:gdLst>
              <a:gd name="textAreaLeft" fmla="*/ 0 w 580680"/>
              <a:gd name="textAreaRight" fmla="*/ 581040 w 580680"/>
              <a:gd name="textAreaTop" fmla="*/ 0 h 428400"/>
              <a:gd name="textAreaBottom" fmla="*/ 428760 h 428400"/>
              <a:gd name="GluePoint1X" fmla="*/ 0 w 366"/>
              <a:gd name="GluePoint1Y" fmla="*/ 270 h 270"/>
              <a:gd name="GluePoint2X" fmla="*/ 366 w 366"/>
              <a:gd name="GluePoint2Y" fmla="*/ 0 h 27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402" name="Freeform 40"/>
          <p:cNvSpPr/>
          <p:nvPr/>
        </p:nvSpPr>
        <p:spPr>
          <a:xfrm>
            <a:off x="2827080" y="4460040"/>
            <a:ext cx="580680" cy="1080"/>
          </a:xfrm>
          <a:custGeom>
            <a:avLst/>
            <a:gdLst>
              <a:gd name="textAreaLeft" fmla="*/ 0 w 580680"/>
              <a:gd name="textAreaRight" fmla="*/ 581040 w 580680"/>
              <a:gd name="textAreaTop" fmla="*/ 0 h 1080"/>
              <a:gd name="textAreaBottom" fmla="*/ 1440 h 1080"/>
              <a:gd name="GluePoint1X" fmla="*/ 366 w 366"/>
              <a:gd name="GluePoint1Y" fmla="*/ 0 h 1"/>
              <a:gd name="GluePoint2X" fmla="*/ 0 w 366"/>
              <a:gd name="GluePoint2Y" fmla="*/ 0 h 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3560" bIns="-43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403" name="Freeform 41"/>
          <p:cNvSpPr/>
          <p:nvPr/>
        </p:nvSpPr>
        <p:spPr>
          <a:xfrm>
            <a:off x="1888920" y="3945600"/>
            <a:ext cx="437760" cy="418680"/>
          </a:xfrm>
          <a:custGeom>
            <a:avLst/>
            <a:gdLst>
              <a:gd name="textAreaLeft" fmla="*/ 0 w 437760"/>
              <a:gd name="textAreaRight" fmla="*/ 438120 w 437760"/>
              <a:gd name="textAreaTop" fmla="*/ 0 h 418680"/>
              <a:gd name="textAreaBottom" fmla="*/ 419040 h 418680"/>
              <a:gd name="GluePoint1X" fmla="*/ 276 w 276"/>
              <a:gd name="GluePoint1Y" fmla="*/ 264 h 264"/>
              <a:gd name="GluePoint2X" fmla="*/ 0 w 276"/>
              <a:gd name="GluePoint2Y" fmla="*/ 0 h 26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404" name="Freeform 42"/>
          <p:cNvSpPr/>
          <p:nvPr/>
        </p:nvSpPr>
        <p:spPr>
          <a:xfrm>
            <a:off x="2817360" y="3364560"/>
            <a:ext cx="580680" cy="1080"/>
          </a:xfrm>
          <a:custGeom>
            <a:avLst/>
            <a:gdLst>
              <a:gd name="textAreaLeft" fmla="*/ 0 w 580680"/>
              <a:gd name="textAreaRight" fmla="*/ 581040 w 580680"/>
              <a:gd name="textAreaTop" fmla="*/ 0 h 1080"/>
              <a:gd name="textAreaBottom" fmla="*/ 1440 h 1080"/>
              <a:gd name="GluePoint1X" fmla="*/ 366 w 366"/>
              <a:gd name="GluePoint1Y" fmla="*/ 0 h 1"/>
              <a:gd name="GluePoint2X" fmla="*/ 0 w 366"/>
              <a:gd name="GluePoint2Y" fmla="*/ 0 h 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3560" bIns="-43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405" name="Freeform 43"/>
          <p:cNvSpPr/>
          <p:nvPr/>
        </p:nvSpPr>
        <p:spPr>
          <a:xfrm>
            <a:off x="3889080" y="3359880"/>
            <a:ext cx="628200" cy="423360"/>
          </a:xfrm>
          <a:custGeom>
            <a:avLst/>
            <a:gdLst>
              <a:gd name="textAreaLeft" fmla="*/ 0 w 628200"/>
              <a:gd name="textAreaRight" fmla="*/ 628560 w 628200"/>
              <a:gd name="textAreaTop" fmla="*/ 0 h 423360"/>
              <a:gd name="textAreaBottom" fmla="*/ 423720 h 423360"/>
              <a:gd name="GluePoint1X" fmla="*/ 396 w 396"/>
              <a:gd name="GluePoint1Y" fmla="*/ 267 h 267"/>
              <a:gd name="GluePoint2X" fmla="*/ 0 w 396"/>
              <a:gd name="GluePoint2Y" fmla="*/ 0 h 2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406" name="Freeform 44"/>
          <p:cNvSpPr/>
          <p:nvPr/>
        </p:nvSpPr>
        <p:spPr>
          <a:xfrm>
            <a:off x="1798200" y="2678760"/>
            <a:ext cx="1761840" cy="1023480"/>
          </a:xfrm>
          <a:custGeom>
            <a:avLst/>
            <a:gdLst>
              <a:gd name="textAreaLeft" fmla="*/ 0 w 1761840"/>
              <a:gd name="textAreaRight" fmla="*/ 1762200 w 1761840"/>
              <a:gd name="textAreaTop" fmla="*/ 0 h 1023480"/>
              <a:gd name="textAreaBottom" fmla="*/ 1023840 h 1023480"/>
              <a:gd name="GluePoint1X" fmla="*/ 1110 w 1110"/>
              <a:gd name="GluePoint1Y" fmla="*/ 342 h 645"/>
              <a:gd name="GluePoint2X" fmla="*/ 0 w 1110"/>
              <a:gd name="GluePoint2Y" fmla="*/ 645 h 64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grpSp>
        <p:nvGrpSpPr>
          <p:cNvPr id="1407" name="Group 45"/>
          <p:cNvGrpSpPr/>
          <p:nvPr/>
        </p:nvGrpSpPr>
        <p:grpSpPr>
          <a:xfrm>
            <a:off x="1639440" y="3628080"/>
            <a:ext cx="325080" cy="396360"/>
            <a:chOff x="1639440" y="3628080"/>
            <a:chExt cx="325080" cy="396360"/>
          </a:xfrm>
        </p:grpSpPr>
        <p:sp>
          <p:nvSpPr>
            <p:cNvPr id="1408" name="Rectangle 46"/>
            <p:cNvSpPr/>
            <p:nvPr/>
          </p:nvSpPr>
          <p:spPr>
            <a:xfrm>
              <a:off x="1683360" y="3731400"/>
              <a:ext cx="225000" cy="20916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409" name="Text Box 47"/>
            <p:cNvSpPr/>
            <p:nvPr/>
          </p:nvSpPr>
          <p:spPr>
            <a:xfrm>
              <a:off x="1639440" y="3628080"/>
              <a:ext cx="325080" cy="39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u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10" name="Group 48"/>
          <p:cNvGrpSpPr/>
          <p:nvPr/>
        </p:nvGrpSpPr>
        <p:grpSpPr>
          <a:xfrm>
            <a:off x="3503160" y="4237920"/>
            <a:ext cx="310680" cy="396360"/>
            <a:chOff x="3503160" y="4237920"/>
            <a:chExt cx="310680" cy="396360"/>
          </a:xfrm>
        </p:grpSpPr>
        <p:sp>
          <p:nvSpPr>
            <p:cNvPr id="1411" name="Rectangle 49"/>
            <p:cNvSpPr/>
            <p:nvPr/>
          </p:nvSpPr>
          <p:spPr>
            <a:xfrm>
              <a:off x="3540960" y="4340880"/>
              <a:ext cx="221760" cy="20916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412" name="Text Box 50"/>
            <p:cNvSpPr/>
            <p:nvPr/>
          </p:nvSpPr>
          <p:spPr>
            <a:xfrm>
              <a:off x="3503160" y="4237920"/>
              <a:ext cx="310680" cy="39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y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13" name="Group 60"/>
          <p:cNvGrpSpPr/>
          <p:nvPr/>
        </p:nvGrpSpPr>
        <p:grpSpPr>
          <a:xfrm>
            <a:off x="4398480" y="3647160"/>
            <a:ext cx="336240" cy="456840"/>
            <a:chOff x="4398480" y="3647160"/>
            <a:chExt cx="336240" cy="456840"/>
          </a:xfrm>
        </p:grpSpPr>
        <p:sp>
          <p:nvSpPr>
            <p:cNvPr id="1414" name="Rectangle 61"/>
            <p:cNvSpPr/>
            <p:nvPr/>
          </p:nvSpPr>
          <p:spPr>
            <a:xfrm>
              <a:off x="4450680" y="3798000"/>
              <a:ext cx="222840" cy="20916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415" name="Text Box 62"/>
            <p:cNvSpPr/>
            <p:nvPr/>
          </p:nvSpPr>
          <p:spPr>
            <a:xfrm>
              <a:off x="4398480" y="3647160"/>
              <a:ext cx="3362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z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16" name="Text Box 63"/>
          <p:cNvSpPr/>
          <p:nvPr/>
        </p:nvSpPr>
        <p:spPr>
          <a:xfrm>
            <a:off x="1966680" y="3348720"/>
            <a:ext cx="31068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Text Box 64"/>
          <p:cNvSpPr/>
          <p:nvPr/>
        </p:nvSpPr>
        <p:spPr>
          <a:xfrm>
            <a:off x="2518920" y="3696480"/>
            <a:ext cx="31068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Text Box 65"/>
          <p:cNvSpPr/>
          <p:nvPr/>
        </p:nvSpPr>
        <p:spPr>
          <a:xfrm>
            <a:off x="1828440" y="4034520"/>
            <a:ext cx="31068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Text Box 66"/>
          <p:cNvSpPr/>
          <p:nvPr/>
        </p:nvSpPr>
        <p:spPr>
          <a:xfrm>
            <a:off x="3128760" y="3844080"/>
            <a:ext cx="31068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Text Box 67"/>
          <p:cNvSpPr/>
          <p:nvPr/>
        </p:nvSpPr>
        <p:spPr>
          <a:xfrm>
            <a:off x="3028680" y="4406040"/>
            <a:ext cx="31068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Text Box 68"/>
          <p:cNvSpPr/>
          <p:nvPr/>
        </p:nvSpPr>
        <p:spPr>
          <a:xfrm>
            <a:off x="3600000" y="3724920"/>
            <a:ext cx="31068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2" name="Text Box 69"/>
          <p:cNvSpPr/>
          <p:nvPr/>
        </p:nvSpPr>
        <p:spPr>
          <a:xfrm>
            <a:off x="4171680" y="4143960"/>
            <a:ext cx="31068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Text Box 70"/>
          <p:cNvSpPr/>
          <p:nvPr/>
        </p:nvSpPr>
        <p:spPr>
          <a:xfrm>
            <a:off x="4128840" y="3291480"/>
            <a:ext cx="31068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Text Box 71"/>
          <p:cNvSpPr/>
          <p:nvPr/>
        </p:nvSpPr>
        <p:spPr>
          <a:xfrm>
            <a:off x="2962080" y="3053520"/>
            <a:ext cx="31068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Text Box 72"/>
          <p:cNvSpPr/>
          <p:nvPr/>
        </p:nvSpPr>
        <p:spPr>
          <a:xfrm>
            <a:off x="2404800" y="2629800"/>
            <a:ext cx="31068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Text Box 73"/>
          <p:cNvSpPr/>
          <p:nvPr/>
        </p:nvSpPr>
        <p:spPr>
          <a:xfrm>
            <a:off x="826560" y="1308960"/>
            <a:ext cx="1106028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Suppose that </a:t>
            </a: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u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’s neighboring node</a:t>
            </a: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s, x,v,w,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know that for destination</a:t>
            </a: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 z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27" name="Group 197"/>
          <p:cNvGrpSpPr/>
          <p:nvPr/>
        </p:nvGrpSpPr>
        <p:grpSpPr>
          <a:xfrm>
            <a:off x="5954400" y="2229120"/>
            <a:ext cx="5240520" cy="1912680"/>
            <a:chOff x="5954400" y="2229120"/>
            <a:chExt cx="5240520" cy="1912680"/>
          </a:xfrm>
        </p:grpSpPr>
        <p:sp>
          <p:nvSpPr>
            <p:cNvPr id="1428" name="Text Box 74"/>
            <p:cNvSpPr/>
            <p:nvPr/>
          </p:nvSpPr>
          <p:spPr>
            <a:xfrm>
              <a:off x="6575400" y="2803680"/>
              <a:ext cx="3503520" cy="133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D</a:t>
              </a:r>
              <a:r>
                <a:rPr b="0" i="1" lang="en-US" sz="2400" strike="noStrike" u="none" baseline="-25000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u</a:t>
              </a: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(z) </a:t>
              </a: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= min { </a:t>
              </a: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c</a:t>
              </a:r>
              <a:r>
                <a:rPr b="0" i="1" lang="en-US" sz="2400" strike="noStrike" u="none" baseline="-25000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u,v </a:t>
              </a: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+ D</a:t>
              </a:r>
              <a:r>
                <a:rPr b="0" i="1" lang="en-US" sz="2400" strike="noStrike" u="none" baseline="-25000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v</a:t>
              </a: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(z),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                    c</a:t>
              </a:r>
              <a:r>
                <a:rPr b="0" i="1" lang="en-US" sz="2400" strike="noStrike" u="none" baseline="-25000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u,x </a:t>
              </a: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+ D</a:t>
              </a:r>
              <a:r>
                <a:rPr b="0" i="1" lang="en-US" sz="2400" strike="noStrike" u="none" baseline="-25000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x</a:t>
              </a: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(z),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                    c</a:t>
              </a:r>
              <a:r>
                <a:rPr b="0" i="1" lang="en-US" sz="2400" strike="noStrike" u="none" baseline="-25000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u,w </a:t>
              </a: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+ D</a:t>
              </a:r>
              <a:r>
                <a:rPr b="0" i="1" lang="en-US" sz="2400" strike="noStrike" u="none" baseline="-25000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w</a:t>
              </a: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(z) </a:t>
              </a: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}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9" name="Text Box 76"/>
            <p:cNvSpPr/>
            <p:nvPr/>
          </p:nvSpPr>
          <p:spPr>
            <a:xfrm>
              <a:off x="5954400" y="2229120"/>
              <a:ext cx="524052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Bellman-Ford equation says: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30" name="Oval 10"/>
          <p:cNvSpPr/>
          <p:nvPr/>
        </p:nvSpPr>
        <p:spPr>
          <a:xfrm>
            <a:off x="1490760" y="3507120"/>
            <a:ext cx="613440" cy="613440"/>
          </a:xfrm>
          <a:prstGeom prst="ellipse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431" name="Group 18"/>
          <p:cNvGrpSpPr/>
          <p:nvPr/>
        </p:nvGrpSpPr>
        <p:grpSpPr>
          <a:xfrm>
            <a:off x="763920" y="2192040"/>
            <a:ext cx="1690920" cy="1127160"/>
            <a:chOff x="763920" y="2192040"/>
            <a:chExt cx="1690920" cy="1127160"/>
          </a:xfrm>
        </p:grpSpPr>
        <p:sp>
          <p:nvSpPr>
            <p:cNvPr id="1432" name="Freeform 16"/>
            <p:cNvSpPr/>
            <p:nvPr/>
          </p:nvSpPr>
          <p:spPr>
            <a:xfrm>
              <a:off x="851760" y="2630520"/>
              <a:ext cx="1603080" cy="688680"/>
            </a:xfrm>
            <a:custGeom>
              <a:avLst/>
              <a:gdLst>
                <a:gd name="textAreaLeft" fmla="*/ 0 w 1603080"/>
                <a:gd name="textAreaRight" fmla="*/ 1603440 w 1603080"/>
                <a:gd name="textAreaTop" fmla="*/ 0 h 688680"/>
                <a:gd name="textAreaBottom" fmla="*/ 689040 h 688680"/>
                <a:gd name="GluePoint1X" fmla="*/ 1603331 w 1603331"/>
                <a:gd name="GluePoint1Y" fmla="*/ 626301 h 688931"/>
                <a:gd name="GluePoint2X" fmla="*/ 1453019 w 1603331"/>
                <a:gd name="GluePoint2Y" fmla="*/ 688931 h 688931"/>
                <a:gd name="GluePoint3X" fmla="*/ 0 w 1603331"/>
                <a:gd name="GluePoint3Y" fmla="*/ 0 h 688931"/>
                <a:gd name="GluePoint4X" fmla="*/ 1240077 w 1603331"/>
                <a:gd name="GluePoint4Y" fmla="*/ 0 h 688931"/>
                <a:gd name="GluePoint5X" fmla="*/ 1603331 w 1603331"/>
                <a:gd name="GluePoint5Y" fmla="*/ 626301 h 6889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98000">
                  <a:srgbClr val="d9d9d9"/>
                </a:gs>
              </a:gsLst>
              <a:lin ang="162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433" name="Group 17"/>
            <p:cNvGrpSpPr/>
            <p:nvPr/>
          </p:nvGrpSpPr>
          <p:grpSpPr>
            <a:xfrm>
              <a:off x="763920" y="2192040"/>
              <a:ext cx="1346400" cy="461160"/>
              <a:chOff x="763920" y="2192040"/>
              <a:chExt cx="1346400" cy="461160"/>
            </a:xfrm>
          </p:grpSpPr>
          <p:sp>
            <p:nvSpPr>
              <p:cNvPr id="1434" name="Rectangle 15"/>
              <p:cNvSpPr/>
              <p:nvPr/>
            </p:nvSpPr>
            <p:spPr>
              <a:xfrm>
                <a:off x="851760" y="2242080"/>
                <a:ext cx="1239840" cy="388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ffff">
                    <a:lumMod val="75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435" name="TextBox 3"/>
              <p:cNvSpPr/>
              <p:nvPr/>
            </p:nvSpPr>
            <p:spPr>
              <a:xfrm>
                <a:off x="763920" y="2192040"/>
                <a:ext cx="1346400" cy="461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marL="123840" defTabSz="914400">
                  <a:lnSpc>
                    <a:spcPct val="100000"/>
                  </a:lnSpc>
                </a:pPr>
                <a:r>
                  <a:rPr b="0" i="1" lang="en-US" sz="2400" strike="noStrike" u="non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D</a:t>
                </a:r>
                <a:r>
                  <a:rPr b="0" i="1" lang="en-US" sz="2400" strike="noStrike" u="none" baseline="-25000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v</a:t>
                </a:r>
                <a:r>
                  <a:rPr b="0" i="1" lang="en-US" sz="2400" strike="noStrike" u="non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(z) </a:t>
                </a:r>
                <a:r>
                  <a:rPr b="0" lang="en-US" sz="2400" strike="noStrike" u="non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= 5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436" name="Group 179"/>
          <p:cNvGrpSpPr/>
          <p:nvPr/>
        </p:nvGrpSpPr>
        <p:grpSpPr>
          <a:xfrm>
            <a:off x="2315160" y="3160080"/>
            <a:ext cx="501840" cy="396360"/>
            <a:chOff x="2315160" y="3160080"/>
            <a:chExt cx="501840" cy="396360"/>
          </a:xfrm>
        </p:grpSpPr>
        <p:grpSp>
          <p:nvGrpSpPr>
            <p:cNvPr id="1437" name="Group 178"/>
            <p:cNvGrpSpPr/>
            <p:nvPr/>
          </p:nvGrpSpPr>
          <p:grpSpPr>
            <a:xfrm>
              <a:off x="2315160" y="3253320"/>
              <a:ext cx="501840" cy="232920"/>
              <a:chOff x="2315160" y="3253320"/>
              <a:chExt cx="501840" cy="232920"/>
            </a:xfrm>
          </p:grpSpPr>
          <p:sp>
            <p:nvSpPr>
              <p:cNvPr id="1438" name="Oval 16"/>
              <p:cNvSpPr/>
              <p:nvPr/>
            </p:nvSpPr>
            <p:spPr>
              <a:xfrm>
                <a:off x="2319840" y="3358080"/>
                <a:ext cx="496440" cy="128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439" name="Line 17"/>
              <p:cNvSpPr/>
              <p:nvPr/>
            </p:nvSpPr>
            <p:spPr>
              <a:xfrm>
                <a:off x="2319480" y="33469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4560" bIns="34560" anchor="ctr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440" name="Line 18"/>
              <p:cNvSpPr/>
              <p:nvPr/>
            </p:nvSpPr>
            <p:spPr>
              <a:xfrm>
                <a:off x="2816640" y="33469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4560" bIns="34560" anchor="ctr">
                <a:noAutofit/>
              </a:bodyPr>
              <a:p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441" name="Rectangle 19"/>
              <p:cNvSpPr/>
              <p:nvPr/>
            </p:nvSpPr>
            <p:spPr>
              <a:xfrm>
                <a:off x="2319840" y="3347280"/>
                <a:ext cx="491760" cy="7740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2760" bIns="3276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442" name="Oval 20"/>
              <p:cNvSpPr/>
              <p:nvPr/>
            </p:nvSpPr>
            <p:spPr>
              <a:xfrm>
                <a:off x="2315160" y="3253320"/>
                <a:ext cx="496440" cy="15048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</p:grpSp>
        <p:grpSp>
          <p:nvGrpSpPr>
            <p:cNvPr id="1443" name="Group 57"/>
            <p:cNvGrpSpPr/>
            <p:nvPr/>
          </p:nvGrpSpPr>
          <p:grpSpPr>
            <a:xfrm>
              <a:off x="2408040" y="3160080"/>
              <a:ext cx="310680" cy="396360"/>
              <a:chOff x="2408040" y="3160080"/>
              <a:chExt cx="310680" cy="396360"/>
            </a:xfrm>
          </p:grpSpPr>
          <p:sp>
            <p:nvSpPr>
              <p:cNvPr id="1444" name="Rectangle 58"/>
              <p:cNvSpPr/>
              <p:nvPr/>
            </p:nvSpPr>
            <p:spPr>
              <a:xfrm>
                <a:off x="2445480" y="3263400"/>
                <a:ext cx="2217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445" name="Text Box 59"/>
              <p:cNvSpPr/>
              <p:nvPr/>
            </p:nvSpPr>
            <p:spPr>
              <a:xfrm>
                <a:off x="2408040" y="3160080"/>
                <a:ext cx="31068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v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446" name="Group 186"/>
          <p:cNvGrpSpPr/>
          <p:nvPr/>
        </p:nvGrpSpPr>
        <p:grpSpPr>
          <a:xfrm>
            <a:off x="3717360" y="2156400"/>
            <a:ext cx="1617480" cy="1131120"/>
            <a:chOff x="3717360" y="2156400"/>
            <a:chExt cx="1617480" cy="1131120"/>
          </a:xfrm>
        </p:grpSpPr>
        <p:sp>
          <p:nvSpPr>
            <p:cNvPr id="1447" name="Freeform 181"/>
            <p:cNvSpPr/>
            <p:nvPr/>
          </p:nvSpPr>
          <p:spPr>
            <a:xfrm flipH="1">
              <a:off x="3717000" y="2598840"/>
              <a:ext cx="1603080" cy="688680"/>
            </a:xfrm>
            <a:custGeom>
              <a:avLst/>
              <a:gdLst>
                <a:gd name="textAreaLeft" fmla="*/ -360 w 1603080"/>
                <a:gd name="textAreaRight" fmla="*/ 1603080 w 1603080"/>
                <a:gd name="textAreaTop" fmla="*/ 0 h 688680"/>
                <a:gd name="textAreaBottom" fmla="*/ 689040 h 688680"/>
                <a:gd name="GluePoint1X" fmla="*/ 1603331 w 1603331"/>
                <a:gd name="GluePoint1Y" fmla="*/ 626301 h 688931"/>
                <a:gd name="GluePoint2X" fmla="*/ 1453019 w 1603331"/>
                <a:gd name="GluePoint2Y" fmla="*/ 688931 h 688931"/>
                <a:gd name="GluePoint3X" fmla="*/ 0 w 1603331"/>
                <a:gd name="GluePoint3Y" fmla="*/ 0 h 688931"/>
                <a:gd name="GluePoint4X" fmla="*/ 1240077 w 1603331"/>
                <a:gd name="GluePoint4Y" fmla="*/ 0 h 688931"/>
                <a:gd name="GluePoint5X" fmla="*/ 1603331 w 1603331"/>
                <a:gd name="GluePoint5Y" fmla="*/ 626301 h 6889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98000">
                  <a:srgbClr val="d9d9d9"/>
                </a:gs>
              </a:gsLst>
              <a:lin ang="162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448" name="Group 185"/>
            <p:cNvGrpSpPr/>
            <p:nvPr/>
          </p:nvGrpSpPr>
          <p:grpSpPr>
            <a:xfrm>
              <a:off x="3933720" y="2156400"/>
              <a:ext cx="1401120" cy="461160"/>
              <a:chOff x="3933720" y="2156400"/>
              <a:chExt cx="1401120" cy="461160"/>
            </a:xfrm>
          </p:grpSpPr>
          <p:sp>
            <p:nvSpPr>
              <p:cNvPr id="1449" name="Rectangle 176"/>
              <p:cNvSpPr/>
              <p:nvPr/>
            </p:nvSpPr>
            <p:spPr>
              <a:xfrm>
                <a:off x="4078800" y="2214000"/>
                <a:ext cx="1239840" cy="388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ffff">
                    <a:lumMod val="75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450" name="TextBox 174"/>
              <p:cNvSpPr/>
              <p:nvPr/>
            </p:nvSpPr>
            <p:spPr>
              <a:xfrm>
                <a:off x="3933720" y="2156400"/>
                <a:ext cx="1401120" cy="461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marL="123840" defTabSz="914400">
                  <a:lnSpc>
                    <a:spcPct val="100000"/>
                  </a:lnSpc>
                </a:pPr>
                <a:r>
                  <a:rPr b="0" i="1" lang="en-US" sz="2400" strike="noStrike" u="non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D</a:t>
                </a:r>
                <a:r>
                  <a:rPr b="0" i="1" lang="en-US" sz="2400" strike="noStrike" u="none" baseline="-25000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w</a:t>
                </a:r>
                <a:r>
                  <a:rPr b="0" i="1" lang="en-US" sz="2400" strike="noStrike" u="non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(z) = </a:t>
                </a:r>
                <a:r>
                  <a:rPr b="0" lang="en-US" sz="2400" strike="noStrike" u="non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3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451" name="Group 187"/>
          <p:cNvGrpSpPr/>
          <p:nvPr/>
        </p:nvGrpSpPr>
        <p:grpSpPr>
          <a:xfrm>
            <a:off x="3391920" y="3123360"/>
            <a:ext cx="500040" cy="396360"/>
            <a:chOff x="3391920" y="3123360"/>
            <a:chExt cx="500040" cy="396360"/>
          </a:xfrm>
        </p:grpSpPr>
        <p:sp>
          <p:nvSpPr>
            <p:cNvPr id="1452" name="Oval 21"/>
            <p:cNvSpPr/>
            <p:nvPr/>
          </p:nvSpPr>
          <p:spPr>
            <a:xfrm>
              <a:off x="3392280" y="3328200"/>
              <a:ext cx="49500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453" name="Line 22"/>
            <p:cNvSpPr/>
            <p:nvPr/>
          </p:nvSpPr>
          <p:spPr>
            <a:xfrm>
              <a:off x="3391920" y="33166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454" name="Line 23"/>
            <p:cNvSpPr/>
            <p:nvPr/>
          </p:nvSpPr>
          <p:spPr>
            <a:xfrm>
              <a:off x="3887280" y="33166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455" name="Rectangle 24"/>
            <p:cNvSpPr/>
            <p:nvPr/>
          </p:nvSpPr>
          <p:spPr>
            <a:xfrm>
              <a:off x="3392280" y="3317040"/>
              <a:ext cx="49032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456" name="Oval 25"/>
            <p:cNvSpPr/>
            <p:nvPr/>
          </p:nvSpPr>
          <p:spPr>
            <a:xfrm>
              <a:off x="3396960" y="3228120"/>
              <a:ext cx="49500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grpSp>
          <p:nvGrpSpPr>
            <p:cNvPr id="1457" name="Group 54"/>
            <p:cNvGrpSpPr/>
            <p:nvPr/>
          </p:nvGrpSpPr>
          <p:grpSpPr>
            <a:xfrm>
              <a:off x="3466800" y="3123360"/>
              <a:ext cx="367920" cy="396360"/>
              <a:chOff x="3466800" y="3123360"/>
              <a:chExt cx="367920" cy="396360"/>
            </a:xfrm>
          </p:grpSpPr>
          <p:sp>
            <p:nvSpPr>
              <p:cNvPr id="1458" name="Rectangle 55"/>
              <p:cNvSpPr/>
              <p:nvPr/>
            </p:nvSpPr>
            <p:spPr>
              <a:xfrm>
                <a:off x="3530880" y="3245760"/>
                <a:ext cx="22860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459" name="Text Box 56"/>
              <p:cNvSpPr/>
              <p:nvPr/>
            </p:nvSpPr>
            <p:spPr>
              <a:xfrm>
                <a:off x="3466800" y="3123360"/>
                <a:ext cx="36792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w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460" name="Group 194"/>
          <p:cNvGrpSpPr/>
          <p:nvPr/>
        </p:nvGrpSpPr>
        <p:grpSpPr>
          <a:xfrm>
            <a:off x="848520" y="4371840"/>
            <a:ext cx="1691280" cy="1106640"/>
            <a:chOff x="848520" y="4371840"/>
            <a:chExt cx="1691280" cy="1106640"/>
          </a:xfrm>
        </p:grpSpPr>
        <p:sp>
          <p:nvSpPr>
            <p:cNvPr id="1461" name="Freeform 189"/>
            <p:cNvSpPr/>
            <p:nvPr/>
          </p:nvSpPr>
          <p:spPr>
            <a:xfrm flipV="1">
              <a:off x="936720" y="4371480"/>
              <a:ext cx="1603080" cy="688680"/>
            </a:xfrm>
            <a:custGeom>
              <a:avLst/>
              <a:gdLst>
                <a:gd name="textAreaLeft" fmla="*/ 0 w 1603080"/>
                <a:gd name="textAreaRight" fmla="*/ 1603440 w 1603080"/>
                <a:gd name="textAreaTop" fmla="*/ -360 h 688680"/>
                <a:gd name="textAreaBottom" fmla="*/ 688680 h 688680"/>
                <a:gd name="GluePoint1X" fmla="*/ 1603331 w 1603331"/>
                <a:gd name="GluePoint1Y" fmla="*/ 626301 h 688931"/>
                <a:gd name="GluePoint2X" fmla="*/ 1453019 w 1603331"/>
                <a:gd name="GluePoint2Y" fmla="*/ 688931 h 688931"/>
                <a:gd name="GluePoint3X" fmla="*/ 0 w 1603331"/>
                <a:gd name="GluePoint3Y" fmla="*/ 0 h 688931"/>
                <a:gd name="GluePoint4X" fmla="*/ 1240077 w 1603331"/>
                <a:gd name="GluePoint4Y" fmla="*/ 0 h 688931"/>
                <a:gd name="GluePoint5X" fmla="*/ 1603331 w 1603331"/>
                <a:gd name="GluePoint5Y" fmla="*/ 626301 h 6889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98000">
                  <a:srgbClr val="d9d9d9"/>
                </a:gs>
              </a:gsLst>
              <a:lin ang="5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462" name="Group 193"/>
            <p:cNvGrpSpPr/>
            <p:nvPr/>
          </p:nvGrpSpPr>
          <p:grpSpPr>
            <a:xfrm>
              <a:off x="848520" y="5017320"/>
              <a:ext cx="1341720" cy="461160"/>
              <a:chOff x="848520" y="5017320"/>
              <a:chExt cx="1341720" cy="461160"/>
            </a:xfrm>
          </p:grpSpPr>
          <p:sp>
            <p:nvSpPr>
              <p:cNvPr id="1463" name="Rectangle 177"/>
              <p:cNvSpPr/>
              <p:nvPr/>
            </p:nvSpPr>
            <p:spPr>
              <a:xfrm>
                <a:off x="950400" y="5057280"/>
                <a:ext cx="1239840" cy="388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ffff">
                    <a:lumMod val="75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464" name="TextBox 173"/>
              <p:cNvSpPr/>
              <p:nvPr/>
            </p:nvSpPr>
            <p:spPr>
              <a:xfrm>
                <a:off x="848520" y="5017320"/>
                <a:ext cx="1341720" cy="461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marL="123840" defTabSz="914400">
                  <a:lnSpc>
                    <a:spcPct val="100000"/>
                  </a:lnSpc>
                </a:pPr>
                <a:r>
                  <a:rPr b="0" i="1" lang="en-US" sz="2400" strike="noStrike" u="non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D</a:t>
                </a:r>
                <a:r>
                  <a:rPr b="0" i="1" lang="en-US" sz="2400" strike="noStrike" u="none" baseline="-25000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x</a:t>
                </a:r>
                <a:r>
                  <a:rPr b="0" i="1" lang="en-US" sz="2400" strike="noStrike" u="non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(z)</a:t>
                </a:r>
                <a:r>
                  <a:rPr b="0" lang="en-US" sz="2400" strike="noStrike" u="none">
                    <a:solidFill>
                      <a:srgbClr val="000000"/>
                    </a:solidFill>
                    <a:effectLst/>
                    <a:uFillTx/>
                    <a:latin typeface="Calibri"/>
                    <a:ea typeface="ＭＳ Ｐゴシック"/>
                  </a:rPr>
                  <a:t> = 3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465" name="Group 195"/>
          <p:cNvGrpSpPr/>
          <p:nvPr/>
        </p:nvGrpSpPr>
        <p:grpSpPr>
          <a:xfrm>
            <a:off x="2309400" y="4185360"/>
            <a:ext cx="501840" cy="456840"/>
            <a:chOff x="2309400" y="4185360"/>
            <a:chExt cx="501840" cy="456840"/>
          </a:xfrm>
        </p:grpSpPr>
        <p:sp>
          <p:nvSpPr>
            <p:cNvPr id="1466" name="Oval 11"/>
            <p:cNvSpPr/>
            <p:nvPr/>
          </p:nvSpPr>
          <p:spPr>
            <a:xfrm>
              <a:off x="2314440" y="4429800"/>
              <a:ext cx="496440" cy="12816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467" name="Line 12"/>
            <p:cNvSpPr/>
            <p:nvPr/>
          </p:nvSpPr>
          <p:spPr>
            <a:xfrm>
              <a:off x="2314080" y="44186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468" name="Line 13"/>
            <p:cNvSpPr/>
            <p:nvPr/>
          </p:nvSpPr>
          <p:spPr>
            <a:xfrm>
              <a:off x="2810880" y="4418640"/>
              <a:ext cx="360" cy="7920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469" name="Rectangle 14"/>
            <p:cNvSpPr/>
            <p:nvPr/>
          </p:nvSpPr>
          <p:spPr>
            <a:xfrm>
              <a:off x="2314440" y="4418640"/>
              <a:ext cx="491760" cy="77400"/>
            </a:xfrm>
            <a:prstGeom prst="rect">
              <a:avLst/>
            </a:prstGeom>
            <a:solidFill>
              <a:srgbClr val="cc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32760" bIns="327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470" name="Oval 15"/>
            <p:cNvSpPr/>
            <p:nvPr/>
          </p:nvSpPr>
          <p:spPr>
            <a:xfrm>
              <a:off x="2309400" y="4325040"/>
              <a:ext cx="496440" cy="150480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grpSp>
          <p:nvGrpSpPr>
            <p:cNvPr id="1471" name="Group 51"/>
            <p:cNvGrpSpPr/>
            <p:nvPr/>
          </p:nvGrpSpPr>
          <p:grpSpPr>
            <a:xfrm>
              <a:off x="2409480" y="4185360"/>
              <a:ext cx="336240" cy="456840"/>
              <a:chOff x="2409480" y="4185360"/>
              <a:chExt cx="336240" cy="456840"/>
            </a:xfrm>
          </p:grpSpPr>
          <p:sp>
            <p:nvSpPr>
              <p:cNvPr id="1472" name="Rectangle 52"/>
              <p:cNvSpPr/>
              <p:nvPr/>
            </p:nvSpPr>
            <p:spPr>
              <a:xfrm>
                <a:off x="2458440" y="4336200"/>
                <a:ext cx="227160" cy="2091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473" name="Text Box 53"/>
              <p:cNvSpPr/>
              <p:nvPr/>
            </p:nvSpPr>
            <p:spPr>
              <a:xfrm>
                <a:off x="2409480" y="4185360"/>
                <a:ext cx="33624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x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74" name="Text Box 74"/>
          <p:cNvSpPr/>
          <p:nvPr/>
        </p:nvSpPr>
        <p:spPr>
          <a:xfrm>
            <a:off x="7446240" y="3940920"/>
            <a:ext cx="260496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= min {2 + 5,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          1 + 3,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          5 + 3}  = 4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75" name="Group 203"/>
          <p:cNvGrpSpPr/>
          <p:nvPr/>
        </p:nvGrpSpPr>
        <p:grpSpPr>
          <a:xfrm>
            <a:off x="6270840" y="2745360"/>
            <a:ext cx="4776840" cy="3733200"/>
            <a:chOff x="6270840" y="2745360"/>
            <a:chExt cx="4776840" cy="3733200"/>
          </a:xfrm>
        </p:grpSpPr>
        <p:sp>
          <p:nvSpPr>
            <p:cNvPr id="1476" name="Text Box 75"/>
            <p:cNvSpPr/>
            <p:nvPr/>
          </p:nvSpPr>
          <p:spPr>
            <a:xfrm>
              <a:off x="6270840" y="5284440"/>
              <a:ext cx="4776840" cy="119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85000"/>
                </a:lnSpc>
              </a:pPr>
              <a:r>
                <a:rPr b="0" i="1" lang="en-US" sz="2800" strike="noStrike" u="none">
                  <a:solidFill>
                    <a:srgbClr val="000000"/>
                  </a:solidFill>
                  <a:effectLst/>
                  <a:uFillTx/>
                  <a:latin typeface="Calibri"/>
                  <a:ea typeface="ＭＳ Ｐゴシック"/>
                </a:rPr>
                <a:t>node achieving minimum (x) is next hop on estimated least-cost path to destination (z)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77" name="Group 202"/>
            <p:cNvGrpSpPr/>
            <p:nvPr/>
          </p:nvGrpSpPr>
          <p:grpSpPr>
            <a:xfrm>
              <a:off x="6465600" y="2745360"/>
              <a:ext cx="3644640" cy="2469240"/>
              <a:chOff x="6465600" y="2745360"/>
              <a:chExt cx="3644640" cy="2469240"/>
            </a:xfrm>
          </p:grpSpPr>
          <p:sp>
            <p:nvSpPr>
              <p:cNvPr id="1478" name="Oval 199"/>
              <p:cNvSpPr/>
              <p:nvPr/>
            </p:nvSpPr>
            <p:spPr>
              <a:xfrm>
                <a:off x="6465600" y="2745360"/>
                <a:ext cx="874440" cy="6134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479" name="Oval 200"/>
              <p:cNvSpPr/>
              <p:nvPr/>
            </p:nvSpPr>
            <p:spPr>
              <a:xfrm>
                <a:off x="9235800" y="4601160"/>
                <a:ext cx="874440" cy="6134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480" name="Oval 201"/>
              <p:cNvSpPr/>
              <p:nvPr/>
            </p:nvSpPr>
            <p:spPr>
              <a:xfrm>
                <a:off x="8098200" y="3187800"/>
                <a:ext cx="1721880" cy="4820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675" dur="indefinite" restart="never" nodeType="tmRoot">
          <p:childTnLst>
            <p:seq>
              <p:cTn id="676" dur="indefinite" nodeType="mainSeq">
                <p:childTnLst>
                  <p:par>
                    <p:cTn id="677" fill="hold">
                      <p:stCondLst>
                        <p:cond delay="0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id="679" nodeType="afterEffect" fill="hold" presetClass="entr" presetID="9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81" dur="500"/>
                                        <p:tgtEl>
                                          <p:spTgt spid="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2" fill="hold">
                      <p:stCondLst>
                        <p:cond delay="indefinite"/>
                      </p:stCondLst>
                      <p:childTnLst>
                        <p:par>
                          <p:cTn id="683" fill="hold">
                            <p:stCondLst>
                              <p:cond delay="0"/>
                            </p:stCondLst>
                            <p:childTnLst>
                              <p:par>
                                <p:cTn id="684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686" dur="500"/>
                                        <p:tgtEl>
                                          <p:spTgt spid="1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7" fill="hold">
                      <p:stCondLst>
                        <p:cond delay="indefinite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691" dur="500"/>
                                        <p:tgtEl>
                                          <p:spTgt spid="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2" fill="hold">
                      <p:stCondLst>
                        <p:cond delay="indefinite"/>
                      </p:stCondLst>
                      <p:childTnLst>
                        <p:par>
                          <p:cTn id="693" fill="hold">
                            <p:stCondLst>
                              <p:cond delay="0"/>
                            </p:stCondLst>
                            <p:childTnLst>
                              <p:par>
                                <p:cTn id="694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696" dur="500"/>
                                        <p:tgtEl>
                                          <p:spTgt spid="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7" fill="hold">
                      <p:stCondLst>
                        <p:cond delay="indefinite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id="69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01" dur="500"/>
                                        <p:tgtEl>
                                          <p:spTgt spid="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2" fill="hold">
                      <p:stCondLst>
                        <p:cond delay="indefinite"/>
                      </p:stCondLst>
                      <p:childTnLst>
                        <p:par>
                          <p:cTn id="703" fill="hold">
                            <p:stCondLst>
                              <p:cond delay="0"/>
                            </p:stCondLst>
                            <p:childTnLst>
                              <p:par>
                                <p:cTn id="70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06" dur="500"/>
                                        <p:tgtEl>
                                          <p:spTgt spid="1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7" fill="hold">
                      <p:stCondLst>
                        <p:cond delay="indefinite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11" dur="500"/>
                                        <p:tgtEl>
                                          <p:spTgt spid="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Distance vector algorithm 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2" name="PlaceHolder 2"/>
          <p:cNvSpPr>
            <a:spLocks noGrp="1"/>
          </p:cNvSpPr>
          <p:nvPr>
            <p:ph type="sldNum" idx="72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0B1EF46F-B246-4997-9DB1-775D565EE471}" type="slidenum"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Rectangle 3"/>
          <p:cNvSpPr/>
          <p:nvPr/>
        </p:nvSpPr>
        <p:spPr>
          <a:xfrm>
            <a:off x="696240" y="1449720"/>
            <a:ext cx="10814760" cy="13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200" strike="noStrike" u="none">
                <a:solidFill>
                  <a:srgbClr val="cc0000"/>
                </a:solidFill>
                <a:effectLst/>
                <a:uFillTx/>
                <a:latin typeface="Calibri"/>
              </a:rPr>
              <a:t>key idea: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3301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from time-to-time, each node sends its own distance vector estimate to neighbors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4" name="Rectangle 5"/>
          <p:cNvSpPr/>
          <p:nvPr/>
        </p:nvSpPr>
        <p:spPr>
          <a:xfrm>
            <a:off x="824040" y="4777920"/>
            <a:ext cx="10674360" cy="14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7760" indent="-347760" defTabSz="914400">
              <a:lnSpc>
                <a:spcPct val="90000"/>
              </a:lnSpc>
              <a:spcBef>
                <a:spcPts val="561"/>
              </a:spcBef>
              <a:buClr>
                <a:srgbClr val="0000a8"/>
              </a:buClr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under minor, natural conditions, the estimate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i="1" lang="en-US" sz="2800" strike="noStrike" u="none" baseline="-30000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(y) converge to the actual least cost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(y)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85" name="Group 3"/>
          <p:cNvGrpSpPr/>
          <p:nvPr/>
        </p:nvGrpSpPr>
        <p:grpSpPr>
          <a:xfrm>
            <a:off x="648360" y="2792160"/>
            <a:ext cx="10814760" cy="1411920"/>
            <a:chOff x="648360" y="2792160"/>
            <a:chExt cx="10814760" cy="1411920"/>
          </a:xfrm>
        </p:grpSpPr>
        <p:sp>
          <p:nvSpPr>
            <p:cNvPr id="1486" name="Rectangle 4"/>
            <p:cNvSpPr/>
            <p:nvPr/>
          </p:nvSpPr>
          <p:spPr>
            <a:xfrm>
              <a:off x="2556360" y="3681360"/>
              <a:ext cx="6708960" cy="52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i="1" lang="en-US" sz="2800" strike="noStrike" u="none">
                  <a:solidFill>
                    <a:srgbClr val="cc0000"/>
                  </a:solidFill>
                  <a:effectLst/>
                  <a:uFillTx/>
                  <a:latin typeface="Calibri"/>
                </a:rPr>
                <a:t>D</a:t>
              </a:r>
              <a:r>
                <a:rPr b="0" i="1" lang="en-US" sz="2800" strike="noStrike" u="none" baseline="-30000">
                  <a:solidFill>
                    <a:srgbClr val="cc0000"/>
                  </a:solidFill>
                  <a:effectLst/>
                  <a:uFillTx/>
                  <a:latin typeface="Calibri"/>
                </a:rPr>
                <a:t>x</a:t>
              </a:r>
              <a:r>
                <a:rPr b="0" i="1" lang="en-US" sz="2800" strike="noStrike" u="none">
                  <a:solidFill>
                    <a:srgbClr val="cc0000"/>
                  </a:solidFill>
                  <a:effectLst/>
                  <a:uFillTx/>
                  <a:latin typeface="Calibri"/>
                </a:rPr>
                <a:t>(y) ← min</a:t>
              </a:r>
              <a:r>
                <a:rPr b="0" i="1" lang="en-US" sz="2800" strike="noStrike" u="none" baseline="-30000">
                  <a:solidFill>
                    <a:srgbClr val="cc0000"/>
                  </a:solidFill>
                  <a:effectLst/>
                  <a:uFillTx/>
                  <a:latin typeface="Calibri"/>
                </a:rPr>
                <a:t>v</a:t>
              </a:r>
              <a:r>
                <a:rPr b="0" i="1" lang="en-US" sz="2800" strike="noStrike" u="none">
                  <a:solidFill>
                    <a:srgbClr val="cc0000"/>
                  </a:solidFill>
                  <a:effectLst/>
                  <a:uFillTx/>
                  <a:latin typeface="Calibri"/>
                </a:rPr>
                <a:t>{c</a:t>
              </a:r>
              <a:r>
                <a:rPr b="0" i="1" lang="en-US" sz="2800" strike="noStrike" u="none" baseline="-25000">
                  <a:solidFill>
                    <a:srgbClr val="cc0000"/>
                  </a:solidFill>
                  <a:effectLst/>
                  <a:uFillTx/>
                  <a:latin typeface="Calibri"/>
                </a:rPr>
                <a:t>x,v </a:t>
              </a:r>
              <a:r>
                <a:rPr b="0" i="1" lang="en-US" sz="2800" strike="noStrike" u="none">
                  <a:solidFill>
                    <a:srgbClr val="cc0000"/>
                  </a:solidFill>
                  <a:effectLst/>
                  <a:uFillTx/>
                  <a:latin typeface="Calibri"/>
                </a:rPr>
                <a:t>+ D</a:t>
              </a:r>
              <a:r>
                <a:rPr b="0" i="1" lang="en-US" sz="2800" strike="noStrike" u="none" baseline="-30000">
                  <a:solidFill>
                    <a:srgbClr val="cc0000"/>
                  </a:solidFill>
                  <a:effectLst/>
                  <a:uFillTx/>
                  <a:latin typeface="Calibri"/>
                </a:rPr>
                <a:t>v</a:t>
              </a:r>
              <a:r>
                <a:rPr b="0" i="1" lang="en-US" sz="2800" strike="noStrike" u="none">
                  <a:solidFill>
                    <a:srgbClr val="cc0000"/>
                  </a:solidFill>
                  <a:effectLst/>
                  <a:uFillTx/>
                  <a:latin typeface="Calibri"/>
                </a:rPr>
                <a:t>(y)}  </a:t>
              </a:r>
              <a:r>
                <a:rPr b="0" lang="en-US" sz="2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for each node </a:t>
              </a:r>
              <a:r>
                <a:rPr b="0" i="1" lang="en-US" sz="2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y</a:t>
              </a:r>
              <a:r>
                <a:rPr b="0" lang="en-US" sz="2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 </a:t>
              </a:r>
              <a:r>
                <a:rPr b="0" lang="en-US" sz="2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MS Mincho"/>
                </a:rPr>
                <a:t>∊</a:t>
              </a:r>
              <a:r>
                <a:rPr b="0" lang="en-US" sz="2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MS Mincho"/>
                </a:rPr>
                <a:t> </a:t>
              </a:r>
              <a:r>
                <a:rPr b="0" i="1" lang="en-US" sz="2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MS Mincho"/>
                </a:rPr>
                <a:t>N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7" name="Rectangle 3"/>
            <p:cNvSpPr/>
            <p:nvPr/>
          </p:nvSpPr>
          <p:spPr>
            <a:xfrm>
              <a:off x="648360" y="2792160"/>
              <a:ext cx="10814760" cy="101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rmAutofit/>
            </a:bodyPr>
            <a:p>
              <a:pPr marL="460440" indent="-330120" defTabSz="914400">
                <a:lnSpc>
                  <a:spcPct val="90000"/>
                </a:lnSpc>
                <a:spcBef>
                  <a:spcPts val="1001"/>
                </a:spcBef>
                <a:buClr>
                  <a:srgbClr val="0000a3"/>
                </a:buClr>
                <a:buFont typeface="Wingdings" charset="2"/>
                <a:buChar char=""/>
              </a:pPr>
              <a:r>
                <a:rPr b="0" lang="en-US" sz="2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when </a:t>
              </a:r>
              <a:r>
                <a:rPr b="0" i="1" lang="en-US" sz="2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x</a:t>
              </a:r>
              <a:r>
                <a:rPr b="0" lang="en-US" sz="2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 receives new DV estimate from any neighbor, it updates its own DV using B-F equation: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712" dur="indefinite" restart="never" nodeType="tmRoot">
          <p:childTnLst>
            <p:seq>
              <p:cTn id="713" dur="indefinite" nodeType="mainSeq">
                <p:childTnLst>
                  <p:par>
                    <p:cTn id="714" fill="hold">
                      <p:stCondLst>
                        <p:cond delay="indefinite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id="71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18" dur="500"/>
                                        <p:tgtEl>
                                          <p:spTgt spid="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9" fill="hold">
                      <p:stCondLst>
                        <p:cond delay="indefinite"/>
                      </p:stCondLst>
                      <p:childTnLst>
                        <p:par>
                          <p:cTn id="720" fill="hold">
                            <p:stCondLst>
                              <p:cond delay="0"/>
                            </p:stCondLst>
                            <p:childTnLst>
                              <p:par>
                                <p:cTn id="72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23" dur="500"/>
                                        <p:tgtEl>
                                          <p:spTgt spid="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Distance vector algorithm:  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9" name="PlaceHolder 2"/>
          <p:cNvSpPr>
            <a:spLocks noGrp="1"/>
          </p:cNvSpPr>
          <p:nvPr>
            <p:ph type="sldNum" idx="73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30145AA3-6686-4B64-A0BF-444877F9B741}" type="slidenum"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Rectangle 3"/>
          <p:cNvSpPr/>
          <p:nvPr/>
        </p:nvSpPr>
        <p:spPr>
          <a:xfrm>
            <a:off x="6173640" y="1530360"/>
            <a:ext cx="5400000" cy="19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rgbClr val="cc0000"/>
                </a:solidFill>
                <a:effectLst/>
                <a:uFillTx/>
                <a:latin typeface="Calibri"/>
              </a:rPr>
              <a:t>iterative, asynchronous:</a:t>
            </a:r>
            <a:r>
              <a:rPr b="0" lang="en-US" sz="2800" strike="noStrike" u="none">
                <a:solidFill>
                  <a:srgbClr val="ff0000"/>
                </a:solidFill>
                <a:effectLst/>
                <a:uFillTx/>
                <a:latin typeface="Calibri"/>
              </a:rPr>
              <a:t>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each local iteration caused by: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2239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local link cost change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0440" indent="-223920" defTabSz="914400">
              <a:lnSpc>
                <a:spcPct val="90000"/>
              </a:lnSpc>
              <a:spcBef>
                <a:spcPts val="1001"/>
              </a:spcBef>
              <a:buClr>
                <a:srgbClr val="0000a3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DV update message from neighbor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1" name="Text Box 4"/>
          <p:cNvSpPr/>
          <p:nvPr/>
        </p:nvSpPr>
        <p:spPr>
          <a:xfrm>
            <a:off x="1077480" y="2097000"/>
            <a:ext cx="4621680" cy="20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</a:pPr>
            <a:r>
              <a:rPr b="0" i="1" lang="en-US" sz="2400" strike="noStrike" u="none">
                <a:solidFill>
                  <a:srgbClr val="000099"/>
                </a:solidFill>
                <a:effectLst/>
                <a:uFillTx/>
                <a:latin typeface="Calibri"/>
                <a:ea typeface="ＭＳ Ｐゴシック"/>
              </a:rPr>
              <a:t>wait</a:t>
            </a:r>
            <a:r>
              <a:rPr b="0" lang="en-US" sz="2100" strike="noStrike" u="none">
                <a:solidFill>
                  <a:srgbClr val="000099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for (change in local link cost or msg from neighbor)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Text Box 8"/>
          <p:cNvSpPr/>
          <p:nvPr/>
        </p:nvSpPr>
        <p:spPr>
          <a:xfrm>
            <a:off x="915480" y="1397520"/>
            <a:ext cx="2154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cc0000"/>
                </a:solidFill>
                <a:effectLst/>
                <a:uFillTx/>
                <a:latin typeface="Calibri"/>
                <a:ea typeface="ＭＳ Ｐゴシック"/>
              </a:rPr>
              <a:t>each node: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3" name="Rectangle 3"/>
          <p:cNvSpPr/>
          <p:nvPr/>
        </p:nvSpPr>
        <p:spPr>
          <a:xfrm>
            <a:off x="6138000" y="3549240"/>
            <a:ext cx="4936680" cy="29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52440" indent="-22212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rgbClr val="cc0000"/>
                </a:solidFill>
                <a:effectLst/>
                <a:uFillTx/>
                <a:latin typeface="Calibri"/>
              </a:rPr>
              <a:t>distributed, self-stopping: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each node notifies neighbors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only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when its DV changes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22360" indent="-23652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neighbors then notify their neighbors –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only if necessary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22360" indent="-236520" defTabSz="914400">
              <a:lnSpc>
                <a:spcPct val="90000"/>
              </a:lnSpc>
              <a:spcBef>
                <a:spcPts val="499"/>
              </a:spcBef>
              <a:buClr>
                <a:srgbClr val="0000a8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 notification received, no actions taken!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94" name="Group 2"/>
          <p:cNvGrpSpPr/>
          <p:nvPr/>
        </p:nvGrpSpPr>
        <p:grpSpPr>
          <a:xfrm>
            <a:off x="1092240" y="3294000"/>
            <a:ext cx="5308560" cy="1515240"/>
            <a:chOff x="1092240" y="3294000"/>
            <a:chExt cx="5308560" cy="1515240"/>
          </a:xfrm>
        </p:grpSpPr>
        <p:sp>
          <p:nvSpPr>
            <p:cNvPr id="1495" name="Line 5"/>
            <p:cNvSpPr/>
            <p:nvPr/>
          </p:nvSpPr>
          <p:spPr>
            <a:xfrm>
              <a:off x="3715200" y="3294000"/>
              <a:ext cx="360" cy="422640"/>
            </a:xfrm>
            <a:prstGeom prst="line">
              <a:avLst/>
            </a:prstGeom>
            <a:ln w="19050">
              <a:solidFill>
                <a:srgbClr val="000099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96" name="Text Box 4"/>
            <p:cNvSpPr/>
            <p:nvPr/>
          </p:nvSpPr>
          <p:spPr>
            <a:xfrm>
              <a:off x="1092240" y="3426840"/>
              <a:ext cx="5308560" cy="138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90000"/>
                </a:lnSpc>
              </a:pP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90000"/>
                </a:lnSpc>
              </a:pPr>
              <a:r>
                <a:rPr b="0" i="1" lang="en-US" sz="2600" strike="noStrike" u="none">
                  <a:solidFill>
                    <a:srgbClr val="000099"/>
                  </a:solidFill>
                  <a:effectLst/>
                  <a:uFillTx/>
                  <a:latin typeface="Calibri"/>
                  <a:ea typeface="ＭＳ Ｐゴシック"/>
                </a:rPr>
                <a:t>recompute</a:t>
              </a:r>
              <a:r>
                <a:rPr b="0" lang="en-US" sz="26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 DV estimates using DV received from neighbor</a:t>
              </a:r>
              <a:endPara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90000"/>
                </a:lnSpc>
              </a:pP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97" name="Group 6"/>
          <p:cNvGrpSpPr/>
          <p:nvPr/>
        </p:nvGrpSpPr>
        <p:grpSpPr>
          <a:xfrm>
            <a:off x="1054440" y="4521600"/>
            <a:ext cx="5803560" cy="1302480"/>
            <a:chOff x="1054440" y="4521600"/>
            <a:chExt cx="5803560" cy="1302480"/>
          </a:xfrm>
        </p:grpSpPr>
        <p:sp>
          <p:nvSpPr>
            <p:cNvPr id="1498" name="Line 6"/>
            <p:cNvSpPr/>
            <p:nvPr/>
          </p:nvSpPr>
          <p:spPr>
            <a:xfrm>
              <a:off x="3940560" y="4521600"/>
              <a:ext cx="360" cy="439920"/>
            </a:xfrm>
            <a:prstGeom prst="line">
              <a:avLst/>
            </a:prstGeom>
            <a:ln w="19050">
              <a:solidFill>
                <a:srgbClr val="000099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99" name="Text Box 4"/>
            <p:cNvSpPr/>
            <p:nvPr/>
          </p:nvSpPr>
          <p:spPr>
            <a:xfrm>
              <a:off x="1054440" y="4661280"/>
              <a:ext cx="5803560" cy="1162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90000"/>
                </a:lnSpc>
              </a:pP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90000"/>
                </a:lnSpc>
              </a:pPr>
              <a:r>
                <a:rPr b="0" lang="en-US" sz="2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if DV to any destination has changed, </a:t>
              </a:r>
              <a:r>
                <a:rPr b="0" i="1" lang="en-US" sz="2800" strike="noStrike" u="none">
                  <a:solidFill>
                    <a:srgbClr val="000099"/>
                  </a:solidFill>
                  <a:effectLst/>
                  <a:uFillTx/>
                  <a:latin typeface="Calibri"/>
                  <a:ea typeface="ＭＳ Ｐゴシック"/>
                </a:rPr>
                <a:t>notify</a:t>
              </a:r>
              <a:r>
                <a:rPr b="0" lang="en-US" sz="2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ＭＳ Ｐゴシック"/>
                </a:rPr>
                <a:t> neighbors 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500" name="Straight Connector 15"/>
          <p:cNvCxnSpPr/>
          <p:nvPr/>
        </p:nvCxnSpPr>
        <p:spPr>
          <a:xfrm flipV="1">
            <a:off x="3369240" y="5717880"/>
            <a:ext cx="360" cy="454680"/>
          </a:xfrm>
          <a:prstGeom prst="straightConnector1">
            <a:avLst/>
          </a:prstGeom>
          <a:ln w="19050">
            <a:solidFill>
              <a:srgbClr val="0000a8"/>
            </a:solidFill>
          </a:ln>
        </p:spPr>
      </p:cxnSp>
      <p:cxnSp>
        <p:nvCxnSpPr>
          <p:cNvPr id="1501" name="Straight Arrow Connector 19"/>
          <p:cNvCxnSpPr/>
          <p:nvPr/>
        </p:nvCxnSpPr>
        <p:spPr>
          <a:xfrm>
            <a:off x="3352680" y="2179440"/>
            <a:ext cx="360" cy="338400"/>
          </a:xfrm>
          <a:prstGeom prst="straightConnector1">
            <a:avLst/>
          </a:prstGeom>
          <a:ln w="19050">
            <a:solidFill>
              <a:srgbClr val="4472c4"/>
            </a:solidFill>
            <a:tailEnd len="med" type="triangle" w="med"/>
          </a:ln>
        </p:spPr>
      </p:cxnSp>
      <p:cxnSp>
        <p:nvCxnSpPr>
          <p:cNvPr id="1502" name="Straight Connector 26"/>
          <p:cNvCxnSpPr/>
          <p:nvPr/>
        </p:nvCxnSpPr>
        <p:spPr>
          <a:xfrm>
            <a:off x="1051920" y="6172200"/>
            <a:ext cx="2301120" cy="360"/>
          </a:xfrm>
          <a:prstGeom prst="straightConnector1">
            <a:avLst/>
          </a:prstGeom>
          <a:ln w="19050">
            <a:solidFill>
              <a:srgbClr val="4472c4"/>
            </a:solidFill>
          </a:ln>
        </p:spPr>
      </p:cxnSp>
      <p:cxnSp>
        <p:nvCxnSpPr>
          <p:cNvPr id="1503" name="Straight Connector 27"/>
          <p:cNvCxnSpPr/>
          <p:nvPr/>
        </p:nvCxnSpPr>
        <p:spPr>
          <a:xfrm>
            <a:off x="1051920" y="2178360"/>
            <a:ext cx="2301120" cy="360"/>
          </a:xfrm>
          <a:prstGeom prst="straightConnector1">
            <a:avLst/>
          </a:prstGeom>
          <a:ln w="19050">
            <a:solidFill>
              <a:srgbClr val="4472c4"/>
            </a:solidFill>
          </a:ln>
        </p:spPr>
      </p:cxnSp>
      <p:cxnSp>
        <p:nvCxnSpPr>
          <p:cNvPr id="1504" name="Straight Connector 29"/>
          <p:cNvCxnSpPr/>
          <p:nvPr/>
        </p:nvCxnSpPr>
        <p:spPr>
          <a:xfrm>
            <a:off x="1039320" y="2166840"/>
            <a:ext cx="360" cy="4005720"/>
          </a:xfrm>
          <a:prstGeom prst="straightConnector1">
            <a:avLst/>
          </a:prstGeom>
          <a:ln w="19050">
            <a:solidFill>
              <a:srgbClr val="4472c4"/>
            </a:solidFill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724" dur="indefinite" restart="never" nodeType="tmRoot">
          <p:childTnLst>
            <p:seq>
              <p:cTn id="725" dur="indefinite" nodeType="mainSeq">
                <p:childTnLst>
                  <p:par>
                    <p:cTn id="726" fill="hold">
                      <p:stCondLst>
                        <p:cond delay="indefinite"/>
                      </p:stCondLst>
                      <p:childTnLst>
                        <p:par>
                          <p:cTn id="727" fill="hold">
                            <p:stCondLst>
                              <p:cond delay="0"/>
                            </p:stCondLst>
                            <p:childTnLst>
                              <p:par>
                                <p:cTn id="72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30" dur="500"/>
                                        <p:tgtEl>
                                          <p:spTgt spid="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1" fill="hold">
                      <p:stCondLst>
                        <p:cond delay="indefinite"/>
                      </p:stCondLst>
                      <p:childTnLst>
                        <p:par>
                          <p:cTn id="732" fill="hold">
                            <p:stCondLst>
                              <p:cond delay="0"/>
                            </p:stCondLst>
                            <p:childTnLst>
                              <p:par>
                                <p:cTn id="73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35" dur="500"/>
                                        <p:tgtEl>
                                          <p:spTgt spid="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6" fill="hold">
                      <p:stCondLst>
                        <p:cond delay="indefinite"/>
                      </p:stCondLst>
                      <p:childTnLst>
                        <p:par>
                          <p:cTn id="737" fill="hold">
                            <p:stCondLst>
                              <p:cond delay="0"/>
                            </p:stCondLst>
                            <p:childTnLst>
                              <p:par>
                                <p:cTn id="73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40" dur="500"/>
                                        <p:tgtEl>
                                          <p:spTgt spid="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1" fill="hold">
                      <p:stCondLst>
                        <p:cond delay="indefinite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id="743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745" dur="500"/>
                                        <p:tgtEl>
                                          <p:spTgt spid="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6" fill="hold">
                            <p:stCondLst>
                              <p:cond delay="500"/>
                            </p:stCondLst>
                            <p:childTnLst>
                              <p:par>
                                <p:cTn id="747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749" dur="500"/>
                                        <p:tgtEl>
                                          <p:spTgt spid="1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0" fill="hold">
                            <p:stCondLst>
                              <p:cond delay="1000"/>
                            </p:stCondLst>
                            <p:childTnLst>
                              <p:par>
                                <p:cTn id="751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753" dur="500"/>
                                        <p:tgtEl>
                                          <p:spTgt spid="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57" dur="500"/>
                                        <p:tgtEl>
                                          <p:spTgt spid="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8" fill="hold">
                            <p:stCondLst>
                              <p:cond delay="2000"/>
                            </p:stCondLst>
                            <p:childTnLst>
                              <p:par>
                                <p:cTn id="759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761" dur="500"/>
                                        <p:tgtEl>
                                          <p:spTgt spid="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2" fill="hold">
                      <p:stCondLst>
                        <p:cond delay="indefinite"/>
                      </p:stCondLst>
                      <p:childTnLst>
                        <p:par>
                          <p:cTn id="763" fill="hold">
                            <p:stCondLst>
                              <p:cond delay="0"/>
                            </p:stCondLst>
                            <p:childTnLst>
                              <p:par>
                                <p:cTn id="76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66" dur="500"/>
                                        <p:tgtEl>
                                          <p:spTgt spid="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7" fill="hold">
                      <p:stCondLst>
                        <p:cond delay="indefinite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id="76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71" dur="500"/>
                                        <p:tgtEl>
                                          <p:spTgt spid="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5" name="Group 371"/>
          <p:cNvGrpSpPr/>
          <p:nvPr/>
        </p:nvGrpSpPr>
        <p:grpSpPr>
          <a:xfrm>
            <a:off x="2514600" y="1130760"/>
            <a:ext cx="1860120" cy="2893680"/>
            <a:chOff x="2514600" y="1130760"/>
            <a:chExt cx="1860120" cy="2893680"/>
          </a:xfrm>
        </p:grpSpPr>
        <p:sp>
          <p:nvSpPr>
            <p:cNvPr id="1506" name="Freeform 372"/>
            <p:cNvSpPr/>
            <p:nvPr/>
          </p:nvSpPr>
          <p:spPr>
            <a:xfrm>
              <a:off x="3831480" y="1160280"/>
              <a:ext cx="543240" cy="2388960"/>
            </a:xfrm>
            <a:custGeom>
              <a:avLst/>
              <a:gdLst>
                <a:gd name="textAreaLeft" fmla="*/ 0 w 543240"/>
                <a:gd name="textAreaRight" fmla="*/ 543600 w 543240"/>
                <a:gd name="textAreaTop" fmla="*/ 0 h 2388960"/>
                <a:gd name="textAreaBottom" fmla="*/ 2389320 h 2388960"/>
                <a:gd name="GluePoint1X" fmla="*/ 0 w 452284"/>
                <a:gd name="GluePoint1Y" fmla="*/ 0 h 2389239"/>
                <a:gd name="GluePoint2X" fmla="*/ 452284 w 452284"/>
                <a:gd name="GluePoint2Y" fmla="*/ 904568 h 2389239"/>
                <a:gd name="GluePoint3X" fmla="*/ 452284 w 452284"/>
                <a:gd name="GluePoint3Y" fmla="*/ 1052052 h 2389239"/>
                <a:gd name="GluePoint4X" fmla="*/ 9833 w 452284"/>
                <a:gd name="GluePoint4Y" fmla="*/ 2389239 h 2389239"/>
                <a:gd name="GluePoint5X" fmla="*/ 0 w 452284"/>
                <a:gd name="GluePoint5Y" fmla="*/ 0 h 238923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507" name="Group 373"/>
            <p:cNvGrpSpPr/>
            <p:nvPr/>
          </p:nvGrpSpPr>
          <p:grpSpPr>
            <a:xfrm>
              <a:off x="2514600" y="1130760"/>
              <a:ext cx="1409760" cy="2893680"/>
              <a:chOff x="2514600" y="1130760"/>
              <a:chExt cx="1409760" cy="2893680"/>
            </a:xfrm>
          </p:grpSpPr>
          <p:sp>
            <p:nvSpPr>
              <p:cNvPr id="1508" name="Rectangle 374"/>
              <p:cNvSpPr/>
              <p:nvPr/>
            </p:nvSpPr>
            <p:spPr>
              <a:xfrm>
                <a:off x="2519280" y="1130760"/>
                <a:ext cx="1335600" cy="2418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1509" name="Group 375"/>
              <p:cNvGrpSpPr/>
              <p:nvPr/>
            </p:nvGrpSpPr>
            <p:grpSpPr>
              <a:xfrm>
                <a:off x="2514600" y="1135080"/>
                <a:ext cx="1409760" cy="2889360"/>
                <a:chOff x="2514600" y="1135080"/>
                <a:chExt cx="1409760" cy="2889360"/>
              </a:xfrm>
            </p:grpSpPr>
            <p:sp>
              <p:nvSpPr>
                <p:cNvPr id="1510" name="Rectangle 376"/>
                <p:cNvSpPr/>
                <p:nvPr/>
              </p:nvSpPr>
              <p:spPr>
                <a:xfrm>
                  <a:off x="2524680" y="1139400"/>
                  <a:ext cx="134280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511" name="TextBox 377"/>
                <p:cNvSpPr/>
                <p:nvPr/>
              </p:nvSpPr>
              <p:spPr>
                <a:xfrm>
                  <a:off x="2581560" y="1135080"/>
                  <a:ext cx="1342800" cy="2889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</a:pPr>
                  <a:r>
                    <a:rPr b="0" lang="en-US" sz="2000" strike="noStrike" u="non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a: 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(a)=0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(b) = 8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1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1512" name="Straight Connector 378"/>
                <p:cNvCxnSpPr/>
                <p:nvPr/>
              </p:nvCxnSpPr>
              <p:spPr>
                <a:xfrm>
                  <a:off x="2514600" y="1509480"/>
                  <a:ext cx="135180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1513" name="Rectangle 379"/>
                <p:cNvSpPr/>
                <p:nvPr/>
              </p:nvSpPr>
              <p:spPr>
                <a:xfrm>
                  <a:off x="2517480" y="1139400"/>
                  <a:ext cx="1350000" cy="258912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sp>
        <p:nvSpPr>
          <p:cNvPr id="1514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565596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75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Distance vector example: computation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5" name="PlaceHolder 2"/>
          <p:cNvSpPr>
            <a:spLocks noGrp="1"/>
          </p:cNvSpPr>
          <p:nvPr>
            <p:ph type="sldNum" idx="74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A84E3E5D-5F25-4FE6-92A6-93C90CA067CB}" type="slidenum"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516" name="Straight Connector 81"/>
          <p:cNvCxnSpPr>
            <a:stCxn id="1517" idx="2"/>
            <a:endCxn id="1517" idx="0"/>
          </p:cNvCxnSpPr>
          <p:nvPr/>
        </p:nvCxnSpPr>
        <p:spPr>
          <a:xfrm flipV="1">
            <a:off x="6530040" y="2129040"/>
            <a:ext cx="360" cy="38631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518" name="Straight Connector 95"/>
          <p:cNvCxnSpPr>
            <a:stCxn id="1517" idx="1"/>
            <a:endCxn id="1517" idx="3"/>
          </p:cNvCxnSpPr>
          <p:nvPr/>
        </p:nvCxnSpPr>
        <p:spPr>
          <a:xfrm>
            <a:off x="4598640" y="4060440"/>
            <a:ext cx="386316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1517" name="Rectangle 75"/>
          <p:cNvSpPr/>
          <p:nvPr/>
        </p:nvSpPr>
        <p:spPr>
          <a:xfrm>
            <a:off x="4598640" y="2129040"/>
            <a:ext cx="3862800" cy="38628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9" name="Rectangle 149"/>
          <p:cNvSpPr/>
          <p:nvPr/>
        </p:nvSpPr>
        <p:spPr>
          <a:xfrm>
            <a:off x="8380440" y="2200320"/>
            <a:ext cx="132120" cy="185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520" name="Group 1033"/>
          <p:cNvGrpSpPr/>
          <p:nvPr/>
        </p:nvGrpSpPr>
        <p:grpSpPr>
          <a:xfrm>
            <a:off x="4333680" y="5772240"/>
            <a:ext cx="4395600" cy="404280"/>
            <a:chOff x="4333680" y="5772240"/>
            <a:chExt cx="4395600" cy="404280"/>
          </a:xfrm>
        </p:grpSpPr>
        <p:grpSp>
          <p:nvGrpSpPr>
            <p:cNvPr id="1521" name="Group 183"/>
            <p:cNvGrpSpPr/>
            <p:nvPr/>
          </p:nvGrpSpPr>
          <p:grpSpPr>
            <a:xfrm>
              <a:off x="4333680" y="5772240"/>
              <a:ext cx="532080" cy="368640"/>
              <a:chOff x="4333680" y="5772240"/>
              <a:chExt cx="532080" cy="368640"/>
            </a:xfrm>
          </p:grpSpPr>
          <p:grpSp>
            <p:nvGrpSpPr>
              <p:cNvPr id="1522" name="Group 204"/>
              <p:cNvGrpSpPr/>
              <p:nvPr/>
            </p:nvGrpSpPr>
            <p:grpSpPr>
              <a:xfrm>
                <a:off x="4333680" y="5842800"/>
                <a:ext cx="532080" cy="271440"/>
                <a:chOff x="4333680" y="5842800"/>
                <a:chExt cx="532080" cy="271440"/>
              </a:xfrm>
            </p:grpSpPr>
            <p:sp>
              <p:nvSpPr>
                <p:cNvPr id="1523" name="Oval 5"/>
                <p:cNvSpPr/>
                <p:nvPr/>
              </p:nvSpPr>
              <p:spPr>
                <a:xfrm>
                  <a:off x="4338720" y="5964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524" name="Line 6"/>
                <p:cNvSpPr/>
                <p:nvPr/>
              </p:nvSpPr>
              <p:spPr>
                <a:xfrm>
                  <a:off x="433872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525" name="Line 7"/>
                <p:cNvSpPr/>
                <p:nvPr/>
              </p:nvSpPr>
              <p:spPr>
                <a:xfrm>
                  <a:off x="486540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526" name="Rectangle 8"/>
                <p:cNvSpPr/>
                <p:nvPr/>
              </p:nvSpPr>
              <p:spPr>
                <a:xfrm>
                  <a:off x="4338720" y="5951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527" name="Oval 9"/>
                <p:cNvSpPr/>
                <p:nvPr/>
              </p:nvSpPr>
              <p:spPr>
                <a:xfrm>
                  <a:off x="4333680" y="5842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528" name="Group 44"/>
              <p:cNvGrpSpPr/>
              <p:nvPr/>
            </p:nvGrpSpPr>
            <p:grpSpPr>
              <a:xfrm>
                <a:off x="4429080" y="5772240"/>
                <a:ext cx="312480" cy="368640"/>
                <a:chOff x="4429080" y="5772240"/>
                <a:chExt cx="312480" cy="368640"/>
              </a:xfrm>
            </p:grpSpPr>
            <p:sp>
              <p:nvSpPr>
                <p:cNvPr id="1529" name="Rectangle 45"/>
                <p:cNvSpPr/>
                <p:nvPr/>
              </p:nvSpPr>
              <p:spPr>
                <a:xfrm>
                  <a:off x="4481280" y="5891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530" name="Text Box 46"/>
                <p:cNvSpPr/>
                <p:nvPr/>
              </p:nvSpPr>
              <p:spPr>
                <a:xfrm>
                  <a:off x="4429080" y="577224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g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31" name="Group 184"/>
            <p:cNvGrpSpPr/>
            <p:nvPr/>
          </p:nvGrpSpPr>
          <p:grpSpPr>
            <a:xfrm>
              <a:off x="6264000" y="5807880"/>
              <a:ext cx="532080" cy="368640"/>
              <a:chOff x="6264000" y="5807880"/>
              <a:chExt cx="532080" cy="368640"/>
            </a:xfrm>
          </p:grpSpPr>
          <p:grpSp>
            <p:nvGrpSpPr>
              <p:cNvPr id="1532" name="Group 195"/>
              <p:cNvGrpSpPr/>
              <p:nvPr/>
            </p:nvGrpSpPr>
            <p:grpSpPr>
              <a:xfrm>
                <a:off x="6264000" y="5850360"/>
                <a:ext cx="532080" cy="271440"/>
                <a:chOff x="6264000" y="5850360"/>
                <a:chExt cx="532080" cy="271440"/>
              </a:xfrm>
            </p:grpSpPr>
            <p:sp>
              <p:nvSpPr>
                <p:cNvPr id="1533" name="Oval 5"/>
                <p:cNvSpPr/>
                <p:nvPr/>
              </p:nvSpPr>
              <p:spPr>
                <a:xfrm>
                  <a:off x="6269040" y="59724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534" name="Line 6"/>
                <p:cNvSpPr/>
                <p:nvPr/>
              </p:nvSpPr>
              <p:spPr>
                <a:xfrm>
                  <a:off x="626868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535" name="Line 7"/>
                <p:cNvSpPr/>
                <p:nvPr/>
              </p:nvSpPr>
              <p:spPr>
                <a:xfrm>
                  <a:off x="679572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536" name="Rectangle 8"/>
                <p:cNvSpPr/>
                <p:nvPr/>
              </p:nvSpPr>
              <p:spPr>
                <a:xfrm>
                  <a:off x="6269040" y="59594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537" name="Oval 9"/>
                <p:cNvSpPr/>
                <p:nvPr/>
              </p:nvSpPr>
              <p:spPr>
                <a:xfrm>
                  <a:off x="6264000" y="58503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538" name="Group 44"/>
              <p:cNvGrpSpPr/>
              <p:nvPr/>
            </p:nvGrpSpPr>
            <p:grpSpPr>
              <a:xfrm>
                <a:off x="6359040" y="5807880"/>
                <a:ext cx="312480" cy="368640"/>
                <a:chOff x="6359040" y="5807880"/>
                <a:chExt cx="312480" cy="368640"/>
              </a:xfrm>
            </p:grpSpPr>
            <p:sp>
              <p:nvSpPr>
                <p:cNvPr id="1539" name="Rectangle 45"/>
                <p:cNvSpPr/>
                <p:nvPr/>
              </p:nvSpPr>
              <p:spPr>
                <a:xfrm>
                  <a:off x="6411600" y="58986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540" name="Text Box 46"/>
                <p:cNvSpPr/>
                <p:nvPr/>
              </p:nvSpPr>
              <p:spPr>
                <a:xfrm>
                  <a:off x="6359040" y="580788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41" name="Group 185"/>
            <p:cNvGrpSpPr/>
            <p:nvPr/>
          </p:nvGrpSpPr>
          <p:grpSpPr>
            <a:xfrm>
              <a:off x="8197200" y="5805360"/>
              <a:ext cx="532080" cy="368640"/>
              <a:chOff x="8197200" y="5805360"/>
              <a:chExt cx="532080" cy="368640"/>
            </a:xfrm>
          </p:grpSpPr>
          <p:grpSp>
            <p:nvGrpSpPr>
              <p:cNvPr id="1542" name="Group 186"/>
              <p:cNvGrpSpPr/>
              <p:nvPr/>
            </p:nvGrpSpPr>
            <p:grpSpPr>
              <a:xfrm>
                <a:off x="8197200" y="5847840"/>
                <a:ext cx="532080" cy="271440"/>
                <a:chOff x="8197200" y="5847840"/>
                <a:chExt cx="532080" cy="271440"/>
              </a:xfrm>
            </p:grpSpPr>
            <p:sp>
              <p:nvSpPr>
                <p:cNvPr id="1543" name="Oval 5"/>
                <p:cNvSpPr/>
                <p:nvPr/>
              </p:nvSpPr>
              <p:spPr>
                <a:xfrm>
                  <a:off x="8202240" y="596988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544" name="Line 6"/>
                <p:cNvSpPr/>
                <p:nvPr/>
              </p:nvSpPr>
              <p:spPr>
                <a:xfrm>
                  <a:off x="820224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545" name="Line 7"/>
                <p:cNvSpPr/>
                <p:nvPr/>
              </p:nvSpPr>
              <p:spPr>
                <a:xfrm>
                  <a:off x="872892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546" name="Rectangle 8"/>
                <p:cNvSpPr/>
                <p:nvPr/>
              </p:nvSpPr>
              <p:spPr>
                <a:xfrm>
                  <a:off x="8202240" y="595692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547" name="Oval 9"/>
                <p:cNvSpPr/>
                <p:nvPr/>
              </p:nvSpPr>
              <p:spPr>
                <a:xfrm>
                  <a:off x="8197200" y="584784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548" name="Group 44"/>
              <p:cNvGrpSpPr/>
              <p:nvPr/>
            </p:nvGrpSpPr>
            <p:grpSpPr>
              <a:xfrm>
                <a:off x="8331120" y="5805360"/>
                <a:ext cx="235080" cy="368640"/>
                <a:chOff x="8331120" y="5805360"/>
                <a:chExt cx="235080" cy="368640"/>
              </a:xfrm>
            </p:grpSpPr>
            <p:sp>
              <p:nvSpPr>
                <p:cNvPr id="1549" name="Rectangle 45"/>
                <p:cNvSpPr/>
                <p:nvPr/>
              </p:nvSpPr>
              <p:spPr>
                <a:xfrm>
                  <a:off x="8344800" y="589608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550" name="Text Box 46"/>
                <p:cNvSpPr/>
                <p:nvPr/>
              </p:nvSpPr>
              <p:spPr>
                <a:xfrm>
                  <a:off x="8331120" y="5805360"/>
                  <a:ext cx="2350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i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1551" name="TextBox 214"/>
          <p:cNvSpPr/>
          <p:nvPr/>
        </p:nvSpPr>
        <p:spPr>
          <a:xfrm>
            <a:off x="4305960" y="287064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2" name="TextBox 215"/>
          <p:cNvSpPr/>
          <p:nvPr/>
        </p:nvSpPr>
        <p:spPr>
          <a:xfrm>
            <a:off x="6217560" y="286092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3" name="TextBox 216"/>
          <p:cNvSpPr/>
          <p:nvPr/>
        </p:nvSpPr>
        <p:spPr>
          <a:xfrm>
            <a:off x="4296240" y="488628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4" name="TextBox 217"/>
          <p:cNvSpPr/>
          <p:nvPr/>
        </p:nvSpPr>
        <p:spPr>
          <a:xfrm>
            <a:off x="6230880" y="488844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5" name="TextBox 218"/>
          <p:cNvSpPr/>
          <p:nvPr/>
        </p:nvSpPr>
        <p:spPr>
          <a:xfrm>
            <a:off x="8154360" y="489024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6" name="TextBox 220"/>
          <p:cNvSpPr/>
          <p:nvPr/>
        </p:nvSpPr>
        <p:spPr>
          <a:xfrm>
            <a:off x="5442120" y="402984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7" name="TextBox 221"/>
          <p:cNvSpPr/>
          <p:nvPr/>
        </p:nvSpPr>
        <p:spPr>
          <a:xfrm>
            <a:off x="7353720" y="402012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8" name="TextBox 222"/>
          <p:cNvSpPr/>
          <p:nvPr/>
        </p:nvSpPr>
        <p:spPr>
          <a:xfrm>
            <a:off x="5443920" y="595332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9" name="TextBox 223"/>
          <p:cNvSpPr/>
          <p:nvPr/>
        </p:nvSpPr>
        <p:spPr>
          <a:xfrm>
            <a:off x="7355880" y="594360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0" name="TextBox 224"/>
          <p:cNvSpPr/>
          <p:nvPr/>
        </p:nvSpPr>
        <p:spPr>
          <a:xfrm>
            <a:off x="5445720" y="212400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1" name="TextBox 225"/>
          <p:cNvSpPr/>
          <p:nvPr/>
        </p:nvSpPr>
        <p:spPr>
          <a:xfrm>
            <a:off x="7357680" y="211428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62" name="Group 158"/>
          <p:cNvGrpSpPr/>
          <p:nvPr/>
        </p:nvGrpSpPr>
        <p:grpSpPr>
          <a:xfrm>
            <a:off x="584280" y="1068120"/>
            <a:ext cx="1375200" cy="1810800"/>
            <a:chOff x="584280" y="1068120"/>
            <a:chExt cx="1375200" cy="1810800"/>
          </a:xfrm>
        </p:grpSpPr>
        <p:sp>
          <p:nvSpPr>
            <p:cNvPr id="1563" name="TextBox 159"/>
            <p:cNvSpPr/>
            <p:nvPr/>
          </p:nvSpPr>
          <p:spPr>
            <a:xfrm>
              <a:off x="584280" y="2300760"/>
              <a:ext cx="93996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32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t=1</a:t>
              </a: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64" name="Group 160"/>
            <p:cNvGrpSpPr/>
            <p:nvPr/>
          </p:nvGrpSpPr>
          <p:grpSpPr>
            <a:xfrm>
              <a:off x="592920" y="1068120"/>
              <a:ext cx="1366560" cy="1304640"/>
              <a:chOff x="592920" y="1068120"/>
              <a:chExt cx="1366560" cy="1304640"/>
            </a:xfrm>
          </p:grpSpPr>
          <p:sp>
            <p:nvSpPr>
              <p:cNvPr id="1565" name="Oval 161"/>
              <p:cNvSpPr/>
              <p:nvPr/>
            </p:nvSpPr>
            <p:spPr>
              <a:xfrm>
                <a:off x="603000" y="1076400"/>
                <a:ext cx="1343520" cy="128268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1566" name="Straight Connector 162"/>
              <p:cNvCxnSpPr/>
              <p:nvPr/>
            </p:nvCxnSpPr>
            <p:spPr>
              <a:xfrm>
                <a:off x="1269720" y="1068120"/>
                <a:ext cx="360" cy="115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567" name="Straight Connector 163"/>
              <p:cNvCxnSpPr/>
              <p:nvPr/>
            </p:nvCxnSpPr>
            <p:spPr>
              <a:xfrm>
                <a:off x="1269720" y="2257560"/>
                <a:ext cx="360" cy="1155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568" name="Straight Connector 164"/>
              <p:cNvCxnSpPr/>
              <p:nvPr/>
            </p:nvCxnSpPr>
            <p:spPr>
              <a:xfrm>
                <a:off x="592920" y="1720440"/>
                <a:ext cx="12060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569" name="Straight Connector 165"/>
              <p:cNvCxnSpPr/>
              <p:nvPr/>
            </p:nvCxnSpPr>
            <p:spPr>
              <a:xfrm>
                <a:off x="1838160" y="1720440"/>
                <a:ext cx="12168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570" name="Straight Connector 166"/>
              <p:cNvCxnSpPr/>
              <p:nvPr/>
            </p:nvCxnSpPr>
            <p:spPr>
              <a:xfrm>
                <a:off x="1571760" y="2200320"/>
                <a:ext cx="54360" cy="820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571" name="Straight Connector 167"/>
              <p:cNvCxnSpPr/>
              <p:nvPr/>
            </p:nvCxnSpPr>
            <p:spPr>
              <a:xfrm>
                <a:off x="929520" y="1156320"/>
                <a:ext cx="54360" cy="820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572" name="Straight Connector 168"/>
              <p:cNvCxnSpPr/>
              <p:nvPr/>
            </p:nvCxnSpPr>
            <p:spPr>
              <a:xfrm flipH="1">
                <a:off x="916560" y="2194200"/>
                <a:ext cx="54360" cy="820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573" name="Straight Connector 169"/>
              <p:cNvCxnSpPr/>
              <p:nvPr/>
            </p:nvCxnSpPr>
            <p:spPr>
              <a:xfrm flipH="1">
                <a:off x="1558800" y="1150200"/>
                <a:ext cx="54360" cy="820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574" name="Straight Connector 170"/>
              <p:cNvCxnSpPr/>
              <p:nvPr/>
            </p:nvCxnSpPr>
            <p:spPr>
              <a:xfrm flipH="1">
                <a:off x="1787760" y="1386720"/>
                <a:ext cx="73080" cy="52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575" name="Straight Connector 171"/>
              <p:cNvCxnSpPr/>
              <p:nvPr/>
            </p:nvCxnSpPr>
            <p:spPr>
              <a:xfrm flipH="1">
                <a:off x="694440" y="1993680"/>
                <a:ext cx="73080" cy="518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576" name="Straight Connector 172"/>
              <p:cNvCxnSpPr/>
              <p:nvPr/>
            </p:nvCxnSpPr>
            <p:spPr>
              <a:xfrm flipH="1" flipV="1">
                <a:off x="713160" y="1392840"/>
                <a:ext cx="74160" cy="52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577" name="Straight Connector 173"/>
              <p:cNvCxnSpPr/>
              <p:nvPr/>
            </p:nvCxnSpPr>
            <p:spPr>
              <a:xfrm flipH="1" flipV="1">
                <a:off x="1787760" y="2000160"/>
                <a:ext cx="73080" cy="518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sp>
            <p:nvSpPr>
              <p:cNvPr id="1578" name="Oval 174"/>
              <p:cNvSpPr/>
              <p:nvPr/>
            </p:nvSpPr>
            <p:spPr>
              <a:xfrm>
                <a:off x="1187640" y="1638720"/>
                <a:ext cx="164160" cy="1659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cxnSp>
        <p:nvCxnSpPr>
          <p:cNvPr id="1579" name="Straight Connector 152"/>
          <p:cNvCxnSpPr/>
          <p:nvPr/>
        </p:nvCxnSpPr>
        <p:spPr>
          <a:xfrm>
            <a:off x="919440" y="1995840"/>
            <a:ext cx="360" cy="196200"/>
          </a:xfrm>
          <a:prstGeom prst="straightConnector1">
            <a:avLst/>
          </a:prstGeom>
          <a:ln w="25400">
            <a:solidFill>
              <a:srgbClr val="c00000"/>
            </a:solidFill>
          </a:ln>
        </p:spPr>
      </p:cxnSp>
      <p:sp>
        <p:nvSpPr>
          <p:cNvPr id="1580" name="Rectangle 153"/>
          <p:cNvSpPr/>
          <p:nvPr/>
        </p:nvSpPr>
        <p:spPr>
          <a:xfrm>
            <a:off x="6626880" y="275400"/>
            <a:ext cx="3037680" cy="628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581" name="Group 240"/>
          <p:cNvGrpSpPr/>
          <p:nvPr/>
        </p:nvGrpSpPr>
        <p:grpSpPr>
          <a:xfrm>
            <a:off x="6400800" y="199800"/>
            <a:ext cx="2971800" cy="1917360"/>
            <a:chOff x="6400800" y="199800"/>
            <a:chExt cx="2971800" cy="1917360"/>
          </a:xfrm>
        </p:grpSpPr>
        <p:sp>
          <p:nvSpPr>
            <p:cNvPr id="1582" name="Freeform 241"/>
            <p:cNvSpPr/>
            <p:nvPr/>
          </p:nvSpPr>
          <p:spPr>
            <a:xfrm>
              <a:off x="6400800" y="268920"/>
              <a:ext cx="2789280" cy="1848240"/>
            </a:xfrm>
            <a:custGeom>
              <a:avLst/>
              <a:gdLst>
                <a:gd name="textAreaLeft" fmla="*/ 0 w 2789280"/>
                <a:gd name="textAreaRight" fmla="*/ 2789640 w 2789280"/>
                <a:gd name="textAreaTop" fmla="*/ 0 h 1848240"/>
                <a:gd name="textAreaBottom" fmla="*/ 1848600 h 1848240"/>
                <a:gd name="GluePoint1X" fmla="*/ 0 w 2340077"/>
                <a:gd name="GluePoint1Y" fmla="*/ 1691148 h 1848464"/>
                <a:gd name="GluePoint2X" fmla="*/ 383458 w 2340077"/>
                <a:gd name="GluePoint2Y" fmla="*/ 0 h 1848464"/>
                <a:gd name="GluePoint3X" fmla="*/ 2340077 w 2340077"/>
                <a:gd name="GluePoint3Y" fmla="*/ 1386348 h 1848464"/>
                <a:gd name="GluePoint4X" fmla="*/ 137651 w 2340077"/>
                <a:gd name="GluePoint4Y" fmla="*/ 1848464 h 1848464"/>
                <a:gd name="GluePoint5X" fmla="*/ 0 w 2340077"/>
                <a:gd name="GluePoint5Y" fmla="*/ 1691148 h 18484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583" name="Group 242"/>
            <p:cNvGrpSpPr/>
            <p:nvPr/>
          </p:nvGrpSpPr>
          <p:grpSpPr>
            <a:xfrm>
              <a:off x="6774480" y="199800"/>
              <a:ext cx="2598120" cy="1540080"/>
              <a:chOff x="6774480" y="199800"/>
              <a:chExt cx="2598120" cy="1540080"/>
            </a:xfrm>
          </p:grpSpPr>
          <p:sp>
            <p:nvSpPr>
              <p:cNvPr id="1584" name="Rectangle 243"/>
              <p:cNvSpPr/>
              <p:nvPr/>
            </p:nvSpPr>
            <p:spPr>
              <a:xfrm>
                <a:off x="6881400" y="199800"/>
                <a:ext cx="2308680" cy="1435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1585" name="Group 244"/>
              <p:cNvGrpSpPr/>
              <p:nvPr/>
            </p:nvGrpSpPr>
            <p:grpSpPr>
              <a:xfrm>
                <a:off x="6774480" y="212760"/>
                <a:ext cx="2598120" cy="1527120"/>
                <a:chOff x="6774480" y="212760"/>
                <a:chExt cx="2598120" cy="1527120"/>
              </a:xfrm>
            </p:grpSpPr>
            <p:sp>
              <p:nvSpPr>
                <p:cNvPr id="1586" name="Rectangle 245"/>
                <p:cNvSpPr/>
                <p:nvPr/>
              </p:nvSpPr>
              <p:spPr>
                <a:xfrm>
                  <a:off x="6877440" y="216720"/>
                  <a:ext cx="231264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587" name="TextBox 246"/>
                <p:cNvSpPr/>
                <p:nvPr/>
              </p:nvSpPr>
              <p:spPr>
                <a:xfrm>
                  <a:off x="7342200" y="212760"/>
                  <a:ext cx="133128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b="0" lang="en-US" sz="2000" strike="noStrike" u="non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b:</a:t>
                  </a: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1588" name="Straight Connector 247"/>
                <p:cNvCxnSpPr/>
                <p:nvPr/>
              </p:nvCxnSpPr>
              <p:spPr>
                <a:xfrm>
                  <a:off x="6867000" y="586800"/>
                  <a:ext cx="134100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1589" name="Rectangle 248"/>
                <p:cNvSpPr/>
                <p:nvPr/>
              </p:nvSpPr>
              <p:spPr>
                <a:xfrm>
                  <a:off x="6870240" y="216720"/>
                  <a:ext cx="2308320" cy="142812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590" name="TextBox 249"/>
                <p:cNvSpPr/>
                <p:nvPr/>
              </p:nvSpPr>
              <p:spPr>
                <a:xfrm>
                  <a:off x="8048520" y="652320"/>
                  <a:ext cx="1324080" cy="1087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1" name="TextBox 250"/>
                <p:cNvSpPr/>
                <p:nvPr/>
              </p:nvSpPr>
              <p:spPr>
                <a:xfrm>
                  <a:off x="6774480" y="649080"/>
                  <a:ext cx="1331280" cy="1088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 = 8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1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1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1592" name="TextBox 280"/>
          <p:cNvSpPr/>
          <p:nvPr/>
        </p:nvSpPr>
        <p:spPr>
          <a:xfrm flipH="1">
            <a:off x="348480" y="3079080"/>
            <a:ext cx="219528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9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 receives DVs from a, c, 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3" name="Right Arrow 344"/>
          <p:cNvSpPr/>
          <p:nvPr/>
        </p:nvSpPr>
        <p:spPr>
          <a:xfrm rot="16200000">
            <a:off x="6346800" y="340740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4" name="Right Arrow 355"/>
          <p:cNvSpPr/>
          <p:nvPr/>
        </p:nvSpPr>
        <p:spPr>
          <a:xfrm>
            <a:off x="4973400" y="19378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5" name="Right Arrow 356"/>
          <p:cNvSpPr/>
          <p:nvPr/>
        </p:nvSpPr>
        <p:spPr>
          <a:xfrm rot="10800000">
            <a:off x="7632000" y="192024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596" name="Group 313"/>
          <p:cNvGrpSpPr/>
          <p:nvPr/>
        </p:nvGrpSpPr>
        <p:grpSpPr>
          <a:xfrm>
            <a:off x="4333680" y="1906200"/>
            <a:ext cx="4395600" cy="403920"/>
            <a:chOff x="4333680" y="1906200"/>
            <a:chExt cx="4395600" cy="403920"/>
          </a:xfrm>
        </p:grpSpPr>
        <p:grpSp>
          <p:nvGrpSpPr>
            <p:cNvPr id="1597" name="Group 314"/>
            <p:cNvGrpSpPr/>
            <p:nvPr/>
          </p:nvGrpSpPr>
          <p:grpSpPr>
            <a:xfrm>
              <a:off x="4333680" y="1906200"/>
              <a:ext cx="532080" cy="368640"/>
              <a:chOff x="4333680" y="1906200"/>
              <a:chExt cx="532080" cy="368640"/>
            </a:xfrm>
          </p:grpSpPr>
          <p:grpSp>
            <p:nvGrpSpPr>
              <p:cNvPr id="1598" name="Group 335"/>
              <p:cNvGrpSpPr/>
              <p:nvPr/>
            </p:nvGrpSpPr>
            <p:grpSpPr>
              <a:xfrm>
                <a:off x="4333680" y="1976760"/>
                <a:ext cx="532080" cy="271440"/>
                <a:chOff x="4333680" y="1976760"/>
                <a:chExt cx="532080" cy="271440"/>
              </a:xfrm>
            </p:grpSpPr>
            <p:sp>
              <p:nvSpPr>
                <p:cNvPr id="1599" name="Oval 5"/>
                <p:cNvSpPr/>
                <p:nvPr/>
              </p:nvSpPr>
              <p:spPr>
                <a:xfrm>
                  <a:off x="4338720" y="20988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00" name="Line 6"/>
                <p:cNvSpPr/>
                <p:nvPr/>
              </p:nvSpPr>
              <p:spPr>
                <a:xfrm>
                  <a:off x="433872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01" name="Line 7"/>
                <p:cNvSpPr/>
                <p:nvPr/>
              </p:nvSpPr>
              <p:spPr>
                <a:xfrm>
                  <a:off x="486540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02" name="Rectangle 8"/>
                <p:cNvSpPr/>
                <p:nvPr/>
              </p:nvSpPr>
              <p:spPr>
                <a:xfrm>
                  <a:off x="4338720" y="20858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03" name="Oval 9"/>
                <p:cNvSpPr/>
                <p:nvPr/>
              </p:nvSpPr>
              <p:spPr>
                <a:xfrm>
                  <a:off x="4333680" y="1976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604" name="Group 44"/>
              <p:cNvGrpSpPr/>
              <p:nvPr/>
            </p:nvGrpSpPr>
            <p:grpSpPr>
              <a:xfrm>
                <a:off x="4429080" y="1906200"/>
                <a:ext cx="312480" cy="368640"/>
                <a:chOff x="4429080" y="1906200"/>
                <a:chExt cx="312480" cy="368640"/>
              </a:xfrm>
            </p:grpSpPr>
            <p:sp>
              <p:nvSpPr>
                <p:cNvPr id="1605" name="Rectangle 45"/>
                <p:cNvSpPr/>
                <p:nvPr/>
              </p:nvSpPr>
              <p:spPr>
                <a:xfrm>
                  <a:off x="4481280" y="2025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06" name="Text Box 46"/>
                <p:cNvSpPr/>
                <p:nvPr/>
              </p:nvSpPr>
              <p:spPr>
                <a:xfrm>
                  <a:off x="4429080" y="190620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607" name="Group 315"/>
            <p:cNvGrpSpPr/>
            <p:nvPr/>
          </p:nvGrpSpPr>
          <p:grpSpPr>
            <a:xfrm>
              <a:off x="6264000" y="1941480"/>
              <a:ext cx="532080" cy="368640"/>
              <a:chOff x="6264000" y="1941480"/>
              <a:chExt cx="532080" cy="368640"/>
            </a:xfrm>
          </p:grpSpPr>
          <p:grpSp>
            <p:nvGrpSpPr>
              <p:cNvPr id="1608" name="Group 326"/>
              <p:cNvGrpSpPr/>
              <p:nvPr/>
            </p:nvGrpSpPr>
            <p:grpSpPr>
              <a:xfrm>
                <a:off x="6264000" y="1984320"/>
                <a:ext cx="532080" cy="271440"/>
                <a:chOff x="6264000" y="1984320"/>
                <a:chExt cx="532080" cy="271440"/>
              </a:xfrm>
            </p:grpSpPr>
            <p:sp>
              <p:nvSpPr>
                <p:cNvPr id="1609" name="Oval 5"/>
                <p:cNvSpPr/>
                <p:nvPr/>
              </p:nvSpPr>
              <p:spPr>
                <a:xfrm>
                  <a:off x="6269040" y="21063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10" name="Line 6"/>
                <p:cNvSpPr/>
                <p:nvPr/>
              </p:nvSpPr>
              <p:spPr>
                <a:xfrm>
                  <a:off x="626868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11" name="Line 7"/>
                <p:cNvSpPr/>
                <p:nvPr/>
              </p:nvSpPr>
              <p:spPr>
                <a:xfrm>
                  <a:off x="679572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12" name="Rectangle 8"/>
                <p:cNvSpPr/>
                <p:nvPr/>
              </p:nvSpPr>
              <p:spPr>
                <a:xfrm>
                  <a:off x="6269040" y="20934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13" name="Oval 9"/>
                <p:cNvSpPr/>
                <p:nvPr/>
              </p:nvSpPr>
              <p:spPr>
                <a:xfrm>
                  <a:off x="6264000" y="198432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614" name="Group 44"/>
              <p:cNvGrpSpPr/>
              <p:nvPr/>
            </p:nvGrpSpPr>
            <p:grpSpPr>
              <a:xfrm>
                <a:off x="6359040" y="1941480"/>
                <a:ext cx="312480" cy="368640"/>
                <a:chOff x="6359040" y="1941480"/>
                <a:chExt cx="312480" cy="368640"/>
              </a:xfrm>
            </p:grpSpPr>
            <p:sp>
              <p:nvSpPr>
                <p:cNvPr id="1615" name="Rectangle 45"/>
                <p:cNvSpPr/>
                <p:nvPr/>
              </p:nvSpPr>
              <p:spPr>
                <a:xfrm>
                  <a:off x="6411600" y="203256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16" name="Text Box 46"/>
                <p:cNvSpPr/>
                <p:nvPr/>
              </p:nvSpPr>
              <p:spPr>
                <a:xfrm>
                  <a:off x="6359040" y="194148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b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617" name="Group 316"/>
            <p:cNvGrpSpPr/>
            <p:nvPr/>
          </p:nvGrpSpPr>
          <p:grpSpPr>
            <a:xfrm>
              <a:off x="8197200" y="1938960"/>
              <a:ext cx="532080" cy="368640"/>
              <a:chOff x="8197200" y="1938960"/>
              <a:chExt cx="532080" cy="368640"/>
            </a:xfrm>
          </p:grpSpPr>
          <p:grpSp>
            <p:nvGrpSpPr>
              <p:cNvPr id="1618" name="Group 317"/>
              <p:cNvGrpSpPr/>
              <p:nvPr/>
            </p:nvGrpSpPr>
            <p:grpSpPr>
              <a:xfrm>
                <a:off x="8197200" y="1981800"/>
                <a:ext cx="532080" cy="271440"/>
                <a:chOff x="8197200" y="1981800"/>
                <a:chExt cx="532080" cy="271440"/>
              </a:xfrm>
            </p:grpSpPr>
            <p:sp>
              <p:nvSpPr>
                <p:cNvPr id="1619" name="Oval 5"/>
                <p:cNvSpPr/>
                <p:nvPr/>
              </p:nvSpPr>
              <p:spPr>
                <a:xfrm>
                  <a:off x="8202240" y="2103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20" name="Line 6"/>
                <p:cNvSpPr/>
                <p:nvPr/>
              </p:nvSpPr>
              <p:spPr>
                <a:xfrm>
                  <a:off x="820224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21" name="Line 7"/>
                <p:cNvSpPr/>
                <p:nvPr/>
              </p:nvSpPr>
              <p:spPr>
                <a:xfrm>
                  <a:off x="872892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22" name="Rectangle 8"/>
                <p:cNvSpPr/>
                <p:nvPr/>
              </p:nvSpPr>
              <p:spPr>
                <a:xfrm>
                  <a:off x="8202240" y="2090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23" name="Oval 9"/>
                <p:cNvSpPr/>
                <p:nvPr/>
              </p:nvSpPr>
              <p:spPr>
                <a:xfrm>
                  <a:off x="8197200" y="1981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624" name="Group 44"/>
              <p:cNvGrpSpPr/>
              <p:nvPr/>
            </p:nvGrpSpPr>
            <p:grpSpPr>
              <a:xfrm>
                <a:off x="8299440" y="1938960"/>
                <a:ext cx="299880" cy="368640"/>
                <a:chOff x="8299440" y="1938960"/>
                <a:chExt cx="299880" cy="368640"/>
              </a:xfrm>
            </p:grpSpPr>
            <p:sp>
              <p:nvSpPr>
                <p:cNvPr id="1625" name="Rectangle 45"/>
                <p:cNvSpPr/>
                <p:nvPr/>
              </p:nvSpPr>
              <p:spPr>
                <a:xfrm>
                  <a:off x="8344800" y="2030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26" name="Text Box 46"/>
                <p:cNvSpPr/>
                <p:nvPr/>
              </p:nvSpPr>
              <p:spPr>
                <a:xfrm>
                  <a:off x="8299440" y="1938960"/>
                  <a:ext cx="2998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1627" name="Group 282"/>
          <p:cNvGrpSpPr/>
          <p:nvPr/>
        </p:nvGrpSpPr>
        <p:grpSpPr>
          <a:xfrm>
            <a:off x="4336560" y="3833640"/>
            <a:ext cx="4395600" cy="404280"/>
            <a:chOff x="4336560" y="3833640"/>
            <a:chExt cx="4395600" cy="404280"/>
          </a:xfrm>
        </p:grpSpPr>
        <p:grpSp>
          <p:nvGrpSpPr>
            <p:cNvPr id="1628" name="Group 283"/>
            <p:cNvGrpSpPr/>
            <p:nvPr/>
          </p:nvGrpSpPr>
          <p:grpSpPr>
            <a:xfrm>
              <a:off x="4336560" y="3833640"/>
              <a:ext cx="531720" cy="368640"/>
              <a:chOff x="4336560" y="3833640"/>
              <a:chExt cx="531720" cy="368640"/>
            </a:xfrm>
          </p:grpSpPr>
          <p:grpSp>
            <p:nvGrpSpPr>
              <p:cNvPr id="1629" name="Group 304"/>
              <p:cNvGrpSpPr/>
              <p:nvPr/>
            </p:nvGrpSpPr>
            <p:grpSpPr>
              <a:xfrm>
                <a:off x="4336560" y="3904200"/>
                <a:ext cx="531720" cy="271800"/>
                <a:chOff x="4336560" y="3904200"/>
                <a:chExt cx="531720" cy="271800"/>
              </a:xfrm>
            </p:grpSpPr>
            <p:sp>
              <p:nvSpPr>
                <p:cNvPr id="1630" name="Oval 5"/>
                <p:cNvSpPr/>
                <p:nvPr/>
              </p:nvSpPr>
              <p:spPr>
                <a:xfrm>
                  <a:off x="4341600" y="40266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31" name="Line 6"/>
                <p:cNvSpPr/>
                <p:nvPr/>
              </p:nvSpPr>
              <p:spPr>
                <a:xfrm>
                  <a:off x="434124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32" name="Line 7"/>
                <p:cNvSpPr/>
                <p:nvPr/>
              </p:nvSpPr>
              <p:spPr>
                <a:xfrm>
                  <a:off x="486792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33" name="Rectangle 8"/>
                <p:cNvSpPr/>
                <p:nvPr/>
              </p:nvSpPr>
              <p:spPr>
                <a:xfrm>
                  <a:off x="4341600" y="40136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34" name="Oval 9"/>
                <p:cNvSpPr/>
                <p:nvPr/>
              </p:nvSpPr>
              <p:spPr>
                <a:xfrm>
                  <a:off x="4336560" y="39042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635" name="Group 44"/>
              <p:cNvGrpSpPr/>
              <p:nvPr/>
            </p:nvGrpSpPr>
            <p:grpSpPr>
              <a:xfrm>
                <a:off x="4431600" y="3833640"/>
                <a:ext cx="312480" cy="368640"/>
                <a:chOff x="4431600" y="3833640"/>
                <a:chExt cx="312480" cy="368640"/>
              </a:xfrm>
            </p:grpSpPr>
            <p:sp>
              <p:nvSpPr>
                <p:cNvPr id="1636" name="Rectangle 45"/>
                <p:cNvSpPr/>
                <p:nvPr/>
              </p:nvSpPr>
              <p:spPr>
                <a:xfrm>
                  <a:off x="4483800" y="39524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37" name="Text Box 46"/>
                <p:cNvSpPr/>
                <p:nvPr/>
              </p:nvSpPr>
              <p:spPr>
                <a:xfrm>
                  <a:off x="4431600" y="383364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638" name="Group 284"/>
            <p:cNvGrpSpPr/>
            <p:nvPr/>
          </p:nvGrpSpPr>
          <p:grpSpPr>
            <a:xfrm>
              <a:off x="6266520" y="3869280"/>
              <a:ext cx="532080" cy="368640"/>
              <a:chOff x="6266520" y="3869280"/>
              <a:chExt cx="532080" cy="368640"/>
            </a:xfrm>
          </p:grpSpPr>
          <p:grpSp>
            <p:nvGrpSpPr>
              <p:cNvPr id="1639" name="Group 295"/>
              <p:cNvGrpSpPr/>
              <p:nvPr/>
            </p:nvGrpSpPr>
            <p:grpSpPr>
              <a:xfrm>
                <a:off x="6266520" y="3911760"/>
                <a:ext cx="532080" cy="271800"/>
                <a:chOff x="6266520" y="3911760"/>
                <a:chExt cx="532080" cy="271800"/>
              </a:xfrm>
            </p:grpSpPr>
            <p:sp>
              <p:nvSpPr>
                <p:cNvPr id="1640" name="Oval 5"/>
                <p:cNvSpPr/>
                <p:nvPr/>
              </p:nvSpPr>
              <p:spPr>
                <a:xfrm>
                  <a:off x="6271560" y="40341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41" name="Line 6"/>
                <p:cNvSpPr/>
                <p:nvPr/>
              </p:nvSpPr>
              <p:spPr>
                <a:xfrm>
                  <a:off x="627156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42" name="Line 7"/>
                <p:cNvSpPr/>
                <p:nvPr/>
              </p:nvSpPr>
              <p:spPr>
                <a:xfrm>
                  <a:off x="679824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43" name="Rectangle 8"/>
                <p:cNvSpPr/>
                <p:nvPr/>
              </p:nvSpPr>
              <p:spPr>
                <a:xfrm>
                  <a:off x="6271560" y="40212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44" name="Oval 9"/>
                <p:cNvSpPr/>
                <p:nvPr/>
              </p:nvSpPr>
              <p:spPr>
                <a:xfrm>
                  <a:off x="6266520" y="3911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645" name="Group 44"/>
              <p:cNvGrpSpPr/>
              <p:nvPr/>
            </p:nvGrpSpPr>
            <p:grpSpPr>
              <a:xfrm>
                <a:off x="6361920" y="3869280"/>
                <a:ext cx="312480" cy="368640"/>
                <a:chOff x="6361920" y="3869280"/>
                <a:chExt cx="312480" cy="368640"/>
              </a:xfrm>
            </p:grpSpPr>
            <p:sp>
              <p:nvSpPr>
                <p:cNvPr id="1646" name="Rectangle 45"/>
                <p:cNvSpPr/>
                <p:nvPr/>
              </p:nvSpPr>
              <p:spPr>
                <a:xfrm>
                  <a:off x="6414120" y="3960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47" name="Text Box 46"/>
                <p:cNvSpPr/>
                <p:nvPr/>
              </p:nvSpPr>
              <p:spPr>
                <a:xfrm>
                  <a:off x="6361920" y="386928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e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648" name="Group 285"/>
            <p:cNvGrpSpPr/>
            <p:nvPr/>
          </p:nvGrpSpPr>
          <p:grpSpPr>
            <a:xfrm>
              <a:off x="8200080" y="3866760"/>
              <a:ext cx="532080" cy="368640"/>
              <a:chOff x="8200080" y="3866760"/>
              <a:chExt cx="532080" cy="368640"/>
            </a:xfrm>
          </p:grpSpPr>
          <p:grpSp>
            <p:nvGrpSpPr>
              <p:cNvPr id="1649" name="Group 286"/>
              <p:cNvGrpSpPr/>
              <p:nvPr/>
            </p:nvGrpSpPr>
            <p:grpSpPr>
              <a:xfrm>
                <a:off x="8200080" y="3909600"/>
                <a:ext cx="532080" cy="271440"/>
                <a:chOff x="8200080" y="3909600"/>
                <a:chExt cx="532080" cy="271440"/>
              </a:xfrm>
            </p:grpSpPr>
            <p:sp>
              <p:nvSpPr>
                <p:cNvPr id="1650" name="Oval 5"/>
                <p:cNvSpPr/>
                <p:nvPr/>
              </p:nvSpPr>
              <p:spPr>
                <a:xfrm>
                  <a:off x="8205120" y="40316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51" name="Line 6"/>
                <p:cNvSpPr/>
                <p:nvPr/>
              </p:nvSpPr>
              <p:spPr>
                <a:xfrm>
                  <a:off x="820476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52" name="Line 7"/>
                <p:cNvSpPr/>
                <p:nvPr/>
              </p:nvSpPr>
              <p:spPr>
                <a:xfrm>
                  <a:off x="873180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53" name="Rectangle 8"/>
                <p:cNvSpPr/>
                <p:nvPr/>
              </p:nvSpPr>
              <p:spPr>
                <a:xfrm>
                  <a:off x="8205120" y="40186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54" name="Oval 9"/>
                <p:cNvSpPr/>
                <p:nvPr/>
              </p:nvSpPr>
              <p:spPr>
                <a:xfrm>
                  <a:off x="8200080" y="39096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655" name="Group 44"/>
              <p:cNvGrpSpPr/>
              <p:nvPr/>
            </p:nvGrpSpPr>
            <p:grpSpPr>
              <a:xfrm>
                <a:off x="8326800" y="3866760"/>
                <a:ext cx="249120" cy="368640"/>
                <a:chOff x="8326800" y="3866760"/>
                <a:chExt cx="249120" cy="368640"/>
              </a:xfrm>
            </p:grpSpPr>
            <p:sp>
              <p:nvSpPr>
                <p:cNvPr id="1656" name="Rectangle 45"/>
                <p:cNvSpPr/>
                <p:nvPr/>
              </p:nvSpPr>
              <p:spPr>
                <a:xfrm>
                  <a:off x="8347680" y="39578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657" name="Text Box 46"/>
                <p:cNvSpPr/>
                <p:nvPr/>
              </p:nvSpPr>
              <p:spPr>
                <a:xfrm>
                  <a:off x="8326800" y="3866760"/>
                  <a:ext cx="24912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1658" name="Group 3"/>
          <p:cNvGrpSpPr/>
          <p:nvPr/>
        </p:nvGrpSpPr>
        <p:grpSpPr>
          <a:xfrm>
            <a:off x="8740800" y="219960"/>
            <a:ext cx="2689200" cy="2940120"/>
            <a:chOff x="8740800" y="219960"/>
            <a:chExt cx="2689200" cy="2940120"/>
          </a:xfrm>
        </p:grpSpPr>
        <p:sp>
          <p:nvSpPr>
            <p:cNvPr id="1659" name="Freeform 233"/>
            <p:cNvSpPr/>
            <p:nvPr/>
          </p:nvSpPr>
          <p:spPr>
            <a:xfrm>
              <a:off x="8740800" y="246960"/>
              <a:ext cx="1215000" cy="2428200"/>
            </a:xfrm>
            <a:custGeom>
              <a:avLst/>
              <a:gdLst>
                <a:gd name="textAreaLeft" fmla="*/ 0 w 1215000"/>
                <a:gd name="textAreaRight" fmla="*/ 1215360 w 1215000"/>
                <a:gd name="textAreaTop" fmla="*/ 0 h 2428200"/>
                <a:gd name="textAreaBottom" fmla="*/ 2428560 h 2428200"/>
                <a:gd name="GluePoint1X" fmla="*/ 1 w 1170039"/>
                <a:gd name="GluePoint1Y" fmla="*/ 1809135 h 2428567"/>
                <a:gd name="GluePoint2X" fmla="*/ 1160207 w 1170039"/>
                <a:gd name="GluePoint2Y" fmla="*/ 0 h 2428567"/>
                <a:gd name="GluePoint3X" fmla="*/ 1170039 w 1170039"/>
                <a:gd name="GluePoint3Y" fmla="*/ 2428567 h 2428567"/>
                <a:gd name="GluePoint4X" fmla="*/ 0 w 1170039"/>
                <a:gd name="GluePoint4Y" fmla="*/ 1946786 h 2428567"/>
                <a:gd name="GluePoint5X" fmla="*/ 1 w 1170039"/>
                <a:gd name="GluePoint5Y" fmla="*/ 1809135 h 24285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660" name="Group 357"/>
            <p:cNvGrpSpPr/>
            <p:nvPr/>
          </p:nvGrpSpPr>
          <p:grpSpPr>
            <a:xfrm>
              <a:off x="9918720" y="219960"/>
              <a:ext cx="1511280" cy="2940120"/>
              <a:chOff x="9918720" y="219960"/>
              <a:chExt cx="1511280" cy="2940120"/>
            </a:xfrm>
          </p:grpSpPr>
          <p:sp>
            <p:nvSpPr>
              <p:cNvPr id="1661" name="Rectangle 358"/>
              <p:cNvSpPr/>
              <p:nvPr/>
            </p:nvSpPr>
            <p:spPr>
              <a:xfrm>
                <a:off x="9943200" y="219960"/>
                <a:ext cx="1486800" cy="24256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1662" name="Group 359"/>
              <p:cNvGrpSpPr/>
              <p:nvPr/>
            </p:nvGrpSpPr>
            <p:grpSpPr>
              <a:xfrm>
                <a:off x="9918720" y="219960"/>
                <a:ext cx="1486080" cy="2940120"/>
                <a:chOff x="9918720" y="219960"/>
                <a:chExt cx="1486080" cy="2940120"/>
              </a:xfrm>
            </p:grpSpPr>
            <p:sp>
              <p:nvSpPr>
                <p:cNvPr id="1663" name="Rectangle 360"/>
                <p:cNvSpPr/>
                <p:nvPr/>
              </p:nvSpPr>
              <p:spPr>
                <a:xfrm>
                  <a:off x="9936360" y="223920"/>
                  <a:ext cx="146844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664" name="TextBox 361"/>
                <p:cNvSpPr/>
                <p:nvPr/>
              </p:nvSpPr>
              <p:spPr>
                <a:xfrm>
                  <a:off x="9918720" y="219960"/>
                  <a:ext cx="1430280" cy="2940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b="0" lang="en-US" sz="2000" strike="noStrike" u="non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c:</a:t>
                  </a: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 =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(b) = 1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 0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1665" name="Straight Connector 362"/>
                <p:cNvCxnSpPr/>
                <p:nvPr/>
              </p:nvCxnSpPr>
              <p:spPr>
                <a:xfrm>
                  <a:off x="9925200" y="594360"/>
                  <a:ext cx="147852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1666" name="Rectangle 363"/>
                <p:cNvSpPr/>
                <p:nvPr/>
              </p:nvSpPr>
              <p:spPr>
                <a:xfrm>
                  <a:off x="9928800" y="223920"/>
                  <a:ext cx="1476000" cy="262044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sp>
        <p:nvSpPr>
          <p:cNvPr id="1667" name="Freeform 182"/>
          <p:cNvSpPr/>
          <p:nvPr/>
        </p:nvSpPr>
        <p:spPr>
          <a:xfrm>
            <a:off x="6794280" y="3016440"/>
            <a:ext cx="2889360" cy="2634120"/>
          </a:xfrm>
          <a:custGeom>
            <a:avLst/>
            <a:gdLst>
              <a:gd name="textAreaLeft" fmla="*/ 0 w 2889360"/>
              <a:gd name="textAreaRight" fmla="*/ 2889720 w 2889360"/>
              <a:gd name="textAreaTop" fmla="*/ 0 h 2634120"/>
              <a:gd name="textAreaBottom" fmla="*/ 2634480 h 2634120"/>
              <a:gd name="GluePoint1X" fmla="*/ 10817 w 2889702"/>
              <a:gd name="GluePoint1Y" fmla="*/ 896701 h 2634390"/>
              <a:gd name="GluePoint2X" fmla="*/ 2869381 w 2889702"/>
              <a:gd name="GluePoint2Y" fmla="*/ 0 h 2634390"/>
              <a:gd name="GluePoint3X" fmla="*/ 2889702 w 2889702"/>
              <a:gd name="GluePoint3Y" fmla="*/ 2634390 h 2634390"/>
              <a:gd name="GluePoint4X" fmla="*/ 0 w 2889702"/>
              <a:gd name="GluePoint4Y" fmla="*/ 1094330 h 2634390"/>
              <a:gd name="GluePoint5X" fmla="*/ 10817 w 2889702"/>
              <a:gd name="GluePoint5Y" fmla="*/ 896701 h 263439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889702" h="2634390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 rotWithShape="0">
            <a:gsLst>
              <a:gs pos="0">
                <a:srgbClr val="f2f2f2"/>
              </a:gs>
              <a:gs pos="100000">
                <a:srgbClr val="bfbfb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668" name="Group 364"/>
          <p:cNvGrpSpPr/>
          <p:nvPr/>
        </p:nvGrpSpPr>
        <p:grpSpPr>
          <a:xfrm>
            <a:off x="9618480" y="3198240"/>
            <a:ext cx="1775520" cy="2947680"/>
            <a:chOff x="9618480" y="3198240"/>
            <a:chExt cx="1775520" cy="2947680"/>
          </a:xfrm>
        </p:grpSpPr>
        <p:sp>
          <p:nvSpPr>
            <p:cNvPr id="1669" name="Rectangle 365"/>
            <p:cNvSpPr/>
            <p:nvPr/>
          </p:nvSpPr>
          <p:spPr>
            <a:xfrm>
              <a:off x="9666000" y="3198240"/>
              <a:ext cx="1728000" cy="2388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670" name="Group 366"/>
            <p:cNvGrpSpPr/>
            <p:nvPr/>
          </p:nvGrpSpPr>
          <p:grpSpPr>
            <a:xfrm>
              <a:off x="9618480" y="3205800"/>
              <a:ext cx="1773720" cy="2940120"/>
              <a:chOff x="9618480" y="3205800"/>
              <a:chExt cx="1773720" cy="2940120"/>
            </a:xfrm>
          </p:grpSpPr>
          <p:sp>
            <p:nvSpPr>
              <p:cNvPr id="1671" name="Rectangle 367"/>
              <p:cNvSpPr/>
              <p:nvPr/>
            </p:nvSpPr>
            <p:spPr>
              <a:xfrm>
                <a:off x="9639360" y="3209760"/>
                <a:ext cx="1752840" cy="370080"/>
              </a:xfrm>
              <a:prstGeom prst="rect">
                <a:avLst/>
              </a:prstGeom>
              <a:solidFill>
                <a:srgbClr val="4472c4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672" name="TextBox 368"/>
              <p:cNvSpPr/>
              <p:nvPr/>
            </p:nvSpPr>
            <p:spPr>
              <a:xfrm>
                <a:off x="9618480" y="3205800"/>
                <a:ext cx="1752840" cy="294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Aft>
                    <a:spcPts val="400"/>
                  </a:spcAft>
                </a:pPr>
                <a:r>
                  <a:rPr b="0" lang="en-US" sz="20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rPr>
                  <a:t>DV in e: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(a) =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(b)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(c)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(d)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(e) = 0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(f)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(g)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(h)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(i)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1673" name="Straight Connector 369"/>
              <p:cNvCxnSpPr/>
              <p:nvPr/>
            </p:nvCxnSpPr>
            <p:spPr>
              <a:xfrm>
                <a:off x="9627120" y="3580200"/>
                <a:ext cx="176400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sp>
            <p:nvSpPr>
              <p:cNvPr id="1674" name="Rectangle 370"/>
              <p:cNvSpPr/>
              <p:nvPr/>
            </p:nvSpPr>
            <p:spPr>
              <a:xfrm>
                <a:off x="9630360" y="3209760"/>
                <a:ext cx="1761840" cy="261864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772" dur="indefinite" restart="never" nodeType="tmRoot">
          <p:childTnLst>
            <p:seq>
              <p:cTn id="773" dur="indefinite" nodeType="mainSeq">
                <p:childTnLst>
                  <p:par>
                    <p:cTn id="774" fill="hold">
                      <p:stCondLst>
                        <p:cond delay="indefinite"/>
                      </p:stCondLst>
                      <p:childTnLst>
                        <p:par>
                          <p:cTn id="775" fill="hold">
                            <p:stCondLst>
                              <p:cond delay="0"/>
                            </p:stCondLst>
                            <p:childTnLst>
                              <p:par>
                                <p:cTn id="776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778" dur="500"/>
                                        <p:tgtEl>
                                          <p:spTgt spid="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81" dur="500"/>
                                        <p:tgtEl>
                                          <p:spTgt spid="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2" fill="hold">
                      <p:stCondLst>
                        <p:cond delay="indefinite"/>
                      </p:stCondLst>
                      <p:childTnLst>
                        <p:par>
                          <p:cTn id="783" fill="hold">
                            <p:stCondLst>
                              <p:cond delay="0"/>
                            </p:stCondLst>
                            <p:childTnLst>
                              <p:par>
                                <p:cTn id="784" nodeType="click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786" dur="500"/>
                                        <p:tgtEl>
                                          <p:spTgt spid="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7" fill="hold">
                      <p:stCondLst>
                        <p:cond delay="indefinite"/>
                      </p:stCondLst>
                      <p:childTnLst>
                        <p:par>
                          <p:cTn id="788" fill="hold">
                            <p:stCondLst>
                              <p:cond delay="0"/>
                            </p:stCondLst>
                            <p:childTnLst>
                              <p:par>
                                <p:cTn id="78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91" dur="500"/>
                                        <p:tgtEl>
                                          <p:spTgt spid="1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2" fill="hold">
                      <p:stCondLst>
                        <p:cond delay="indefinite"/>
                      </p:stCondLst>
                      <p:childTnLst>
                        <p:par>
                          <p:cTn id="793" fill="hold">
                            <p:stCondLst>
                              <p:cond delay="0"/>
                            </p:stCondLst>
                            <p:childTnLst>
                              <p:par>
                                <p:cTn id="79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96" dur="500"/>
                                        <p:tgtEl>
                                          <p:spTgt spid="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7" fill="hold">
                            <p:stCondLst>
                              <p:cond delay="500"/>
                            </p:stCondLst>
                            <p:childTnLst>
                              <p:par>
                                <p:cTn id="79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00" dur="500"/>
                                        <p:tgtEl>
                                          <p:spTgt spid="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1" fill="hold">
                      <p:stCondLst>
                        <p:cond delay="indefinite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nodeType="click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805" dur="500"/>
                                        <p:tgtEl>
                                          <p:spTgt spid="1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6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08" dur="500"/>
                                        <p:tgtEl>
                                          <p:spTgt spid="1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9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811" dur="500"/>
                                        <p:tgtEl>
                                          <p:spTgt spid="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531288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00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Distance vector example: computation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6" name="Rectangle 153"/>
          <p:cNvSpPr/>
          <p:nvPr/>
        </p:nvSpPr>
        <p:spPr>
          <a:xfrm>
            <a:off x="6626880" y="275400"/>
            <a:ext cx="3037680" cy="628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677" name="Group 265"/>
          <p:cNvGrpSpPr/>
          <p:nvPr/>
        </p:nvGrpSpPr>
        <p:grpSpPr>
          <a:xfrm>
            <a:off x="2514600" y="878760"/>
            <a:ext cx="1860120" cy="2893680"/>
            <a:chOff x="2514600" y="878760"/>
            <a:chExt cx="1860120" cy="2893680"/>
          </a:xfrm>
        </p:grpSpPr>
        <p:sp>
          <p:nvSpPr>
            <p:cNvPr id="1678" name="Freeform 266"/>
            <p:cNvSpPr/>
            <p:nvPr/>
          </p:nvSpPr>
          <p:spPr>
            <a:xfrm>
              <a:off x="3831480" y="908280"/>
              <a:ext cx="543240" cy="2388960"/>
            </a:xfrm>
            <a:custGeom>
              <a:avLst/>
              <a:gdLst>
                <a:gd name="textAreaLeft" fmla="*/ 0 w 543240"/>
                <a:gd name="textAreaRight" fmla="*/ 543600 w 543240"/>
                <a:gd name="textAreaTop" fmla="*/ 0 h 2388960"/>
                <a:gd name="textAreaBottom" fmla="*/ 2389320 h 2388960"/>
                <a:gd name="GluePoint1X" fmla="*/ 0 w 452284"/>
                <a:gd name="GluePoint1Y" fmla="*/ 0 h 2389239"/>
                <a:gd name="GluePoint2X" fmla="*/ 452284 w 452284"/>
                <a:gd name="GluePoint2Y" fmla="*/ 904568 h 2389239"/>
                <a:gd name="GluePoint3X" fmla="*/ 452284 w 452284"/>
                <a:gd name="GluePoint3Y" fmla="*/ 1052052 h 2389239"/>
                <a:gd name="GluePoint4X" fmla="*/ 9833 w 452284"/>
                <a:gd name="GluePoint4Y" fmla="*/ 2389239 h 2389239"/>
                <a:gd name="GluePoint5X" fmla="*/ 0 w 452284"/>
                <a:gd name="GluePoint5Y" fmla="*/ 0 h 238923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679" name="Group 267"/>
            <p:cNvGrpSpPr/>
            <p:nvPr/>
          </p:nvGrpSpPr>
          <p:grpSpPr>
            <a:xfrm>
              <a:off x="2514600" y="878760"/>
              <a:ext cx="1409760" cy="2893680"/>
              <a:chOff x="2514600" y="878760"/>
              <a:chExt cx="1409760" cy="2893680"/>
            </a:xfrm>
          </p:grpSpPr>
          <p:sp>
            <p:nvSpPr>
              <p:cNvPr id="1680" name="Rectangle 268"/>
              <p:cNvSpPr/>
              <p:nvPr/>
            </p:nvSpPr>
            <p:spPr>
              <a:xfrm>
                <a:off x="2519280" y="878760"/>
                <a:ext cx="1335600" cy="2418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1681" name="Group 269"/>
              <p:cNvGrpSpPr/>
              <p:nvPr/>
            </p:nvGrpSpPr>
            <p:grpSpPr>
              <a:xfrm>
                <a:off x="2514600" y="883080"/>
                <a:ext cx="1409760" cy="2889360"/>
                <a:chOff x="2514600" y="883080"/>
                <a:chExt cx="1409760" cy="2889360"/>
              </a:xfrm>
            </p:grpSpPr>
            <p:sp>
              <p:nvSpPr>
                <p:cNvPr id="1682" name="Rectangle 270"/>
                <p:cNvSpPr/>
                <p:nvPr/>
              </p:nvSpPr>
              <p:spPr>
                <a:xfrm>
                  <a:off x="2524680" y="887400"/>
                  <a:ext cx="134280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683" name="TextBox 271"/>
                <p:cNvSpPr/>
                <p:nvPr/>
              </p:nvSpPr>
              <p:spPr>
                <a:xfrm>
                  <a:off x="2581560" y="883080"/>
                  <a:ext cx="1342800" cy="2889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</a:pPr>
                  <a:r>
                    <a:rPr b="0" lang="en-US" sz="2000" strike="noStrike" u="non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a: 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(a)=0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(b) = 8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1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1684" name="Straight Connector 272"/>
                <p:cNvCxnSpPr/>
                <p:nvPr/>
              </p:nvCxnSpPr>
              <p:spPr>
                <a:xfrm>
                  <a:off x="2514600" y="1257480"/>
                  <a:ext cx="135180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1685" name="Rectangle 273"/>
                <p:cNvSpPr/>
                <p:nvPr/>
              </p:nvSpPr>
              <p:spPr>
                <a:xfrm>
                  <a:off x="2517480" y="887400"/>
                  <a:ext cx="1350000" cy="258912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grpSp>
        <p:nvGrpSpPr>
          <p:cNvPr id="1686" name="Group 274"/>
          <p:cNvGrpSpPr/>
          <p:nvPr/>
        </p:nvGrpSpPr>
        <p:grpSpPr>
          <a:xfrm>
            <a:off x="6172200" y="235800"/>
            <a:ext cx="2976840" cy="1917360"/>
            <a:chOff x="6172200" y="235800"/>
            <a:chExt cx="2976840" cy="1917360"/>
          </a:xfrm>
        </p:grpSpPr>
        <p:sp>
          <p:nvSpPr>
            <p:cNvPr id="1687" name="Freeform 275"/>
            <p:cNvSpPr/>
            <p:nvPr/>
          </p:nvSpPr>
          <p:spPr>
            <a:xfrm>
              <a:off x="6172200" y="304920"/>
              <a:ext cx="2793960" cy="1848240"/>
            </a:xfrm>
            <a:custGeom>
              <a:avLst/>
              <a:gdLst>
                <a:gd name="textAreaLeft" fmla="*/ 0 w 2793960"/>
                <a:gd name="textAreaRight" fmla="*/ 2794320 w 2793960"/>
                <a:gd name="textAreaTop" fmla="*/ 0 h 1848240"/>
                <a:gd name="textAreaBottom" fmla="*/ 1848600 h 1848240"/>
                <a:gd name="GluePoint1X" fmla="*/ 0 w 2340077"/>
                <a:gd name="GluePoint1Y" fmla="*/ 1691148 h 1848464"/>
                <a:gd name="GluePoint2X" fmla="*/ 383458 w 2340077"/>
                <a:gd name="GluePoint2Y" fmla="*/ 0 h 1848464"/>
                <a:gd name="GluePoint3X" fmla="*/ 2340077 w 2340077"/>
                <a:gd name="GluePoint3Y" fmla="*/ 1386348 h 1848464"/>
                <a:gd name="GluePoint4X" fmla="*/ 137651 w 2340077"/>
                <a:gd name="GluePoint4Y" fmla="*/ 1848464 h 1848464"/>
                <a:gd name="GluePoint5X" fmla="*/ 0 w 2340077"/>
                <a:gd name="GluePoint5Y" fmla="*/ 1691148 h 18484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688" name="Group 276"/>
            <p:cNvGrpSpPr/>
            <p:nvPr/>
          </p:nvGrpSpPr>
          <p:grpSpPr>
            <a:xfrm>
              <a:off x="6546600" y="235800"/>
              <a:ext cx="2602440" cy="1540080"/>
              <a:chOff x="6546600" y="235800"/>
              <a:chExt cx="2602440" cy="1540080"/>
            </a:xfrm>
          </p:grpSpPr>
          <p:sp>
            <p:nvSpPr>
              <p:cNvPr id="1689" name="Rectangle 277"/>
              <p:cNvSpPr/>
              <p:nvPr/>
            </p:nvSpPr>
            <p:spPr>
              <a:xfrm>
                <a:off x="6653880" y="235800"/>
                <a:ext cx="2312280" cy="1435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1690" name="Group 278"/>
              <p:cNvGrpSpPr/>
              <p:nvPr/>
            </p:nvGrpSpPr>
            <p:grpSpPr>
              <a:xfrm>
                <a:off x="6546600" y="248760"/>
                <a:ext cx="2602440" cy="1527120"/>
                <a:chOff x="6546600" y="248760"/>
                <a:chExt cx="2602440" cy="1527120"/>
              </a:xfrm>
            </p:grpSpPr>
            <p:sp>
              <p:nvSpPr>
                <p:cNvPr id="1691" name="Rectangle 279"/>
                <p:cNvSpPr/>
                <p:nvPr/>
              </p:nvSpPr>
              <p:spPr>
                <a:xfrm>
                  <a:off x="6649560" y="252720"/>
                  <a:ext cx="231660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692" name="TextBox 281"/>
                <p:cNvSpPr/>
                <p:nvPr/>
              </p:nvSpPr>
              <p:spPr>
                <a:xfrm>
                  <a:off x="7115040" y="248760"/>
                  <a:ext cx="133380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b="0" lang="en-US" sz="2000" strike="noStrike" u="non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b:</a:t>
                  </a: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1693" name="Straight Connector 345"/>
                <p:cNvCxnSpPr/>
                <p:nvPr/>
              </p:nvCxnSpPr>
              <p:spPr>
                <a:xfrm>
                  <a:off x="6639480" y="622800"/>
                  <a:ext cx="134280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1694" name="Rectangle 346"/>
                <p:cNvSpPr/>
                <p:nvPr/>
              </p:nvSpPr>
              <p:spPr>
                <a:xfrm>
                  <a:off x="6642720" y="252720"/>
                  <a:ext cx="2311920" cy="142812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695" name="TextBox 347"/>
                <p:cNvSpPr/>
                <p:nvPr/>
              </p:nvSpPr>
              <p:spPr>
                <a:xfrm>
                  <a:off x="7822800" y="688320"/>
                  <a:ext cx="1326240" cy="1087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96" name="TextBox 348"/>
                <p:cNvSpPr/>
                <p:nvPr/>
              </p:nvSpPr>
              <p:spPr>
                <a:xfrm>
                  <a:off x="6546600" y="685080"/>
                  <a:ext cx="1333800" cy="1087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 = 8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1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1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1697" name="Group 349"/>
          <p:cNvGrpSpPr/>
          <p:nvPr/>
        </p:nvGrpSpPr>
        <p:grpSpPr>
          <a:xfrm>
            <a:off x="8740800" y="219960"/>
            <a:ext cx="2460600" cy="2940120"/>
            <a:chOff x="8740800" y="219960"/>
            <a:chExt cx="2460600" cy="2940120"/>
          </a:xfrm>
        </p:grpSpPr>
        <p:sp>
          <p:nvSpPr>
            <p:cNvPr id="1698" name="Freeform 350"/>
            <p:cNvSpPr/>
            <p:nvPr/>
          </p:nvSpPr>
          <p:spPr>
            <a:xfrm>
              <a:off x="8740800" y="246960"/>
              <a:ext cx="1111680" cy="2428200"/>
            </a:xfrm>
            <a:custGeom>
              <a:avLst/>
              <a:gdLst>
                <a:gd name="textAreaLeft" fmla="*/ 0 w 1111680"/>
                <a:gd name="textAreaRight" fmla="*/ 1112040 w 1111680"/>
                <a:gd name="textAreaTop" fmla="*/ 0 h 2428200"/>
                <a:gd name="textAreaBottom" fmla="*/ 2428560 h 2428200"/>
                <a:gd name="GluePoint1X" fmla="*/ 1 w 1170039"/>
                <a:gd name="GluePoint1Y" fmla="*/ 1809135 h 2428567"/>
                <a:gd name="GluePoint2X" fmla="*/ 1160207 w 1170039"/>
                <a:gd name="GluePoint2Y" fmla="*/ 0 h 2428567"/>
                <a:gd name="GluePoint3X" fmla="*/ 1170039 w 1170039"/>
                <a:gd name="GluePoint3Y" fmla="*/ 2428567 h 2428567"/>
                <a:gd name="GluePoint4X" fmla="*/ 0 w 1170039"/>
                <a:gd name="GluePoint4Y" fmla="*/ 1946786 h 2428567"/>
                <a:gd name="GluePoint5X" fmla="*/ 1 w 1170039"/>
                <a:gd name="GluePoint5Y" fmla="*/ 1809135 h 24285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699" name="Group 351"/>
            <p:cNvGrpSpPr/>
            <p:nvPr/>
          </p:nvGrpSpPr>
          <p:grpSpPr>
            <a:xfrm>
              <a:off x="9818640" y="219960"/>
              <a:ext cx="1382760" cy="2940120"/>
              <a:chOff x="9818640" y="219960"/>
              <a:chExt cx="1382760" cy="2940120"/>
            </a:xfrm>
          </p:grpSpPr>
          <p:sp>
            <p:nvSpPr>
              <p:cNvPr id="1700" name="Rectangle 352"/>
              <p:cNvSpPr/>
              <p:nvPr/>
            </p:nvSpPr>
            <p:spPr>
              <a:xfrm>
                <a:off x="9840960" y="219960"/>
                <a:ext cx="1360440" cy="24256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1701" name="Group 353"/>
              <p:cNvGrpSpPr/>
              <p:nvPr/>
            </p:nvGrpSpPr>
            <p:grpSpPr>
              <a:xfrm>
                <a:off x="9818640" y="219960"/>
                <a:ext cx="1359720" cy="2940120"/>
                <a:chOff x="9818640" y="219960"/>
                <a:chExt cx="1359720" cy="2940120"/>
              </a:xfrm>
            </p:grpSpPr>
            <p:sp>
              <p:nvSpPr>
                <p:cNvPr id="1702" name="Rectangle 354"/>
                <p:cNvSpPr/>
                <p:nvPr/>
              </p:nvSpPr>
              <p:spPr>
                <a:xfrm>
                  <a:off x="9834480" y="223920"/>
                  <a:ext cx="134388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703" name="TextBox 380"/>
                <p:cNvSpPr/>
                <p:nvPr/>
              </p:nvSpPr>
              <p:spPr>
                <a:xfrm>
                  <a:off x="9818640" y="219960"/>
                  <a:ext cx="1308600" cy="2940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b="0" lang="en-US" sz="2000" strike="noStrike" u="non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c:</a:t>
                  </a: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 =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(b) = 1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 0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1704" name="Straight Connector 381"/>
                <p:cNvCxnSpPr/>
                <p:nvPr/>
              </p:nvCxnSpPr>
              <p:spPr>
                <a:xfrm>
                  <a:off x="9824760" y="594360"/>
                  <a:ext cx="135288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1705" name="Rectangle 382"/>
                <p:cNvSpPr/>
                <p:nvPr/>
              </p:nvSpPr>
              <p:spPr>
                <a:xfrm>
                  <a:off x="9827640" y="223920"/>
                  <a:ext cx="1350720" cy="262044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grpSp>
        <p:nvGrpSpPr>
          <p:cNvPr id="1706" name="Group 383"/>
          <p:cNvGrpSpPr/>
          <p:nvPr/>
        </p:nvGrpSpPr>
        <p:grpSpPr>
          <a:xfrm>
            <a:off x="9654480" y="3126240"/>
            <a:ext cx="1775520" cy="2947680"/>
            <a:chOff x="9654480" y="3126240"/>
            <a:chExt cx="1775520" cy="2947680"/>
          </a:xfrm>
        </p:grpSpPr>
        <p:sp>
          <p:nvSpPr>
            <p:cNvPr id="1707" name="Rectangle 384"/>
            <p:cNvSpPr/>
            <p:nvPr/>
          </p:nvSpPr>
          <p:spPr>
            <a:xfrm>
              <a:off x="9702000" y="3126240"/>
              <a:ext cx="1728000" cy="2388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708" name="Group 385"/>
            <p:cNvGrpSpPr/>
            <p:nvPr/>
          </p:nvGrpSpPr>
          <p:grpSpPr>
            <a:xfrm>
              <a:off x="9654480" y="3133800"/>
              <a:ext cx="1773720" cy="2940120"/>
              <a:chOff x="9654480" y="3133800"/>
              <a:chExt cx="1773720" cy="2940120"/>
            </a:xfrm>
          </p:grpSpPr>
          <p:sp>
            <p:nvSpPr>
              <p:cNvPr id="1709" name="Rectangle 386"/>
              <p:cNvSpPr/>
              <p:nvPr/>
            </p:nvSpPr>
            <p:spPr>
              <a:xfrm>
                <a:off x="9675360" y="3137760"/>
                <a:ext cx="1752840" cy="370080"/>
              </a:xfrm>
              <a:prstGeom prst="rect">
                <a:avLst/>
              </a:prstGeom>
              <a:solidFill>
                <a:srgbClr val="4472c4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710" name="TextBox 387"/>
              <p:cNvSpPr/>
              <p:nvPr/>
            </p:nvSpPr>
            <p:spPr>
              <a:xfrm>
                <a:off x="9654480" y="3133800"/>
                <a:ext cx="1752840" cy="294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Aft>
                    <a:spcPts val="400"/>
                  </a:spcAft>
                </a:pPr>
                <a:r>
                  <a:rPr b="0" lang="en-US" sz="20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rPr>
                  <a:t>DV in e: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(a) =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(b)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(c)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(d)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(e) = 0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(f)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(g)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(h)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(i)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1711" name="Straight Connector 388"/>
              <p:cNvCxnSpPr/>
              <p:nvPr/>
            </p:nvCxnSpPr>
            <p:spPr>
              <a:xfrm>
                <a:off x="9663120" y="3508200"/>
                <a:ext cx="176400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sp>
            <p:nvSpPr>
              <p:cNvPr id="1712" name="Rectangle 389"/>
              <p:cNvSpPr/>
              <p:nvPr/>
            </p:nvSpPr>
            <p:spPr>
              <a:xfrm>
                <a:off x="9666360" y="3137760"/>
                <a:ext cx="1761840" cy="261864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713" name="PlaceHolder 2"/>
          <p:cNvSpPr>
            <a:spLocks noGrp="1"/>
          </p:cNvSpPr>
          <p:nvPr>
            <p:ph type="sldNum" idx="75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BE890B5F-4218-4D06-ACEB-49CE58B0AF80}" type="slidenum"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714" name="Straight Connector 81"/>
          <p:cNvCxnSpPr>
            <a:stCxn id="1715" idx="2"/>
            <a:endCxn id="1715" idx="0"/>
          </p:cNvCxnSpPr>
          <p:nvPr/>
        </p:nvCxnSpPr>
        <p:spPr>
          <a:xfrm flipV="1">
            <a:off x="6530040" y="2129040"/>
            <a:ext cx="360" cy="38631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716" name="Straight Connector 95"/>
          <p:cNvCxnSpPr>
            <a:stCxn id="1715" idx="1"/>
            <a:endCxn id="1715" idx="3"/>
          </p:cNvCxnSpPr>
          <p:nvPr/>
        </p:nvCxnSpPr>
        <p:spPr>
          <a:xfrm>
            <a:off x="4598640" y="4060440"/>
            <a:ext cx="386316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1715" name="Rectangle 75"/>
          <p:cNvSpPr/>
          <p:nvPr/>
        </p:nvSpPr>
        <p:spPr>
          <a:xfrm>
            <a:off x="4598640" y="2129040"/>
            <a:ext cx="3862800" cy="38628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7" name="Rectangle 149"/>
          <p:cNvSpPr/>
          <p:nvPr/>
        </p:nvSpPr>
        <p:spPr>
          <a:xfrm>
            <a:off x="8380440" y="2200320"/>
            <a:ext cx="132120" cy="185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718" name="Group 1033"/>
          <p:cNvGrpSpPr/>
          <p:nvPr/>
        </p:nvGrpSpPr>
        <p:grpSpPr>
          <a:xfrm>
            <a:off x="4333680" y="5772240"/>
            <a:ext cx="4395600" cy="404280"/>
            <a:chOff x="4333680" y="5772240"/>
            <a:chExt cx="4395600" cy="404280"/>
          </a:xfrm>
        </p:grpSpPr>
        <p:grpSp>
          <p:nvGrpSpPr>
            <p:cNvPr id="1719" name="Group 183"/>
            <p:cNvGrpSpPr/>
            <p:nvPr/>
          </p:nvGrpSpPr>
          <p:grpSpPr>
            <a:xfrm>
              <a:off x="4333680" y="5772240"/>
              <a:ext cx="532080" cy="368640"/>
              <a:chOff x="4333680" y="5772240"/>
              <a:chExt cx="532080" cy="368640"/>
            </a:xfrm>
          </p:grpSpPr>
          <p:grpSp>
            <p:nvGrpSpPr>
              <p:cNvPr id="1720" name="Group 204"/>
              <p:cNvGrpSpPr/>
              <p:nvPr/>
            </p:nvGrpSpPr>
            <p:grpSpPr>
              <a:xfrm>
                <a:off x="4333680" y="5842800"/>
                <a:ext cx="532080" cy="271440"/>
                <a:chOff x="4333680" y="5842800"/>
                <a:chExt cx="532080" cy="271440"/>
              </a:xfrm>
            </p:grpSpPr>
            <p:sp>
              <p:nvSpPr>
                <p:cNvPr id="1721" name="Oval 5"/>
                <p:cNvSpPr/>
                <p:nvPr/>
              </p:nvSpPr>
              <p:spPr>
                <a:xfrm>
                  <a:off x="4338720" y="5964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22" name="Line 6"/>
                <p:cNvSpPr/>
                <p:nvPr/>
              </p:nvSpPr>
              <p:spPr>
                <a:xfrm>
                  <a:off x="433872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23" name="Line 7"/>
                <p:cNvSpPr/>
                <p:nvPr/>
              </p:nvSpPr>
              <p:spPr>
                <a:xfrm>
                  <a:off x="486540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24" name="Rectangle 8"/>
                <p:cNvSpPr/>
                <p:nvPr/>
              </p:nvSpPr>
              <p:spPr>
                <a:xfrm>
                  <a:off x="4338720" y="5951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25" name="Oval 9"/>
                <p:cNvSpPr/>
                <p:nvPr/>
              </p:nvSpPr>
              <p:spPr>
                <a:xfrm>
                  <a:off x="4333680" y="5842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726" name="Group 44"/>
              <p:cNvGrpSpPr/>
              <p:nvPr/>
            </p:nvGrpSpPr>
            <p:grpSpPr>
              <a:xfrm>
                <a:off x="4429080" y="5772240"/>
                <a:ext cx="312480" cy="368640"/>
                <a:chOff x="4429080" y="5772240"/>
                <a:chExt cx="312480" cy="368640"/>
              </a:xfrm>
            </p:grpSpPr>
            <p:sp>
              <p:nvSpPr>
                <p:cNvPr id="1727" name="Rectangle 45"/>
                <p:cNvSpPr/>
                <p:nvPr/>
              </p:nvSpPr>
              <p:spPr>
                <a:xfrm>
                  <a:off x="4481280" y="5891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28" name="Text Box 46"/>
                <p:cNvSpPr/>
                <p:nvPr/>
              </p:nvSpPr>
              <p:spPr>
                <a:xfrm>
                  <a:off x="4429080" y="577224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g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729" name="Group 184"/>
            <p:cNvGrpSpPr/>
            <p:nvPr/>
          </p:nvGrpSpPr>
          <p:grpSpPr>
            <a:xfrm>
              <a:off x="6264000" y="5807880"/>
              <a:ext cx="532080" cy="368640"/>
              <a:chOff x="6264000" y="5807880"/>
              <a:chExt cx="532080" cy="368640"/>
            </a:xfrm>
          </p:grpSpPr>
          <p:grpSp>
            <p:nvGrpSpPr>
              <p:cNvPr id="1730" name="Group 195"/>
              <p:cNvGrpSpPr/>
              <p:nvPr/>
            </p:nvGrpSpPr>
            <p:grpSpPr>
              <a:xfrm>
                <a:off x="6264000" y="5850360"/>
                <a:ext cx="532080" cy="271440"/>
                <a:chOff x="6264000" y="5850360"/>
                <a:chExt cx="532080" cy="271440"/>
              </a:xfrm>
            </p:grpSpPr>
            <p:sp>
              <p:nvSpPr>
                <p:cNvPr id="1731" name="Oval 5"/>
                <p:cNvSpPr/>
                <p:nvPr/>
              </p:nvSpPr>
              <p:spPr>
                <a:xfrm>
                  <a:off x="6269040" y="59724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32" name="Line 6"/>
                <p:cNvSpPr/>
                <p:nvPr/>
              </p:nvSpPr>
              <p:spPr>
                <a:xfrm>
                  <a:off x="626868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33" name="Line 7"/>
                <p:cNvSpPr/>
                <p:nvPr/>
              </p:nvSpPr>
              <p:spPr>
                <a:xfrm>
                  <a:off x="679572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34" name="Rectangle 8"/>
                <p:cNvSpPr/>
                <p:nvPr/>
              </p:nvSpPr>
              <p:spPr>
                <a:xfrm>
                  <a:off x="6269040" y="59594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35" name="Oval 9"/>
                <p:cNvSpPr/>
                <p:nvPr/>
              </p:nvSpPr>
              <p:spPr>
                <a:xfrm>
                  <a:off x="6264000" y="58503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736" name="Group 44"/>
              <p:cNvGrpSpPr/>
              <p:nvPr/>
            </p:nvGrpSpPr>
            <p:grpSpPr>
              <a:xfrm>
                <a:off x="6359040" y="5807880"/>
                <a:ext cx="312480" cy="368640"/>
                <a:chOff x="6359040" y="5807880"/>
                <a:chExt cx="312480" cy="368640"/>
              </a:xfrm>
            </p:grpSpPr>
            <p:sp>
              <p:nvSpPr>
                <p:cNvPr id="1737" name="Rectangle 45"/>
                <p:cNvSpPr/>
                <p:nvPr/>
              </p:nvSpPr>
              <p:spPr>
                <a:xfrm>
                  <a:off x="6411600" y="58986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38" name="Text Box 46"/>
                <p:cNvSpPr/>
                <p:nvPr/>
              </p:nvSpPr>
              <p:spPr>
                <a:xfrm>
                  <a:off x="6359040" y="580788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739" name="Group 185"/>
            <p:cNvGrpSpPr/>
            <p:nvPr/>
          </p:nvGrpSpPr>
          <p:grpSpPr>
            <a:xfrm>
              <a:off x="8197200" y="5805360"/>
              <a:ext cx="532080" cy="368640"/>
              <a:chOff x="8197200" y="5805360"/>
              <a:chExt cx="532080" cy="368640"/>
            </a:xfrm>
          </p:grpSpPr>
          <p:grpSp>
            <p:nvGrpSpPr>
              <p:cNvPr id="1740" name="Group 186"/>
              <p:cNvGrpSpPr/>
              <p:nvPr/>
            </p:nvGrpSpPr>
            <p:grpSpPr>
              <a:xfrm>
                <a:off x="8197200" y="5847840"/>
                <a:ext cx="532080" cy="271440"/>
                <a:chOff x="8197200" y="5847840"/>
                <a:chExt cx="532080" cy="271440"/>
              </a:xfrm>
            </p:grpSpPr>
            <p:sp>
              <p:nvSpPr>
                <p:cNvPr id="1741" name="Oval 5"/>
                <p:cNvSpPr/>
                <p:nvPr/>
              </p:nvSpPr>
              <p:spPr>
                <a:xfrm>
                  <a:off x="8202240" y="596988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42" name="Line 6"/>
                <p:cNvSpPr/>
                <p:nvPr/>
              </p:nvSpPr>
              <p:spPr>
                <a:xfrm>
                  <a:off x="820224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43" name="Line 7"/>
                <p:cNvSpPr/>
                <p:nvPr/>
              </p:nvSpPr>
              <p:spPr>
                <a:xfrm>
                  <a:off x="872892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44" name="Rectangle 8"/>
                <p:cNvSpPr/>
                <p:nvPr/>
              </p:nvSpPr>
              <p:spPr>
                <a:xfrm>
                  <a:off x="8202240" y="595692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45" name="Oval 9"/>
                <p:cNvSpPr/>
                <p:nvPr/>
              </p:nvSpPr>
              <p:spPr>
                <a:xfrm>
                  <a:off x="8197200" y="584784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746" name="Group 44"/>
              <p:cNvGrpSpPr/>
              <p:nvPr/>
            </p:nvGrpSpPr>
            <p:grpSpPr>
              <a:xfrm>
                <a:off x="8331120" y="5805360"/>
                <a:ext cx="235080" cy="368640"/>
                <a:chOff x="8331120" y="5805360"/>
                <a:chExt cx="235080" cy="368640"/>
              </a:xfrm>
            </p:grpSpPr>
            <p:sp>
              <p:nvSpPr>
                <p:cNvPr id="1747" name="Rectangle 45"/>
                <p:cNvSpPr/>
                <p:nvPr/>
              </p:nvSpPr>
              <p:spPr>
                <a:xfrm>
                  <a:off x="8344800" y="589608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48" name="Text Box 46"/>
                <p:cNvSpPr/>
                <p:nvPr/>
              </p:nvSpPr>
              <p:spPr>
                <a:xfrm>
                  <a:off x="8331120" y="5805360"/>
                  <a:ext cx="2350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i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1749" name="TextBox 214"/>
          <p:cNvSpPr/>
          <p:nvPr/>
        </p:nvSpPr>
        <p:spPr>
          <a:xfrm>
            <a:off x="4305960" y="287064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0" name="TextBox 215"/>
          <p:cNvSpPr/>
          <p:nvPr/>
        </p:nvSpPr>
        <p:spPr>
          <a:xfrm>
            <a:off x="6217560" y="286092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1" name="TextBox 216"/>
          <p:cNvSpPr/>
          <p:nvPr/>
        </p:nvSpPr>
        <p:spPr>
          <a:xfrm>
            <a:off x="3920040" y="485604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2" name="TextBox 217"/>
          <p:cNvSpPr/>
          <p:nvPr/>
        </p:nvSpPr>
        <p:spPr>
          <a:xfrm>
            <a:off x="5855040" y="485784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3" name="TextBox 218"/>
          <p:cNvSpPr/>
          <p:nvPr/>
        </p:nvSpPr>
        <p:spPr>
          <a:xfrm>
            <a:off x="8154360" y="489024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4" name="TextBox 220"/>
          <p:cNvSpPr/>
          <p:nvPr/>
        </p:nvSpPr>
        <p:spPr>
          <a:xfrm>
            <a:off x="5066280" y="399960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5" name="TextBox 221"/>
          <p:cNvSpPr/>
          <p:nvPr/>
        </p:nvSpPr>
        <p:spPr>
          <a:xfrm>
            <a:off x="7353720" y="402012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6" name="TextBox 222"/>
          <p:cNvSpPr/>
          <p:nvPr/>
        </p:nvSpPr>
        <p:spPr>
          <a:xfrm>
            <a:off x="5068080" y="592272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7" name="TextBox 223"/>
          <p:cNvSpPr/>
          <p:nvPr/>
        </p:nvSpPr>
        <p:spPr>
          <a:xfrm>
            <a:off x="7081560" y="590292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8" name="TextBox 224"/>
          <p:cNvSpPr/>
          <p:nvPr/>
        </p:nvSpPr>
        <p:spPr>
          <a:xfrm>
            <a:off x="5445720" y="212400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9" name="TextBox 225"/>
          <p:cNvSpPr/>
          <p:nvPr/>
        </p:nvSpPr>
        <p:spPr>
          <a:xfrm>
            <a:off x="7357680" y="211428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60" name="Group 158"/>
          <p:cNvGrpSpPr/>
          <p:nvPr/>
        </p:nvGrpSpPr>
        <p:grpSpPr>
          <a:xfrm>
            <a:off x="584280" y="914400"/>
            <a:ext cx="1375200" cy="1718640"/>
            <a:chOff x="584280" y="914400"/>
            <a:chExt cx="1375200" cy="1718640"/>
          </a:xfrm>
        </p:grpSpPr>
        <p:sp>
          <p:nvSpPr>
            <p:cNvPr id="1761" name="TextBox 159"/>
            <p:cNvSpPr/>
            <p:nvPr/>
          </p:nvSpPr>
          <p:spPr>
            <a:xfrm>
              <a:off x="584280" y="2054880"/>
              <a:ext cx="93996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32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t=1</a:t>
              </a: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762" name="Group 160"/>
            <p:cNvGrpSpPr/>
            <p:nvPr/>
          </p:nvGrpSpPr>
          <p:grpSpPr>
            <a:xfrm>
              <a:off x="592920" y="914400"/>
              <a:ext cx="1366560" cy="1207080"/>
              <a:chOff x="592920" y="914400"/>
              <a:chExt cx="1366560" cy="1207080"/>
            </a:xfrm>
          </p:grpSpPr>
          <p:sp>
            <p:nvSpPr>
              <p:cNvPr id="1763" name="Oval 161"/>
              <p:cNvSpPr/>
              <p:nvPr/>
            </p:nvSpPr>
            <p:spPr>
              <a:xfrm>
                <a:off x="603000" y="921960"/>
                <a:ext cx="1343520" cy="118692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1764" name="Straight Connector 162"/>
              <p:cNvCxnSpPr/>
              <p:nvPr/>
            </p:nvCxnSpPr>
            <p:spPr>
              <a:xfrm>
                <a:off x="1269720" y="914400"/>
                <a:ext cx="360" cy="1065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765" name="Straight Connector 163"/>
              <p:cNvCxnSpPr/>
              <p:nvPr/>
            </p:nvCxnSpPr>
            <p:spPr>
              <a:xfrm>
                <a:off x="1269720" y="2014560"/>
                <a:ext cx="360" cy="1072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766" name="Straight Connector 164"/>
              <p:cNvCxnSpPr/>
              <p:nvPr/>
            </p:nvCxnSpPr>
            <p:spPr>
              <a:xfrm>
                <a:off x="592920" y="1518120"/>
                <a:ext cx="12060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767" name="Straight Connector 165"/>
              <p:cNvCxnSpPr/>
              <p:nvPr/>
            </p:nvCxnSpPr>
            <p:spPr>
              <a:xfrm>
                <a:off x="1838160" y="1518120"/>
                <a:ext cx="12168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768" name="Straight Connector 166"/>
              <p:cNvCxnSpPr/>
              <p:nvPr/>
            </p:nvCxnSpPr>
            <p:spPr>
              <a:xfrm>
                <a:off x="1571760" y="1961640"/>
                <a:ext cx="54360" cy="7632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769" name="Straight Connector 167"/>
              <p:cNvCxnSpPr/>
              <p:nvPr/>
            </p:nvCxnSpPr>
            <p:spPr>
              <a:xfrm>
                <a:off x="929520" y="995760"/>
                <a:ext cx="54360" cy="7632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770" name="Straight Connector 168"/>
              <p:cNvCxnSpPr/>
              <p:nvPr/>
            </p:nvCxnSpPr>
            <p:spPr>
              <a:xfrm flipH="1">
                <a:off x="916560" y="1955880"/>
                <a:ext cx="54360" cy="7632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771" name="Straight Connector 169"/>
              <p:cNvCxnSpPr/>
              <p:nvPr/>
            </p:nvCxnSpPr>
            <p:spPr>
              <a:xfrm flipH="1">
                <a:off x="1558800" y="990000"/>
                <a:ext cx="54360" cy="7632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772" name="Straight Connector 170"/>
              <p:cNvCxnSpPr/>
              <p:nvPr/>
            </p:nvCxnSpPr>
            <p:spPr>
              <a:xfrm flipH="1">
                <a:off x="1787760" y="1209240"/>
                <a:ext cx="73080" cy="482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773" name="Straight Connector 171"/>
              <p:cNvCxnSpPr/>
              <p:nvPr/>
            </p:nvCxnSpPr>
            <p:spPr>
              <a:xfrm flipH="1">
                <a:off x="694440" y="1770840"/>
                <a:ext cx="73080" cy="478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774" name="Straight Connector 172"/>
              <p:cNvCxnSpPr/>
              <p:nvPr/>
            </p:nvCxnSpPr>
            <p:spPr>
              <a:xfrm flipH="1" flipV="1">
                <a:off x="713160" y="1215000"/>
                <a:ext cx="74160" cy="478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775" name="Straight Connector 173"/>
              <p:cNvCxnSpPr/>
              <p:nvPr/>
            </p:nvCxnSpPr>
            <p:spPr>
              <a:xfrm flipH="1" flipV="1">
                <a:off x="1787760" y="1776600"/>
                <a:ext cx="73080" cy="478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sp>
            <p:nvSpPr>
              <p:cNvPr id="1776" name="Oval 174"/>
              <p:cNvSpPr/>
              <p:nvPr/>
            </p:nvSpPr>
            <p:spPr>
              <a:xfrm>
                <a:off x="1187640" y="1442160"/>
                <a:ext cx="164160" cy="1533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cxnSp>
        <p:nvCxnSpPr>
          <p:cNvPr id="1777" name="Straight Connector 152"/>
          <p:cNvCxnSpPr/>
          <p:nvPr/>
        </p:nvCxnSpPr>
        <p:spPr>
          <a:xfrm>
            <a:off x="919440" y="1995840"/>
            <a:ext cx="360" cy="196200"/>
          </a:xfrm>
          <a:prstGeom prst="straightConnector1">
            <a:avLst/>
          </a:prstGeom>
          <a:ln w="25400">
            <a:solidFill>
              <a:srgbClr val="c00000"/>
            </a:solidFill>
          </a:ln>
        </p:spPr>
      </p:cxnSp>
      <p:sp>
        <p:nvSpPr>
          <p:cNvPr id="1778" name="TextBox 280"/>
          <p:cNvSpPr/>
          <p:nvPr/>
        </p:nvSpPr>
        <p:spPr>
          <a:xfrm flipH="1">
            <a:off x="348480" y="3079080"/>
            <a:ext cx="219528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9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 receives DVs from a, c, e, computes: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9" name="Right Arrow 355"/>
          <p:cNvSpPr/>
          <p:nvPr/>
        </p:nvSpPr>
        <p:spPr>
          <a:xfrm>
            <a:off x="4973400" y="19378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0" name="Right Arrow 356"/>
          <p:cNvSpPr/>
          <p:nvPr/>
        </p:nvSpPr>
        <p:spPr>
          <a:xfrm rot="10800000">
            <a:off x="7632000" y="192024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781" name="Group 313"/>
          <p:cNvGrpSpPr/>
          <p:nvPr/>
        </p:nvGrpSpPr>
        <p:grpSpPr>
          <a:xfrm>
            <a:off x="4333680" y="1906200"/>
            <a:ext cx="4395600" cy="403920"/>
            <a:chOff x="4333680" y="1906200"/>
            <a:chExt cx="4395600" cy="403920"/>
          </a:xfrm>
        </p:grpSpPr>
        <p:grpSp>
          <p:nvGrpSpPr>
            <p:cNvPr id="1782" name="Group 314"/>
            <p:cNvGrpSpPr/>
            <p:nvPr/>
          </p:nvGrpSpPr>
          <p:grpSpPr>
            <a:xfrm>
              <a:off x="4333680" y="1906200"/>
              <a:ext cx="532080" cy="368640"/>
              <a:chOff x="4333680" y="1906200"/>
              <a:chExt cx="532080" cy="368640"/>
            </a:xfrm>
          </p:grpSpPr>
          <p:grpSp>
            <p:nvGrpSpPr>
              <p:cNvPr id="1783" name="Group 335"/>
              <p:cNvGrpSpPr/>
              <p:nvPr/>
            </p:nvGrpSpPr>
            <p:grpSpPr>
              <a:xfrm>
                <a:off x="4333680" y="1976760"/>
                <a:ext cx="532080" cy="271440"/>
                <a:chOff x="4333680" y="1976760"/>
                <a:chExt cx="532080" cy="271440"/>
              </a:xfrm>
            </p:grpSpPr>
            <p:sp>
              <p:nvSpPr>
                <p:cNvPr id="1784" name="Oval 5"/>
                <p:cNvSpPr/>
                <p:nvPr/>
              </p:nvSpPr>
              <p:spPr>
                <a:xfrm>
                  <a:off x="4338720" y="20988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85" name="Line 6"/>
                <p:cNvSpPr/>
                <p:nvPr/>
              </p:nvSpPr>
              <p:spPr>
                <a:xfrm>
                  <a:off x="433872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86" name="Line 7"/>
                <p:cNvSpPr/>
                <p:nvPr/>
              </p:nvSpPr>
              <p:spPr>
                <a:xfrm>
                  <a:off x="486540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87" name="Rectangle 8"/>
                <p:cNvSpPr/>
                <p:nvPr/>
              </p:nvSpPr>
              <p:spPr>
                <a:xfrm>
                  <a:off x="4338720" y="20858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88" name="Oval 9"/>
                <p:cNvSpPr/>
                <p:nvPr/>
              </p:nvSpPr>
              <p:spPr>
                <a:xfrm>
                  <a:off x="4333680" y="1976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789" name="Group 44"/>
              <p:cNvGrpSpPr/>
              <p:nvPr/>
            </p:nvGrpSpPr>
            <p:grpSpPr>
              <a:xfrm>
                <a:off x="4429080" y="1906200"/>
                <a:ext cx="312480" cy="368640"/>
                <a:chOff x="4429080" y="1906200"/>
                <a:chExt cx="312480" cy="368640"/>
              </a:xfrm>
            </p:grpSpPr>
            <p:sp>
              <p:nvSpPr>
                <p:cNvPr id="1790" name="Rectangle 45"/>
                <p:cNvSpPr/>
                <p:nvPr/>
              </p:nvSpPr>
              <p:spPr>
                <a:xfrm>
                  <a:off x="4481280" y="2025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91" name="Text Box 46"/>
                <p:cNvSpPr/>
                <p:nvPr/>
              </p:nvSpPr>
              <p:spPr>
                <a:xfrm>
                  <a:off x="4429080" y="190620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792" name="Group 315"/>
            <p:cNvGrpSpPr/>
            <p:nvPr/>
          </p:nvGrpSpPr>
          <p:grpSpPr>
            <a:xfrm>
              <a:off x="6264000" y="1941480"/>
              <a:ext cx="532080" cy="368640"/>
              <a:chOff x="6264000" y="1941480"/>
              <a:chExt cx="532080" cy="368640"/>
            </a:xfrm>
          </p:grpSpPr>
          <p:grpSp>
            <p:nvGrpSpPr>
              <p:cNvPr id="1793" name="Group 326"/>
              <p:cNvGrpSpPr/>
              <p:nvPr/>
            </p:nvGrpSpPr>
            <p:grpSpPr>
              <a:xfrm>
                <a:off x="6264000" y="1984320"/>
                <a:ext cx="532080" cy="271440"/>
                <a:chOff x="6264000" y="1984320"/>
                <a:chExt cx="532080" cy="271440"/>
              </a:xfrm>
            </p:grpSpPr>
            <p:sp>
              <p:nvSpPr>
                <p:cNvPr id="1794" name="Oval 5"/>
                <p:cNvSpPr/>
                <p:nvPr/>
              </p:nvSpPr>
              <p:spPr>
                <a:xfrm>
                  <a:off x="6269040" y="21063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95" name="Line 6"/>
                <p:cNvSpPr/>
                <p:nvPr/>
              </p:nvSpPr>
              <p:spPr>
                <a:xfrm>
                  <a:off x="626868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96" name="Line 7"/>
                <p:cNvSpPr/>
                <p:nvPr/>
              </p:nvSpPr>
              <p:spPr>
                <a:xfrm>
                  <a:off x="679572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97" name="Rectangle 8"/>
                <p:cNvSpPr/>
                <p:nvPr/>
              </p:nvSpPr>
              <p:spPr>
                <a:xfrm>
                  <a:off x="6269040" y="20934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798" name="Oval 9"/>
                <p:cNvSpPr/>
                <p:nvPr/>
              </p:nvSpPr>
              <p:spPr>
                <a:xfrm>
                  <a:off x="6264000" y="198432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799" name="Group 44"/>
              <p:cNvGrpSpPr/>
              <p:nvPr/>
            </p:nvGrpSpPr>
            <p:grpSpPr>
              <a:xfrm>
                <a:off x="6359040" y="1941480"/>
                <a:ext cx="312480" cy="368640"/>
                <a:chOff x="6359040" y="1941480"/>
                <a:chExt cx="312480" cy="368640"/>
              </a:xfrm>
            </p:grpSpPr>
            <p:sp>
              <p:nvSpPr>
                <p:cNvPr id="1800" name="Rectangle 45"/>
                <p:cNvSpPr/>
                <p:nvPr/>
              </p:nvSpPr>
              <p:spPr>
                <a:xfrm>
                  <a:off x="6411600" y="203256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01" name="Text Box 46"/>
                <p:cNvSpPr/>
                <p:nvPr/>
              </p:nvSpPr>
              <p:spPr>
                <a:xfrm>
                  <a:off x="6359040" y="194148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b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802" name="Group 316"/>
            <p:cNvGrpSpPr/>
            <p:nvPr/>
          </p:nvGrpSpPr>
          <p:grpSpPr>
            <a:xfrm>
              <a:off x="8197200" y="1938960"/>
              <a:ext cx="532080" cy="368640"/>
              <a:chOff x="8197200" y="1938960"/>
              <a:chExt cx="532080" cy="368640"/>
            </a:xfrm>
          </p:grpSpPr>
          <p:grpSp>
            <p:nvGrpSpPr>
              <p:cNvPr id="1803" name="Group 317"/>
              <p:cNvGrpSpPr/>
              <p:nvPr/>
            </p:nvGrpSpPr>
            <p:grpSpPr>
              <a:xfrm>
                <a:off x="8197200" y="1981800"/>
                <a:ext cx="532080" cy="271440"/>
                <a:chOff x="8197200" y="1981800"/>
                <a:chExt cx="532080" cy="271440"/>
              </a:xfrm>
            </p:grpSpPr>
            <p:sp>
              <p:nvSpPr>
                <p:cNvPr id="1804" name="Oval 5"/>
                <p:cNvSpPr/>
                <p:nvPr/>
              </p:nvSpPr>
              <p:spPr>
                <a:xfrm>
                  <a:off x="8202240" y="2103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05" name="Line 6"/>
                <p:cNvSpPr/>
                <p:nvPr/>
              </p:nvSpPr>
              <p:spPr>
                <a:xfrm>
                  <a:off x="820224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06" name="Line 7"/>
                <p:cNvSpPr/>
                <p:nvPr/>
              </p:nvSpPr>
              <p:spPr>
                <a:xfrm>
                  <a:off x="872892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07" name="Rectangle 8"/>
                <p:cNvSpPr/>
                <p:nvPr/>
              </p:nvSpPr>
              <p:spPr>
                <a:xfrm>
                  <a:off x="8202240" y="2090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08" name="Oval 9"/>
                <p:cNvSpPr/>
                <p:nvPr/>
              </p:nvSpPr>
              <p:spPr>
                <a:xfrm>
                  <a:off x="8197200" y="1981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809" name="Group 44"/>
              <p:cNvGrpSpPr/>
              <p:nvPr/>
            </p:nvGrpSpPr>
            <p:grpSpPr>
              <a:xfrm>
                <a:off x="8299440" y="1938960"/>
                <a:ext cx="299880" cy="368640"/>
                <a:chOff x="8299440" y="1938960"/>
                <a:chExt cx="299880" cy="368640"/>
              </a:xfrm>
            </p:grpSpPr>
            <p:sp>
              <p:nvSpPr>
                <p:cNvPr id="1810" name="Rectangle 45"/>
                <p:cNvSpPr/>
                <p:nvPr/>
              </p:nvSpPr>
              <p:spPr>
                <a:xfrm>
                  <a:off x="8344800" y="2030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11" name="Text Box 46"/>
                <p:cNvSpPr/>
                <p:nvPr/>
              </p:nvSpPr>
              <p:spPr>
                <a:xfrm>
                  <a:off x="8299440" y="1938960"/>
                  <a:ext cx="2998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1812" name="Group 282"/>
          <p:cNvGrpSpPr/>
          <p:nvPr/>
        </p:nvGrpSpPr>
        <p:grpSpPr>
          <a:xfrm>
            <a:off x="4336560" y="3833640"/>
            <a:ext cx="4395600" cy="404280"/>
            <a:chOff x="4336560" y="3833640"/>
            <a:chExt cx="4395600" cy="404280"/>
          </a:xfrm>
        </p:grpSpPr>
        <p:grpSp>
          <p:nvGrpSpPr>
            <p:cNvPr id="1813" name="Group 283"/>
            <p:cNvGrpSpPr/>
            <p:nvPr/>
          </p:nvGrpSpPr>
          <p:grpSpPr>
            <a:xfrm>
              <a:off x="4336560" y="3833640"/>
              <a:ext cx="531720" cy="368640"/>
              <a:chOff x="4336560" y="3833640"/>
              <a:chExt cx="531720" cy="368640"/>
            </a:xfrm>
          </p:grpSpPr>
          <p:grpSp>
            <p:nvGrpSpPr>
              <p:cNvPr id="1814" name="Group 304"/>
              <p:cNvGrpSpPr/>
              <p:nvPr/>
            </p:nvGrpSpPr>
            <p:grpSpPr>
              <a:xfrm>
                <a:off x="4336560" y="3904200"/>
                <a:ext cx="531720" cy="271800"/>
                <a:chOff x="4336560" y="3904200"/>
                <a:chExt cx="531720" cy="271800"/>
              </a:xfrm>
            </p:grpSpPr>
            <p:sp>
              <p:nvSpPr>
                <p:cNvPr id="1815" name="Oval 5"/>
                <p:cNvSpPr/>
                <p:nvPr/>
              </p:nvSpPr>
              <p:spPr>
                <a:xfrm>
                  <a:off x="4341600" y="40266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16" name="Line 6"/>
                <p:cNvSpPr/>
                <p:nvPr/>
              </p:nvSpPr>
              <p:spPr>
                <a:xfrm>
                  <a:off x="434124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17" name="Line 7"/>
                <p:cNvSpPr/>
                <p:nvPr/>
              </p:nvSpPr>
              <p:spPr>
                <a:xfrm>
                  <a:off x="486792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18" name="Rectangle 8"/>
                <p:cNvSpPr/>
                <p:nvPr/>
              </p:nvSpPr>
              <p:spPr>
                <a:xfrm>
                  <a:off x="4341600" y="40136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19" name="Oval 9"/>
                <p:cNvSpPr/>
                <p:nvPr/>
              </p:nvSpPr>
              <p:spPr>
                <a:xfrm>
                  <a:off x="4336560" y="39042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820" name="Group 44"/>
              <p:cNvGrpSpPr/>
              <p:nvPr/>
            </p:nvGrpSpPr>
            <p:grpSpPr>
              <a:xfrm>
                <a:off x="4431600" y="3833640"/>
                <a:ext cx="312480" cy="368640"/>
                <a:chOff x="4431600" y="3833640"/>
                <a:chExt cx="312480" cy="368640"/>
              </a:xfrm>
            </p:grpSpPr>
            <p:sp>
              <p:nvSpPr>
                <p:cNvPr id="1821" name="Rectangle 45"/>
                <p:cNvSpPr/>
                <p:nvPr/>
              </p:nvSpPr>
              <p:spPr>
                <a:xfrm>
                  <a:off x="4483800" y="39524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22" name="Text Box 46"/>
                <p:cNvSpPr/>
                <p:nvPr/>
              </p:nvSpPr>
              <p:spPr>
                <a:xfrm>
                  <a:off x="4431600" y="383364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823" name="Group 284"/>
            <p:cNvGrpSpPr/>
            <p:nvPr/>
          </p:nvGrpSpPr>
          <p:grpSpPr>
            <a:xfrm>
              <a:off x="6266520" y="3869280"/>
              <a:ext cx="532080" cy="368640"/>
              <a:chOff x="6266520" y="3869280"/>
              <a:chExt cx="532080" cy="368640"/>
            </a:xfrm>
          </p:grpSpPr>
          <p:grpSp>
            <p:nvGrpSpPr>
              <p:cNvPr id="1824" name="Group 295"/>
              <p:cNvGrpSpPr/>
              <p:nvPr/>
            </p:nvGrpSpPr>
            <p:grpSpPr>
              <a:xfrm>
                <a:off x="6266520" y="3911760"/>
                <a:ext cx="532080" cy="271800"/>
                <a:chOff x="6266520" y="3911760"/>
                <a:chExt cx="532080" cy="271800"/>
              </a:xfrm>
            </p:grpSpPr>
            <p:sp>
              <p:nvSpPr>
                <p:cNvPr id="1825" name="Oval 5"/>
                <p:cNvSpPr/>
                <p:nvPr/>
              </p:nvSpPr>
              <p:spPr>
                <a:xfrm>
                  <a:off x="6271560" y="40341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26" name="Line 6"/>
                <p:cNvSpPr/>
                <p:nvPr/>
              </p:nvSpPr>
              <p:spPr>
                <a:xfrm>
                  <a:off x="627156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27" name="Line 7"/>
                <p:cNvSpPr/>
                <p:nvPr/>
              </p:nvSpPr>
              <p:spPr>
                <a:xfrm>
                  <a:off x="679824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28" name="Rectangle 8"/>
                <p:cNvSpPr/>
                <p:nvPr/>
              </p:nvSpPr>
              <p:spPr>
                <a:xfrm>
                  <a:off x="6271560" y="40212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29" name="Oval 9"/>
                <p:cNvSpPr/>
                <p:nvPr/>
              </p:nvSpPr>
              <p:spPr>
                <a:xfrm>
                  <a:off x="6266520" y="3911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830" name="Group 44"/>
              <p:cNvGrpSpPr/>
              <p:nvPr/>
            </p:nvGrpSpPr>
            <p:grpSpPr>
              <a:xfrm>
                <a:off x="6361920" y="3869280"/>
                <a:ext cx="312480" cy="368640"/>
                <a:chOff x="6361920" y="3869280"/>
                <a:chExt cx="312480" cy="368640"/>
              </a:xfrm>
            </p:grpSpPr>
            <p:sp>
              <p:nvSpPr>
                <p:cNvPr id="1831" name="Rectangle 45"/>
                <p:cNvSpPr/>
                <p:nvPr/>
              </p:nvSpPr>
              <p:spPr>
                <a:xfrm>
                  <a:off x="6414120" y="3960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32" name="Text Box 46"/>
                <p:cNvSpPr/>
                <p:nvPr/>
              </p:nvSpPr>
              <p:spPr>
                <a:xfrm>
                  <a:off x="6361920" y="386928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e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833" name="Group 285"/>
            <p:cNvGrpSpPr/>
            <p:nvPr/>
          </p:nvGrpSpPr>
          <p:grpSpPr>
            <a:xfrm>
              <a:off x="8200080" y="3866760"/>
              <a:ext cx="532080" cy="368640"/>
              <a:chOff x="8200080" y="3866760"/>
              <a:chExt cx="532080" cy="368640"/>
            </a:xfrm>
          </p:grpSpPr>
          <p:grpSp>
            <p:nvGrpSpPr>
              <p:cNvPr id="1834" name="Group 286"/>
              <p:cNvGrpSpPr/>
              <p:nvPr/>
            </p:nvGrpSpPr>
            <p:grpSpPr>
              <a:xfrm>
                <a:off x="8200080" y="3909600"/>
                <a:ext cx="532080" cy="271440"/>
                <a:chOff x="8200080" y="3909600"/>
                <a:chExt cx="532080" cy="271440"/>
              </a:xfrm>
            </p:grpSpPr>
            <p:sp>
              <p:nvSpPr>
                <p:cNvPr id="1835" name="Oval 5"/>
                <p:cNvSpPr/>
                <p:nvPr/>
              </p:nvSpPr>
              <p:spPr>
                <a:xfrm>
                  <a:off x="8205120" y="40316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36" name="Line 6"/>
                <p:cNvSpPr/>
                <p:nvPr/>
              </p:nvSpPr>
              <p:spPr>
                <a:xfrm>
                  <a:off x="820476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37" name="Line 7"/>
                <p:cNvSpPr/>
                <p:nvPr/>
              </p:nvSpPr>
              <p:spPr>
                <a:xfrm>
                  <a:off x="873180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38" name="Rectangle 8"/>
                <p:cNvSpPr/>
                <p:nvPr/>
              </p:nvSpPr>
              <p:spPr>
                <a:xfrm>
                  <a:off x="8205120" y="40186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39" name="Oval 9"/>
                <p:cNvSpPr/>
                <p:nvPr/>
              </p:nvSpPr>
              <p:spPr>
                <a:xfrm>
                  <a:off x="8200080" y="39096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840" name="Group 44"/>
              <p:cNvGrpSpPr/>
              <p:nvPr/>
            </p:nvGrpSpPr>
            <p:grpSpPr>
              <a:xfrm>
                <a:off x="8326800" y="3866760"/>
                <a:ext cx="249120" cy="368640"/>
                <a:chOff x="8326800" y="3866760"/>
                <a:chExt cx="249120" cy="368640"/>
              </a:xfrm>
            </p:grpSpPr>
            <p:sp>
              <p:nvSpPr>
                <p:cNvPr id="1841" name="Rectangle 45"/>
                <p:cNvSpPr/>
                <p:nvPr/>
              </p:nvSpPr>
              <p:spPr>
                <a:xfrm>
                  <a:off x="8347680" y="39578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842" name="Text Box 46"/>
                <p:cNvSpPr/>
                <p:nvPr/>
              </p:nvSpPr>
              <p:spPr>
                <a:xfrm>
                  <a:off x="8326800" y="3866760"/>
                  <a:ext cx="24912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1843" name="Freeform 2"/>
          <p:cNvSpPr/>
          <p:nvPr/>
        </p:nvSpPr>
        <p:spPr>
          <a:xfrm>
            <a:off x="3078360" y="2885400"/>
            <a:ext cx="5923080" cy="3819960"/>
          </a:xfrm>
          <a:custGeom>
            <a:avLst/>
            <a:gdLst>
              <a:gd name="textAreaLeft" fmla="*/ 0 w 5923080"/>
              <a:gd name="textAreaRight" fmla="*/ 5923440 w 5923080"/>
              <a:gd name="textAreaTop" fmla="*/ 0 h 3819960"/>
              <a:gd name="textAreaBottom" fmla="*/ 3820320 h 3819960"/>
              <a:gd name="GluePoint1X" fmla="*/ 1239799 w 5760999"/>
              <a:gd name="GluePoint1Y" fmla="*/ 0 h 3820160"/>
              <a:gd name="GluePoint2X" fmla="*/ 2987319 w 5760999"/>
              <a:gd name="GluePoint2Y" fmla="*/ 0 h 3820160"/>
              <a:gd name="GluePoint3X" fmla="*/ 2987319 w 5760999"/>
              <a:gd name="GluePoint3Y" fmla="*/ 955040 h 3820160"/>
              <a:gd name="GluePoint4X" fmla="*/ 5730519 w 5760999"/>
              <a:gd name="GluePoint4Y" fmla="*/ 782320 h 3820160"/>
              <a:gd name="GluePoint5X" fmla="*/ 5760999 w 5760999"/>
              <a:gd name="GluePoint5Y" fmla="*/ 3820160 h 3820160"/>
              <a:gd name="GluePoint6X" fmla="*/ 0 w 5760999"/>
              <a:gd name="GluePoint6Y" fmla="*/ 3810000 h 3820160"/>
              <a:gd name="GluePoint7X" fmla="*/ 69172 w 5760999"/>
              <a:gd name="GluePoint7Y" fmla="*/ 955040 h 3820160"/>
              <a:gd name="GluePoint8X" fmla="*/ 917184 w 5760999"/>
              <a:gd name="GluePoint8Y" fmla="*/ 904240 h 3820160"/>
              <a:gd name="GluePoint9X" fmla="*/ 1239799 w 5760999"/>
              <a:gd name="GluePoint9Y" fmla="*/ 0 h 382016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60999" h="3820160">
                <a:moveTo>
                  <a:pt x="1239799" y="0"/>
                </a:moveTo>
                <a:lnTo>
                  <a:pt x="2987319" y="0"/>
                </a:lnTo>
                <a:lnTo>
                  <a:pt x="2987319" y="955040"/>
                </a:lnTo>
                <a:lnTo>
                  <a:pt x="5730519" y="782320"/>
                </a:lnTo>
                <a:lnTo>
                  <a:pt x="5760999" y="3820160"/>
                </a:lnTo>
                <a:lnTo>
                  <a:pt x="0" y="3810000"/>
                </a:lnTo>
                <a:lnTo>
                  <a:pt x="69172" y="955040"/>
                </a:lnTo>
                <a:lnTo>
                  <a:pt x="917184" y="904240"/>
                </a:lnTo>
                <a:lnTo>
                  <a:pt x="123979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844" name="Group 238"/>
          <p:cNvGrpSpPr/>
          <p:nvPr/>
        </p:nvGrpSpPr>
        <p:grpSpPr>
          <a:xfrm>
            <a:off x="7010640" y="5133240"/>
            <a:ext cx="2361960" cy="1539720"/>
            <a:chOff x="7010640" y="5133240"/>
            <a:chExt cx="2361960" cy="1539720"/>
          </a:xfrm>
        </p:grpSpPr>
        <p:sp>
          <p:nvSpPr>
            <p:cNvPr id="1845" name="Rectangle 239"/>
            <p:cNvSpPr/>
            <p:nvPr/>
          </p:nvSpPr>
          <p:spPr>
            <a:xfrm>
              <a:off x="7087320" y="5133240"/>
              <a:ext cx="2149200" cy="1435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846" name="Group 251"/>
            <p:cNvGrpSpPr/>
            <p:nvPr/>
          </p:nvGrpSpPr>
          <p:grpSpPr>
            <a:xfrm>
              <a:off x="7010640" y="5145840"/>
              <a:ext cx="2361960" cy="1527120"/>
              <a:chOff x="7010640" y="5145840"/>
              <a:chExt cx="2361960" cy="1527120"/>
            </a:xfrm>
          </p:grpSpPr>
          <p:sp>
            <p:nvSpPr>
              <p:cNvPr id="1847" name="Rectangle 252"/>
              <p:cNvSpPr/>
              <p:nvPr/>
            </p:nvSpPr>
            <p:spPr>
              <a:xfrm>
                <a:off x="7083360" y="5149800"/>
                <a:ext cx="2153160" cy="370080"/>
              </a:xfrm>
              <a:prstGeom prst="rect">
                <a:avLst/>
              </a:prstGeom>
              <a:solidFill>
                <a:srgbClr val="4472c4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848" name="TextBox 253"/>
              <p:cNvSpPr/>
              <p:nvPr/>
            </p:nvSpPr>
            <p:spPr>
              <a:xfrm>
                <a:off x="7516080" y="5145840"/>
                <a:ext cx="1239120" cy="39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Aft>
                    <a:spcPts val="400"/>
                  </a:spcAft>
                </a:pPr>
                <a:r>
                  <a:rPr b="0" lang="en-US" sz="20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rPr>
                  <a:t>DV in b: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1849" name="Straight Connector 254"/>
              <p:cNvCxnSpPr/>
              <p:nvPr/>
            </p:nvCxnSpPr>
            <p:spPr>
              <a:xfrm>
                <a:off x="7074720" y="5519880"/>
                <a:ext cx="124704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sp>
            <p:nvSpPr>
              <p:cNvPr id="1850" name="Rectangle 255"/>
              <p:cNvSpPr/>
              <p:nvPr/>
            </p:nvSpPr>
            <p:spPr>
              <a:xfrm>
                <a:off x="7076880" y="5149800"/>
                <a:ext cx="2148840" cy="142812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851" name="TextBox 256"/>
              <p:cNvSpPr/>
              <p:nvPr/>
            </p:nvSpPr>
            <p:spPr>
              <a:xfrm>
                <a:off x="8139960" y="5585400"/>
                <a:ext cx="1232640" cy="1087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9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b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(f) =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2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9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b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(g)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9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b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(h) = 2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9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b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(i)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2" name="TextBox 257"/>
              <p:cNvSpPr/>
              <p:nvPr/>
            </p:nvSpPr>
            <p:spPr>
              <a:xfrm>
                <a:off x="7010640" y="5582160"/>
                <a:ext cx="1239480" cy="1087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marL="114480" defTabSz="914400">
                  <a:lnSpc>
                    <a:spcPct val="9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b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(a) = 8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9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b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(c) =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9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b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(d) = 2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9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b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(e)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853" name="Group 177"/>
          <p:cNvGrpSpPr/>
          <p:nvPr/>
        </p:nvGrpSpPr>
        <p:grpSpPr>
          <a:xfrm>
            <a:off x="6256800" y="3442320"/>
            <a:ext cx="532080" cy="368640"/>
            <a:chOff x="6256800" y="3442320"/>
            <a:chExt cx="532080" cy="368640"/>
          </a:xfrm>
        </p:grpSpPr>
        <p:grpSp>
          <p:nvGrpSpPr>
            <p:cNvPr id="1854" name="Group 178"/>
            <p:cNvGrpSpPr/>
            <p:nvPr/>
          </p:nvGrpSpPr>
          <p:grpSpPr>
            <a:xfrm>
              <a:off x="6256800" y="3484800"/>
              <a:ext cx="532080" cy="271800"/>
              <a:chOff x="6256800" y="3484800"/>
              <a:chExt cx="532080" cy="271800"/>
            </a:xfrm>
          </p:grpSpPr>
          <p:sp>
            <p:nvSpPr>
              <p:cNvPr id="1855" name="Oval 5"/>
              <p:cNvSpPr/>
              <p:nvPr/>
            </p:nvSpPr>
            <p:spPr>
              <a:xfrm>
                <a:off x="6261840" y="3607200"/>
                <a:ext cx="526320" cy="14940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856" name="Line 6"/>
              <p:cNvSpPr/>
              <p:nvPr/>
            </p:nvSpPr>
            <p:spPr>
              <a:xfrm>
                <a:off x="6261480" y="3593880"/>
                <a:ext cx="360" cy="9252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857" name="Line 7"/>
              <p:cNvSpPr/>
              <p:nvPr/>
            </p:nvSpPr>
            <p:spPr>
              <a:xfrm>
                <a:off x="6788520" y="3593880"/>
                <a:ext cx="360" cy="9252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858" name="Rectangle 8"/>
              <p:cNvSpPr/>
              <p:nvPr/>
            </p:nvSpPr>
            <p:spPr>
              <a:xfrm>
                <a:off x="6261840" y="3594240"/>
                <a:ext cx="521280" cy="9036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859" name="Oval 9"/>
              <p:cNvSpPr/>
              <p:nvPr/>
            </p:nvSpPr>
            <p:spPr>
              <a:xfrm>
                <a:off x="6256800" y="3484800"/>
                <a:ext cx="526320" cy="17532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</p:grpSp>
        <p:grpSp>
          <p:nvGrpSpPr>
            <p:cNvPr id="1860" name="Group 44"/>
            <p:cNvGrpSpPr/>
            <p:nvPr/>
          </p:nvGrpSpPr>
          <p:grpSpPr>
            <a:xfrm>
              <a:off x="6351840" y="3442320"/>
              <a:ext cx="312480" cy="368640"/>
              <a:chOff x="6351840" y="3442320"/>
              <a:chExt cx="312480" cy="368640"/>
            </a:xfrm>
          </p:grpSpPr>
          <p:sp>
            <p:nvSpPr>
              <p:cNvPr id="1861" name="Rectangle 45"/>
              <p:cNvSpPr/>
              <p:nvPr/>
            </p:nvSpPr>
            <p:spPr>
              <a:xfrm>
                <a:off x="6404400" y="3533400"/>
                <a:ext cx="198000" cy="184320"/>
              </a:xfrm>
              <a:prstGeom prst="rect">
                <a:avLst/>
              </a:prstGeom>
              <a:solidFill>
                <a:srgbClr val="cc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862" name="Text Box 46"/>
              <p:cNvSpPr/>
              <p:nvPr/>
            </p:nvSpPr>
            <p:spPr>
              <a:xfrm>
                <a:off x="6351840" y="3442320"/>
                <a:ext cx="312480" cy="368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rPr>
                  <a:t>e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863" name="Right Arrow 258"/>
          <p:cNvSpPr/>
          <p:nvPr/>
        </p:nvSpPr>
        <p:spPr>
          <a:xfrm rot="16200000">
            <a:off x="6307560" y="303120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4" name="Freeform 263"/>
          <p:cNvSpPr/>
          <p:nvPr/>
        </p:nvSpPr>
        <p:spPr>
          <a:xfrm>
            <a:off x="6784200" y="3016440"/>
            <a:ext cx="2899440" cy="2634120"/>
          </a:xfrm>
          <a:custGeom>
            <a:avLst/>
            <a:gdLst>
              <a:gd name="textAreaLeft" fmla="*/ 0 w 2899440"/>
              <a:gd name="textAreaRight" fmla="*/ 2899800 w 2899440"/>
              <a:gd name="textAreaTop" fmla="*/ 0 h 2634120"/>
              <a:gd name="textAreaBottom" fmla="*/ 2634480 h 2634120"/>
              <a:gd name="GluePoint1X" fmla="*/ 657 w 2899862"/>
              <a:gd name="GluePoint1Y" fmla="*/ 541101 h 2634390"/>
              <a:gd name="GluePoint2X" fmla="*/ 2879541 w 2899862"/>
              <a:gd name="GluePoint2Y" fmla="*/ 0 h 2634390"/>
              <a:gd name="GluePoint3X" fmla="*/ 2899862 w 2899862"/>
              <a:gd name="GluePoint3Y" fmla="*/ 2634390 h 2634390"/>
              <a:gd name="GluePoint4X" fmla="*/ 0 w 2899862"/>
              <a:gd name="GluePoint4Y" fmla="*/ 708250 h 2634390"/>
              <a:gd name="GluePoint5X" fmla="*/ 657 w 2899862"/>
              <a:gd name="GluePoint5Y" fmla="*/ 541101 h 263439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899862" h="2634390">
                <a:moveTo>
                  <a:pt x="657" y="541101"/>
                </a:moveTo>
                <a:cubicBezTo>
                  <a:pt x="1842566" y="465721"/>
                  <a:pt x="1787505" y="533564"/>
                  <a:pt x="2879541" y="0"/>
                </a:cubicBezTo>
                <a:cubicBezTo>
                  <a:pt x="2879541" y="783303"/>
                  <a:pt x="2899862" y="1851087"/>
                  <a:pt x="2899862" y="2634390"/>
                </a:cubicBezTo>
                <a:cubicBezTo>
                  <a:pt x="2640945" y="598784"/>
                  <a:pt x="2154903" y="642374"/>
                  <a:pt x="0" y="708250"/>
                </a:cubicBezTo>
                <a:lnTo>
                  <a:pt x="657" y="541101"/>
                </a:lnTo>
                <a:close/>
              </a:path>
            </a:pathLst>
          </a:custGeom>
          <a:gradFill rotWithShape="0">
            <a:gsLst>
              <a:gs pos="0">
                <a:srgbClr val="f2f2f2"/>
              </a:gs>
              <a:gs pos="100000">
                <a:srgbClr val="bfbfb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5" name="Down Arrow 264"/>
          <p:cNvSpPr/>
          <p:nvPr/>
        </p:nvSpPr>
        <p:spPr>
          <a:xfrm rot="16200000">
            <a:off x="6612840" y="5411160"/>
            <a:ext cx="339120" cy="560160"/>
          </a:xfrm>
          <a:prstGeom prst="down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bdd7ee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866" name="Group 9"/>
          <p:cNvGrpSpPr/>
          <p:nvPr/>
        </p:nvGrpSpPr>
        <p:grpSpPr>
          <a:xfrm>
            <a:off x="-228600" y="2113200"/>
            <a:ext cx="6994800" cy="4744800"/>
            <a:chOff x="-228600" y="2113200"/>
            <a:chExt cx="6994800" cy="4744800"/>
          </a:xfrm>
        </p:grpSpPr>
        <p:sp>
          <p:nvSpPr>
            <p:cNvPr id="1867" name="Rectangle 175"/>
            <p:cNvSpPr/>
            <p:nvPr/>
          </p:nvSpPr>
          <p:spPr>
            <a:xfrm>
              <a:off x="-192960" y="4024080"/>
              <a:ext cx="6581160" cy="283392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68" name="Freeform 7"/>
            <p:cNvSpPr/>
            <p:nvPr/>
          </p:nvSpPr>
          <p:spPr>
            <a:xfrm>
              <a:off x="-228600" y="2113200"/>
              <a:ext cx="6994800" cy="1920960"/>
            </a:xfrm>
            <a:custGeom>
              <a:avLst/>
              <a:gdLst>
                <a:gd name="textAreaLeft" fmla="*/ 0 w 6994800"/>
                <a:gd name="textAreaRight" fmla="*/ 6995160 w 6994800"/>
                <a:gd name="textAreaTop" fmla="*/ 0 h 1920960"/>
                <a:gd name="textAreaBottom" fmla="*/ 1921320 h 1920960"/>
                <a:gd name="GluePoint1X" fmla="*/ 6014720 w 6014720"/>
                <a:gd name="GluePoint1Y" fmla="*/ 0 h 1838960"/>
                <a:gd name="GluePoint2X" fmla="*/ 5659120 w 6014720"/>
                <a:gd name="GluePoint2Y" fmla="*/ 1838960 h 1838960"/>
                <a:gd name="GluePoint3X" fmla="*/ 0 w 6014720"/>
                <a:gd name="GluePoint3Y" fmla="*/ 1838960 h 1838960"/>
                <a:gd name="GluePoint4X" fmla="*/ 5496560 w 6014720"/>
                <a:gd name="GluePoint4Y" fmla="*/ 0 h 1838960"/>
                <a:gd name="GluePoint5X" fmla="*/ 6014720 w 6014720"/>
                <a:gd name="GluePoint5Y" fmla="*/ 0 h 183896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014720" h="1838960">
                  <a:moveTo>
                    <a:pt x="6014720" y="0"/>
                  </a:moveTo>
                  <a:cubicBezTo>
                    <a:pt x="4937760" y="795867"/>
                    <a:pt x="5008880" y="1479973"/>
                    <a:pt x="5659120" y="1838960"/>
                  </a:cubicBezTo>
                  <a:lnTo>
                    <a:pt x="0" y="1838960"/>
                  </a:lnTo>
                  <a:cubicBezTo>
                    <a:pt x="3772747" y="1642533"/>
                    <a:pt x="3776133" y="1578187"/>
                    <a:pt x="5496560" y="0"/>
                  </a:cubicBezTo>
                  <a:lnTo>
                    <a:pt x="601472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deebf7"/>
                </a:gs>
              </a:gsLst>
              <a:lin ang="5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869" name="Group 259"/>
          <p:cNvGrpSpPr/>
          <p:nvPr/>
        </p:nvGrpSpPr>
        <p:grpSpPr>
          <a:xfrm>
            <a:off x="5852520" y="1758960"/>
            <a:ext cx="1195560" cy="1022040"/>
            <a:chOff x="5852520" y="1758960"/>
            <a:chExt cx="1195560" cy="1022040"/>
          </a:xfrm>
        </p:grpSpPr>
        <p:sp>
          <p:nvSpPr>
            <p:cNvPr id="1870" name="Freeform 260"/>
            <p:cNvSpPr/>
            <p:nvPr/>
          </p:nvSpPr>
          <p:spPr>
            <a:xfrm>
              <a:off x="5852520" y="1758960"/>
              <a:ext cx="1195560" cy="1022040"/>
            </a:xfrm>
            <a:custGeom>
              <a:avLst/>
              <a:gdLst>
                <a:gd name="textAreaLeft" fmla="*/ 0 w 1195560"/>
                <a:gd name="textAreaRight" fmla="*/ 1195920 w 1195560"/>
                <a:gd name="textAreaTop" fmla="*/ 0 h 1022040"/>
                <a:gd name="textAreaBottom" fmla="*/ 1022400 h 1022040"/>
                <a:gd name="GluePoint1X" fmla="*/ 1416106 w 2820074"/>
                <a:gd name="GluePoint1Y" fmla="*/ 606903 h 2290046"/>
                <a:gd name="GluePoint2X" fmla="*/ 1096471 w 2820074"/>
                <a:gd name="GluePoint2Y" fmla="*/ 222531 h 2290046"/>
                <a:gd name="GluePoint3X" fmla="*/ 954860 w 2820074"/>
                <a:gd name="GluePoint3Y" fmla="*/ 667593 h 2290046"/>
                <a:gd name="GluePoint4X" fmla="*/ 89012 w 2820074"/>
                <a:gd name="GluePoint4Y" fmla="*/ 242761 h 2290046"/>
                <a:gd name="GluePoint5X" fmla="*/ 610948 w 2820074"/>
                <a:gd name="GluePoint5Y" fmla="*/ 797066 h 2290046"/>
                <a:gd name="GluePoint6X" fmla="*/ 0 w 2820074"/>
                <a:gd name="GluePoint6Y" fmla="*/ 902262 h 2290046"/>
                <a:gd name="GluePoint7X" fmla="*/ 481476 w 2820074"/>
                <a:gd name="GluePoint7Y" fmla="*/ 1246174 h 2290046"/>
                <a:gd name="GluePoint8X" fmla="*/ 36414 w 2820074"/>
                <a:gd name="GluePoint8Y" fmla="*/ 1533441 h 2290046"/>
                <a:gd name="GluePoint9X" fmla="*/ 760651 w 2820074"/>
                <a:gd name="GluePoint9Y" fmla="*/ 1476797 h 2290046"/>
                <a:gd name="GluePoint10X" fmla="*/ 623086 w 2820074"/>
                <a:gd name="GluePoint10Y" fmla="*/ 1869260 h 2290046"/>
                <a:gd name="GluePoint11X" fmla="*/ 1003412 w 2820074"/>
                <a:gd name="GluePoint11Y" fmla="*/ 1658867 h 2290046"/>
                <a:gd name="GluePoint12X" fmla="*/ 1104563 w 2820074"/>
                <a:gd name="GluePoint12Y" fmla="*/ 2290046 h 2290046"/>
                <a:gd name="GluePoint13X" fmla="*/ 1383738 w 2820074"/>
                <a:gd name="GluePoint13Y" fmla="*/ 1569855 h 2290046"/>
                <a:gd name="GluePoint14X" fmla="*/ 1743833 w 2820074"/>
                <a:gd name="GluePoint14Y" fmla="*/ 2091791 h 2290046"/>
                <a:gd name="GluePoint15X" fmla="*/ 1836892 w 2820074"/>
                <a:gd name="GluePoint15Y" fmla="*/ 1529395 h 2290046"/>
                <a:gd name="GluePoint16X" fmla="*/ 2375012 w 2820074"/>
                <a:gd name="GluePoint16Y" fmla="*/ 1889491 h 2290046"/>
                <a:gd name="GluePoint17X" fmla="*/ 2209125 w 2820074"/>
                <a:gd name="GluePoint17Y" fmla="*/ 1351370 h 2290046"/>
                <a:gd name="GluePoint18X" fmla="*/ 2820074 w 2820074"/>
                <a:gd name="GluePoint18Y" fmla="*/ 1399922 h 2290046"/>
                <a:gd name="GluePoint19X" fmla="*/ 2310276 w 2820074"/>
                <a:gd name="GluePoint19Y" fmla="*/ 1092425 h 2290046"/>
                <a:gd name="GluePoint20X" fmla="*/ 2775568 w 2820074"/>
                <a:gd name="GluePoint20Y" fmla="*/ 837526 h 2290046"/>
                <a:gd name="GluePoint21X" fmla="*/ 2196987 w 2820074"/>
                <a:gd name="GluePoint21Y" fmla="*/ 768744 h 2290046"/>
                <a:gd name="GluePoint22X" fmla="*/ 2427610 w 2820074"/>
                <a:gd name="GluePoint22Y" fmla="*/ 441016 h 2290046"/>
                <a:gd name="GluePoint23X" fmla="*/ 1844984 w 2820074"/>
                <a:gd name="GluePoint23Y" fmla="*/ 546213 h 2290046"/>
                <a:gd name="GluePoint24X" fmla="*/ 1901628 w 2820074"/>
                <a:gd name="GluePoint24Y" fmla="*/ 0 h 2290046"/>
                <a:gd name="GluePoint25X" fmla="*/ 1416106 w 2820074"/>
                <a:gd name="GluePoint25Y" fmla="*/ 606903 h 229004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</a:cxnLst>
              <a:rect l="textAreaLeft" t="textAreaTop" r="textAreaRight" b="textAreaBottom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71" name="TextBox 261"/>
            <p:cNvSpPr/>
            <p:nvPr/>
          </p:nvSpPr>
          <p:spPr>
            <a:xfrm>
              <a:off x="5950800" y="2044080"/>
              <a:ext cx="101988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trike="noStrike" u="none">
                  <a:solidFill>
                    <a:srgbClr val="c00000"/>
                  </a:solidFill>
                  <a:effectLst/>
                  <a:uFillTx/>
                  <a:latin typeface="Calibri"/>
                </a:rPr>
                <a:t>compute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72" name="TextBox 262"/>
          <p:cNvSpPr/>
          <p:nvPr/>
        </p:nvSpPr>
        <p:spPr>
          <a:xfrm>
            <a:off x="6355440" y="1927800"/>
            <a:ext cx="318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3" name="TextBox 229"/>
          <p:cNvSpPr/>
          <p:nvPr/>
        </p:nvSpPr>
        <p:spPr>
          <a:xfrm>
            <a:off x="894240" y="4021560"/>
            <a:ext cx="687816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14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(a) = min{c</a:t>
            </a:r>
            <a:r>
              <a:rPr b="0" lang="en-US" sz="14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b,a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4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(a), c</a:t>
            </a:r>
            <a:r>
              <a:rPr b="0" lang="en-US" sz="14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b,c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4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(a), c</a:t>
            </a:r>
            <a:r>
              <a:rPr b="0" lang="en-US" sz="14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b,e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4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(a)}  = min{8,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∞,∞} = 8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4" name="TextBox 230"/>
          <p:cNvSpPr/>
          <p:nvPr/>
        </p:nvSpPr>
        <p:spPr>
          <a:xfrm>
            <a:off x="0" y="4346640"/>
            <a:ext cx="86868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(c) = min{c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b,a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(c), 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b,c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(c), 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 b,e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(c)}  = min{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∞,1,∞} = 1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5" name="TextBox 231"/>
          <p:cNvSpPr/>
          <p:nvPr/>
        </p:nvSpPr>
        <p:spPr>
          <a:xfrm>
            <a:off x="-228600" y="4671720"/>
            <a:ext cx="73152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(d) = min{c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b,a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(d), 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b,c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(d), 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 b,e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(d)}  = min{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9,2,∞} = 2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6" name="TextBox 234"/>
          <p:cNvSpPr/>
          <p:nvPr/>
        </p:nvSpPr>
        <p:spPr>
          <a:xfrm>
            <a:off x="0" y="5301720"/>
            <a:ext cx="73152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(f) = min{c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b,a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(f), 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b,c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(f), 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 b,e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(f)}  = min{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∞,∞,2} = 2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7" name="TextBox 236"/>
          <p:cNvSpPr/>
          <p:nvPr/>
        </p:nvSpPr>
        <p:spPr>
          <a:xfrm>
            <a:off x="0" y="6244920"/>
            <a:ext cx="70768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(i) = min{c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b,a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(i), 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b,c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(i), 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 b,e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(i)}  = min{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∞,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∞, ∞} = ∞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8" name="TextBox 237"/>
          <p:cNvSpPr/>
          <p:nvPr/>
        </p:nvSpPr>
        <p:spPr>
          <a:xfrm>
            <a:off x="0" y="5940000"/>
            <a:ext cx="73152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(h) = min{c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b,a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(h), 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b,c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(h), 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 b,e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(h)}  = min{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∞,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∞, 2} = 2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9" name="TextBox 232"/>
          <p:cNvSpPr/>
          <p:nvPr/>
        </p:nvSpPr>
        <p:spPr>
          <a:xfrm>
            <a:off x="0" y="4976640"/>
            <a:ext cx="73152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(e) = min{c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b,a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(e), 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b,c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(e), 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 b,e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(e)}  = min{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∞,∞,1} = 1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0" name="TextBox 235"/>
          <p:cNvSpPr/>
          <p:nvPr/>
        </p:nvSpPr>
        <p:spPr>
          <a:xfrm>
            <a:off x="0" y="5616720"/>
            <a:ext cx="80010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(g) = min{c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b,a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(g), 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b,c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(g), 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 b,e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(g)}  = min{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∞,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∞, ∞} = ∞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812" dur="indefinite" restart="never" nodeType="tmRoot">
          <p:childTnLst>
            <p:seq>
              <p:cTn id="813" dur="indefinite" nodeType="mainSeq">
                <p:childTnLst>
                  <p:par>
                    <p:cTn id="814" fill="hold">
                      <p:stCondLst>
                        <p:cond delay="0"/>
                      </p:stCondLst>
                      <p:childTnLst>
                        <p:par>
                          <p:cTn id="815" fill="hold">
                            <p:stCondLst>
                              <p:cond delay="0"/>
                            </p:stCondLst>
                            <p:childTnLst>
                              <p:par>
                                <p:cTn id="81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18" dur="500"/>
                                        <p:tgtEl>
                                          <p:spTgt spid="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9" fill="hold">
                      <p:stCondLst>
                        <p:cond delay="indefinite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823" dur="500"/>
                                        <p:tgtEl>
                                          <p:spTgt spid="1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4" fill="hold">
                      <p:stCondLst>
                        <p:cond delay="indefinite"/>
                      </p:stCondLst>
                      <p:childTnLst>
                        <p:par>
                          <p:cTn id="825" fill="hold">
                            <p:stCondLst>
                              <p:cond delay="0"/>
                            </p:stCondLst>
                            <p:childTnLst>
                              <p:par>
                                <p:cTn id="82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28" dur="500"/>
                                        <p:tgtEl>
                                          <p:spTgt spid="1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9" fill="hold">
                      <p:stCondLst>
                        <p:cond delay="indefinite"/>
                      </p:stCondLst>
                      <p:childTnLst>
                        <p:par>
                          <p:cTn id="830" fill="hold">
                            <p:stCondLst>
                              <p:cond delay="0"/>
                            </p:stCondLst>
                            <p:childTnLst>
                              <p:par>
                                <p:cTn id="83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33" dur="500"/>
                                        <p:tgtEl>
                                          <p:spTgt spid="1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4" fill="hold">
                      <p:stCondLst>
                        <p:cond delay="indefinite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38" dur="500"/>
                                        <p:tgtEl>
                                          <p:spTgt spid="1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9" fill="hold">
                      <p:stCondLst>
                        <p:cond delay="indefinite"/>
                      </p:stCondLst>
                      <p:childTnLst>
                        <p:par>
                          <p:cTn id="840" fill="hold">
                            <p:stCondLst>
                              <p:cond delay="0"/>
                            </p:stCondLst>
                            <p:childTnLst>
                              <p:par>
                                <p:cTn id="84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43" dur="500"/>
                                        <p:tgtEl>
                                          <p:spTgt spid="1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4" fill="hold">
                      <p:stCondLst>
                        <p:cond delay="indefinite"/>
                      </p:stCondLst>
                      <p:childTnLst>
                        <p:par>
                          <p:cTn id="845" fill="hold">
                            <p:stCondLst>
                              <p:cond delay="0"/>
                            </p:stCondLst>
                            <p:childTnLst>
                              <p:par>
                                <p:cTn id="84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48" dur="500"/>
                                        <p:tgtEl>
                                          <p:spTgt spid="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9" fill="hold">
                      <p:stCondLst>
                        <p:cond delay="indefinite"/>
                      </p:stCondLst>
                      <p:childTnLst>
                        <p:par>
                          <p:cTn id="850" fill="hold">
                            <p:stCondLst>
                              <p:cond delay="0"/>
                            </p:stCondLst>
                            <p:childTnLst>
                              <p:par>
                                <p:cTn id="85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53" dur="500"/>
                                        <p:tgtEl>
                                          <p:spTgt spid="1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4" fill="hold">
                      <p:stCondLst>
                        <p:cond delay="indefinite"/>
                      </p:stCondLst>
                      <p:childTnLst>
                        <p:par>
                          <p:cTn id="855" fill="hold">
                            <p:stCondLst>
                              <p:cond delay="0"/>
                            </p:stCondLst>
                            <p:childTnLst>
                              <p:par>
                                <p:cTn id="85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58" dur="500"/>
                                        <p:tgtEl>
                                          <p:spTgt spid="1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9" fill="hold">
                      <p:stCondLst>
                        <p:cond delay="indefinite"/>
                      </p:stCondLst>
                      <p:childTnLst>
                        <p:par>
                          <p:cTn id="860" fill="hold">
                            <p:stCondLst>
                              <p:cond delay="0"/>
                            </p:stCondLst>
                            <p:childTnLst>
                              <p:par>
                                <p:cTn id="86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63" dur="500"/>
                                        <p:tgtEl>
                                          <p:spTgt spid="1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4" fill="hold">
                      <p:stCondLst>
                        <p:cond delay="indefinite"/>
                      </p:stCondLst>
                      <p:childTnLst>
                        <p:par>
                          <p:cTn id="865" fill="hold">
                            <p:stCondLst>
                              <p:cond delay="0"/>
                            </p:stCondLst>
                            <p:childTnLst>
                              <p:par>
                                <p:cTn id="86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68" dur="500"/>
                                        <p:tgtEl>
                                          <p:spTgt spid="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9" fill="hold">
                            <p:stCondLst>
                              <p:cond delay="500"/>
                            </p:stCondLst>
                            <p:childTnLst>
                              <p:par>
                                <p:cTn id="87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72" dur="5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3" fill="hold">
                      <p:stCondLst>
                        <p:cond delay="indefinite"/>
                      </p:stCondLst>
                      <p:childTnLst>
                        <p:par>
                          <p:cTn id="874" fill="hold">
                            <p:stCondLst>
                              <p:cond delay="0"/>
                            </p:stCondLst>
                            <p:childTnLst>
                              <p:par>
                                <p:cTn id="875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-3.7037E-006 L -0.0013 -0.71435 E">
                                      <p:cBhvr>
                                        <p:cTn id="876" dur="2000" fill="hold"/>
                                        <p:tgtEl>
                                          <p:spTgt spid="18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1" name="Group 371"/>
          <p:cNvGrpSpPr/>
          <p:nvPr/>
        </p:nvGrpSpPr>
        <p:grpSpPr>
          <a:xfrm>
            <a:off x="2827800" y="1130760"/>
            <a:ext cx="1546920" cy="2620080"/>
            <a:chOff x="2827800" y="1130760"/>
            <a:chExt cx="1546920" cy="2620080"/>
          </a:xfrm>
        </p:grpSpPr>
        <p:sp>
          <p:nvSpPr>
            <p:cNvPr id="1882" name="Freeform 372"/>
            <p:cNvSpPr/>
            <p:nvPr/>
          </p:nvSpPr>
          <p:spPr>
            <a:xfrm>
              <a:off x="3922920" y="1160280"/>
              <a:ext cx="451800" cy="2388960"/>
            </a:xfrm>
            <a:custGeom>
              <a:avLst/>
              <a:gdLst>
                <a:gd name="textAreaLeft" fmla="*/ 0 w 451800"/>
                <a:gd name="textAreaRight" fmla="*/ 452160 w 451800"/>
                <a:gd name="textAreaTop" fmla="*/ 0 h 2388960"/>
                <a:gd name="textAreaBottom" fmla="*/ 2389320 h 2388960"/>
                <a:gd name="GluePoint1X" fmla="*/ 0 w 452284"/>
                <a:gd name="GluePoint1Y" fmla="*/ 0 h 2389239"/>
                <a:gd name="GluePoint2X" fmla="*/ 452284 w 452284"/>
                <a:gd name="GluePoint2Y" fmla="*/ 904568 h 2389239"/>
                <a:gd name="GluePoint3X" fmla="*/ 452284 w 452284"/>
                <a:gd name="GluePoint3Y" fmla="*/ 1052052 h 2389239"/>
                <a:gd name="GluePoint4X" fmla="*/ 9833 w 452284"/>
                <a:gd name="GluePoint4Y" fmla="*/ 2389239 h 2389239"/>
                <a:gd name="GluePoint5X" fmla="*/ 0 w 452284"/>
                <a:gd name="GluePoint5Y" fmla="*/ 0 h 238923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883" name="Group 373"/>
            <p:cNvGrpSpPr/>
            <p:nvPr/>
          </p:nvGrpSpPr>
          <p:grpSpPr>
            <a:xfrm>
              <a:off x="2827800" y="1130760"/>
              <a:ext cx="1172520" cy="2620080"/>
              <a:chOff x="2827800" y="1130760"/>
              <a:chExt cx="1172520" cy="2620080"/>
            </a:xfrm>
          </p:grpSpPr>
          <p:sp>
            <p:nvSpPr>
              <p:cNvPr id="1884" name="Rectangle 374"/>
              <p:cNvSpPr/>
              <p:nvPr/>
            </p:nvSpPr>
            <p:spPr>
              <a:xfrm>
                <a:off x="2831760" y="1130760"/>
                <a:ext cx="1110600" cy="2418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1885" name="Group 375"/>
              <p:cNvGrpSpPr/>
              <p:nvPr/>
            </p:nvGrpSpPr>
            <p:grpSpPr>
              <a:xfrm>
                <a:off x="2827800" y="1135080"/>
                <a:ext cx="1172520" cy="2615760"/>
                <a:chOff x="2827800" y="1135080"/>
                <a:chExt cx="1172520" cy="2615760"/>
              </a:xfrm>
            </p:grpSpPr>
            <p:sp>
              <p:nvSpPr>
                <p:cNvPr id="1886" name="Rectangle 376"/>
                <p:cNvSpPr/>
                <p:nvPr/>
              </p:nvSpPr>
              <p:spPr>
                <a:xfrm>
                  <a:off x="2836080" y="1139400"/>
                  <a:ext cx="111672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887" name="TextBox 377"/>
                <p:cNvSpPr/>
                <p:nvPr/>
              </p:nvSpPr>
              <p:spPr>
                <a:xfrm>
                  <a:off x="2883600" y="1135080"/>
                  <a:ext cx="1116720" cy="26157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</a:pPr>
                  <a:r>
                    <a:rPr b="0" lang="en-US" sz="2000" strike="noStrike" u="non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a: 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(a)=0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(b) = 8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1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a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1888" name="Straight Connector 378"/>
                <p:cNvCxnSpPr/>
                <p:nvPr/>
              </p:nvCxnSpPr>
              <p:spPr>
                <a:xfrm>
                  <a:off x="2827800" y="1509480"/>
                  <a:ext cx="112428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1889" name="Rectangle 379"/>
                <p:cNvSpPr/>
                <p:nvPr/>
              </p:nvSpPr>
              <p:spPr>
                <a:xfrm>
                  <a:off x="2830320" y="1139400"/>
                  <a:ext cx="1122480" cy="258912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sp>
        <p:nvSpPr>
          <p:cNvPr id="1890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526896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00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Distance vector example: computation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1" name="PlaceHolder 2"/>
          <p:cNvSpPr>
            <a:spLocks noGrp="1"/>
          </p:cNvSpPr>
          <p:nvPr>
            <p:ph type="sldNum" idx="76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4C05841C-7519-4508-8899-1B4EB829C194}" type="slidenum"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892" name="Straight Connector 81"/>
          <p:cNvCxnSpPr>
            <a:stCxn id="1893" idx="2"/>
            <a:endCxn id="1893" idx="0"/>
          </p:cNvCxnSpPr>
          <p:nvPr/>
        </p:nvCxnSpPr>
        <p:spPr>
          <a:xfrm flipV="1">
            <a:off x="6530040" y="2129040"/>
            <a:ext cx="360" cy="38631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94" name="Straight Connector 95"/>
          <p:cNvCxnSpPr>
            <a:stCxn id="1893" idx="1"/>
            <a:endCxn id="1893" idx="3"/>
          </p:cNvCxnSpPr>
          <p:nvPr/>
        </p:nvCxnSpPr>
        <p:spPr>
          <a:xfrm>
            <a:off x="4598640" y="4060440"/>
            <a:ext cx="386316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1893" name="Rectangle 75"/>
          <p:cNvSpPr/>
          <p:nvPr/>
        </p:nvSpPr>
        <p:spPr>
          <a:xfrm>
            <a:off x="4598640" y="2129040"/>
            <a:ext cx="3862800" cy="38628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5" name="Rectangle 149"/>
          <p:cNvSpPr/>
          <p:nvPr/>
        </p:nvSpPr>
        <p:spPr>
          <a:xfrm>
            <a:off x="8380440" y="2200320"/>
            <a:ext cx="132120" cy="185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896" name="Group 1033"/>
          <p:cNvGrpSpPr/>
          <p:nvPr/>
        </p:nvGrpSpPr>
        <p:grpSpPr>
          <a:xfrm>
            <a:off x="4333680" y="5772240"/>
            <a:ext cx="4395600" cy="404280"/>
            <a:chOff x="4333680" y="5772240"/>
            <a:chExt cx="4395600" cy="404280"/>
          </a:xfrm>
        </p:grpSpPr>
        <p:grpSp>
          <p:nvGrpSpPr>
            <p:cNvPr id="1897" name="Group 183"/>
            <p:cNvGrpSpPr/>
            <p:nvPr/>
          </p:nvGrpSpPr>
          <p:grpSpPr>
            <a:xfrm>
              <a:off x="4333680" y="5772240"/>
              <a:ext cx="532080" cy="368640"/>
              <a:chOff x="4333680" y="5772240"/>
              <a:chExt cx="532080" cy="368640"/>
            </a:xfrm>
          </p:grpSpPr>
          <p:grpSp>
            <p:nvGrpSpPr>
              <p:cNvPr id="1898" name="Group 204"/>
              <p:cNvGrpSpPr/>
              <p:nvPr/>
            </p:nvGrpSpPr>
            <p:grpSpPr>
              <a:xfrm>
                <a:off x="4333680" y="5842800"/>
                <a:ext cx="532080" cy="271440"/>
                <a:chOff x="4333680" y="5842800"/>
                <a:chExt cx="532080" cy="271440"/>
              </a:xfrm>
            </p:grpSpPr>
            <p:sp>
              <p:nvSpPr>
                <p:cNvPr id="1899" name="Oval 5"/>
                <p:cNvSpPr/>
                <p:nvPr/>
              </p:nvSpPr>
              <p:spPr>
                <a:xfrm>
                  <a:off x="4338720" y="5964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00" name="Line 6"/>
                <p:cNvSpPr/>
                <p:nvPr/>
              </p:nvSpPr>
              <p:spPr>
                <a:xfrm>
                  <a:off x="433872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01" name="Line 7"/>
                <p:cNvSpPr/>
                <p:nvPr/>
              </p:nvSpPr>
              <p:spPr>
                <a:xfrm>
                  <a:off x="486540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02" name="Rectangle 8"/>
                <p:cNvSpPr/>
                <p:nvPr/>
              </p:nvSpPr>
              <p:spPr>
                <a:xfrm>
                  <a:off x="4338720" y="5951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03" name="Oval 9"/>
                <p:cNvSpPr/>
                <p:nvPr/>
              </p:nvSpPr>
              <p:spPr>
                <a:xfrm>
                  <a:off x="4333680" y="5842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904" name="Group 44"/>
              <p:cNvGrpSpPr/>
              <p:nvPr/>
            </p:nvGrpSpPr>
            <p:grpSpPr>
              <a:xfrm>
                <a:off x="4429080" y="5772240"/>
                <a:ext cx="312480" cy="368640"/>
                <a:chOff x="4429080" y="5772240"/>
                <a:chExt cx="312480" cy="368640"/>
              </a:xfrm>
            </p:grpSpPr>
            <p:sp>
              <p:nvSpPr>
                <p:cNvPr id="1905" name="Rectangle 45"/>
                <p:cNvSpPr/>
                <p:nvPr/>
              </p:nvSpPr>
              <p:spPr>
                <a:xfrm>
                  <a:off x="4481280" y="5891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06" name="Text Box 46"/>
                <p:cNvSpPr/>
                <p:nvPr/>
              </p:nvSpPr>
              <p:spPr>
                <a:xfrm>
                  <a:off x="4429080" y="577224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g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907" name="Group 184"/>
            <p:cNvGrpSpPr/>
            <p:nvPr/>
          </p:nvGrpSpPr>
          <p:grpSpPr>
            <a:xfrm>
              <a:off x="6264000" y="5807880"/>
              <a:ext cx="532080" cy="368640"/>
              <a:chOff x="6264000" y="5807880"/>
              <a:chExt cx="532080" cy="368640"/>
            </a:xfrm>
          </p:grpSpPr>
          <p:grpSp>
            <p:nvGrpSpPr>
              <p:cNvPr id="1908" name="Group 195"/>
              <p:cNvGrpSpPr/>
              <p:nvPr/>
            </p:nvGrpSpPr>
            <p:grpSpPr>
              <a:xfrm>
                <a:off x="6264000" y="5850360"/>
                <a:ext cx="532080" cy="271440"/>
                <a:chOff x="6264000" y="5850360"/>
                <a:chExt cx="532080" cy="271440"/>
              </a:xfrm>
            </p:grpSpPr>
            <p:sp>
              <p:nvSpPr>
                <p:cNvPr id="1909" name="Oval 5"/>
                <p:cNvSpPr/>
                <p:nvPr/>
              </p:nvSpPr>
              <p:spPr>
                <a:xfrm>
                  <a:off x="6269040" y="59724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10" name="Line 6"/>
                <p:cNvSpPr/>
                <p:nvPr/>
              </p:nvSpPr>
              <p:spPr>
                <a:xfrm>
                  <a:off x="626868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11" name="Line 7"/>
                <p:cNvSpPr/>
                <p:nvPr/>
              </p:nvSpPr>
              <p:spPr>
                <a:xfrm>
                  <a:off x="679572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12" name="Rectangle 8"/>
                <p:cNvSpPr/>
                <p:nvPr/>
              </p:nvSpPr>
              <p:spPr>
                <a:xfrm>
                  <a:off x="6269040" y="59594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13" name="Oval 9"/>
                <p:cNvSpPr/>
                <p:nvPr/>
              </p:nvSpPr>
              <p:spPr>
                <a:xfrm>
                  <a:off x="6264000" y="58503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914" name="Group 44"/>
              <p:cNvGrpSpPr/>
              <p:nvPr/>
            </p:nvGrpSpPr>
            <p:grpSpPr>
              <a:xfrm>
                <a:off x="6359040" y="5807880"/>
                <a:ext cx="312480" cy="368640"/>
                <a:chOff x="6359040" y="5807880"/>
                <a:chExt cx="312480" cy="368640"/>
              </a:xfrm>
            </p:grpSpPr>
            <p:sp>
              <p:nvSpPr>
                <p:cNvPr id="1915" name="Rectangle 45"/>
                <p:cNvSpPr/>
                <p:nvPr/>
              </p:nvSpPr>
              <p:spPr>
                <a:xfrm>
                  <a:off x="6411600" y="58986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16" name="Text Box 46"/>
                <p:cNvSpPr/>
                <p:nvPr/>
              </p:nvSpPr>
              <p:spPr>
                <a:xfrm>
                  <a:off x="6359040" y="580788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917" name="Group 185"/>
            <p:cNvGrpSpPr/>
            <p:nvPr/>
          </p:nvGrpSpPr>
          <p:grpSpPr>
            <a:xfrm>
              <a:off x="8197200" y="5805360"/>
              <a:ext cx="532080" cy="368640"/>
              <a:chOff x="8197200" y="5805360"/>
              <a:chExt cx="532080" cy="368640"/>
            </a:xfrm>
          </p:grpSpPr>
          <p:grpSp>
            <p:nvGrpSpPr>
              <p:cNvPr id="1918" name="Group 186"/>
              <p:cNvGrpSpPr/>
              <p:nvPr/>
            </p:nvGrpSpPr>
            <p:grpSpPr>
              <a:xfrm>
                <a:off x="8197200" y="5847840"/>
                <a:ext cx="532080" cy="271440"/>
                <a:chOff x="8197200" y="5847840"/>
                <a:chExt cx="532080" cy="271440"/>
              </a:xfrm>
            </p:grpSpPr>
            <p:sp>
              <p:nvSpPr>
                <p:cNvPr id="1919" name="Oval 5"/>
                <p:cNvSpPr/>
                <p:nvPr/>
              </p:nvSpPr>
              <p:spPr>
                <a:xfrm>
                  <a:off x="8202240" y="596988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20" name="Line 6"/>
                <p:cNvSpPr/>
                <p:nvPr/>
              </p:nvSpPr>
              <p:spPr>
                <a:xfrm>
                  <a:off x="820224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21" name="Line 7"/>
                <p:cNvSpPr/>
                <p:nvPr/>
              </p:nvSpPr>
              <p:spPr>
                <a:xfrm>
                  <a:off x="872892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22" name="Rectangle 8"/>
                <p:cNvSpPr/>
                <p:nvPr/>
              </p:nvSpPr>
              <p:spPr>
                <a:xfrm>
                  <a:off x="8202240" y="595692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23" name="Oval 9"/>
                <p:cNvSpPr/>
                <p:nvPr/>
              </p:nvSpPr>
              <p:spPr>
                <a:xfrm>
                  <a:off x="8197200" y="584784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924" name="Group 44"/>
              <p:cNvGrpSpPr/>
              <p:nvPr/>
            </p:nvGrpSpPr>
            <p:grpSpPr>
              <a:xfrm>
                <a:off x="8331120" y="5805360"/>
                <a:ext cx="235080" cy="368640"/>
                <a:chOff x="8331120" y="5805360"/>
                <a:chExt cx="235080" cy="368640"/>
              </a:xfrm>
            </p:grpSpPr>
            <p:sp>
              <p:nvSpPr>
                <p:cNvPr id="1925" name="Rectangle 45"/>
                <p:cNvSpPr/>
                <p:nvPr/>
              </p:nvSpPr>
              <p:spPr>
                <a:xfrm>
                  <a:off x="8344800" y="589608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26" name="Text Box 46"/>
                <p:cNvSpPr/>
                <p:nvPr/>
              </p:nvSpPr>
              <p:spPr>
                <a:xfrm>
                  <a:off x="8331120" y="5805360"/>
                  <a:ext cx="2350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i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1927" name="TextBox 214"/>
          <p:cNvSpPr/>
          <p:nvPr/>
        </p:nvSpPr>
        <p:spPr>
          <a:xfrm>
            <a:off x="4305960" y="287064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8" name="TextBox 215"/>
          <p:cNvSpPr/>
          <p:nvPr/>
        </p:nvSpPr>
        <p:spPr>
          <a:xfrm>
            <a:off x="6217560" y="286092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9" name="TextBox 216"/>
          <p:cNvSpPr/>
          <p:nvPr/>
        </p:nvSpPr>
        <p:spPr>
          <a:xfrm>
            <a:off x="4296240" y="488628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0" name="TextBox 217"/>
          <p:cNvSpPr/>
          <p:nvPr/>
        </p:nvSpPr>
        <p:spPr>
          <a:xfrm>
            <a:off x="6230880" y="488844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1" name="TextBox 218"/>
          <p:cNvSpPr/>
          <p:nvPr/>
        </p:nvSpPr>
        <p:spPr>
          <a:xfrm>
            <a:off x="8154360" y="489024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2" name="TextBox 220"/>
          <p:cNvSpPr/>
          <p:nvPr/>
        </p:nvSpPr>
        <p:spPr>
          <a:xfrm>
            <a:off x="5442120" y="402984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3" name="TextBox 221"/>
          <p:cNvSpPr/>
          <p:nvPr/>
        </p:nvSpPr>
        <p:spPr>
          <a:xfrm>
            <a:off x="7353720" y="402012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4" name="TextBox 222"/>
          <p:cNvSpPr/>
          <p:nvPr/>
        </p:nvSpPr>
        <p:spPr>
          <a:xfrm>
            <a:off x="5443920" y="595332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5" name="TextBox 223"/>
          <p:cNvSpPr/>
          <p:nvPr/>
        </p:nvSpPr>
        <p:spPr>
          <a:xfrm>
            <a:off x="7355880" y="594360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6" name="TextBox 224"/>
          <p:cNvSpPr/>
          <p:nvPr/>
        </p:nvSpPr>
        <p:spPr>
          <a:xfrm>
            <a:off x="5445720" y="212400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7" name="TextBox 225"/>
          <p:cNvSpPr/>
          <p:nvPr/>
        </p:nvSpPr>
        <p:spPr>
          <a:xfrm>
            <a:off x="7357680" y="211428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38" name="Group 158"/>
          <p:cNvGrpSpPr/>
          <p:nvPr/>
        </p:nvGrpSpPr>
        <p:grpSpPr>
          <a:xfrm>
            <a:off x="584280" y="1859040"/>
            <a:ext cx="735840" cy="1229040"/>
            <a:chOff x="584280" y="1859040"/>
            <a:chExt cx="735840" cy="1229040"/>
          </a:xfrm>
        </p:grpSpPr>
        <p:sp>
          <p:nvSpPr>
            <p:cNvPr id="1939" name="TextBox 159"/>
            <p:cNvSpPr/>
            <p:nvPr/>
          </p:nvSpPr>
          <p:spPr>
            <a:xfrm>
              <a:off x="584280" y="2503800"/>
              <a:ext cx="73584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32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t=1</a:t>
              </a: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0" name="Group 160"/>
            <p:cNvGrpSpPr/>
            <p:nvPr/>
          </p:nvGrpSpPr>
          <p:grpSpPr>
            <a:xfrm>
              <a:off x="588600" y="1859040"/>
              <a:ext cx="682560" cy="682560"/>
              <a:chOff x="588600" y="1859040"/>
              <a:chExt cx="682560" cy="682560"/>
            </a:xfrm>
          </p:grpSpPr>
          <p:sp>
            <p:nvSpPr>
              <p:cNvPr id="1941" name="Oval 161"/>
              <p:cNvSpPr/>
              <p:nvPr/>
            </p:nvSpPr>
            <p:spPr>
              <a:xfrm>
                <a:off x="593640" y="1863360"/>
                <a:ext cx="671040" cy="6710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1942" name="Straight Connector 162"/>
              <p:cNvCxnSpPr/>
              <p:nvPr/>
            </p:nvCxnSpPr>
            <p:spPr>
              <a:xfrm>
                <a:off x="926640" y="1859040"/>
                <a:ext cx="360" cy="604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943" name="Straight Connector 163"/>
              <p:cNvCxnSpPr/>
              <p:nvPr/>
            </p:nvCxnSpPr>
            <p:spPr>
              <a:xfrm>
                <a:off x="926640" y="2481120"/>
                <a:ext cx="360" cy="608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944" name="Straight Connector 164"/>
              <p:cNvCxnSpPr/>
              <p:nvPr/>
            </p:nvCxnSpPr>
            <p:spPr>
              <a:xfrm>
                <a:off x="588600" y="2200320"/>
                <a:ext cx="6048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945" name="Straight Connector 165"/>
              <p:cNvCxnSpPr/>
              <p:nvPr/>
            </p:nvCxnSpPr>
            <p:spPr>
              <a:xfrm>
                <a:off x="1210680" y="2200320"/>
                <a:ext cx="6084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946" name="Straight Connector 166"/>
              <p:cNvCxnSpPr/>
              <p:nvPr/>
            </p:nvCxnSpPr>
            <p:spPr>
              <a:xfrm>
                <a:off x="1077480" y="245124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947" name="Straight Connector 167"/>
              <p:cNvCxnSpPr/>
              <p:nvPr/>
            </p:nvCxnSpPr>
            <p:spPr>
              <a:xfrm>
                <a:off x="756720" y="190512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948" name="Straight Connector 168"/>
              <p:cNvCxnSpPr/>
              <p:nvPr/>
            </p:nvCxnSpPr>
            <p:spPr>
              <a:xfrm flipH="1">
                <a:off x="750240" y="244800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949" name="Straight Connector 169"/>
              <p:cNvCxnSpPr/>
              <p:nvPr/>
            </p:nvCxnSpPr>
            <p:spPr>
              <a:xfrm flipH="1">
                <a:off x="1071000" y="190188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950" name="Straight Connector 170"/>
              <p:cNvCxnSpPr/>
              <p:nvPr/>
            </p:nvCxnSpPr>
            <p:spPr>
              <a:xfrm flipH="1">
                <a:off x="1185480" y="202572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951" name="Straight Connector 171"/>
              <p:cNvCxnSpPr/>
              <p:nvPr/>
            </p:nvCxnSpPr>
            <p:spPr>
              <a:xfrm flipH="1">
                <a:off x="639360" y="234324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952" name="Straight Connector 172"/>
              <p:cNvCxnSpPr/>
              <p:nvPr/>
            </p:nvCxnSpPr>
            <p:spPr>
              <a:xfrm flipH="1" flipV="1">
                <a:off x="648720" y="2028960"/>
                <a:ext cx="3708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1953" name="Straight Connector 173"/>
              <p:cNvCxnSpPr/>
              <p:nvPr/>
            </p:nvCxnSpPr>
            <p:spPr>
              <a:xfrm flipH="1" flipV="1">
                <a:off x="1185480" y="234648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sp>
            <p:nvSpPr>
              <p:cNvPr id="1954" name="Oval 174"/>
              <p:cNvSpPr/>
              <p:nvPr/>
            </p:nvSpPr>
            <p:spPr>
              <a:xfrm>
                <a:off x="885600" y="2157480"/>
                <a:ext cx="82080" cy="867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16560" bIns="1656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cxnSp>
        <p:nvCxnSpPr>
          <p:cNvPr id="1955" name="Straight Connector 152"/>
          <p:cNvCxnSpPr/>
          <p:nvPr/>
        </p:nvCxnSpPr>
        <p:spPr>
          <a:xfrm>
            <a:off x="919440" y="1995840"/>
            <a:ext cx="360" cy="196200"/>
          </a:xfrm>
          <a:prstGeom prst="straightConnector1">
            <a:avLst/>
          </a:prstGeom>
          <a:ln w="25400">
            <a:solidFill>
              <a:srgbClr val="c00000"/>
            </a:solidFill>
          </a:ln>
        </p:spPr>
      </p:cxnSp>
      <p:sp>
        <p:nvSpPr>
          <p:cNvPr id="1956" name="Rectangle 153"/>
          <p:cNvSpPr/>
          <p:nvPr/>
        </p:nvSpPr>
        <p:spPr>
          <a:xfrm>
            <a:off x="6626880" y="275400"/>
            <a:ext cx="3037680" cy="628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957" name="Group 240"/>
          <p:cNvGrpSpPr/>
          <p:nvPr/>
        </p:nvGrpSpPr>
        <p:grpSpPr>
          <a:xfrm>
            <a:off x="6656400" y="235800"/>
            <a:ext cx="2492640" cy="1917360"/>
            <a:chOff x="6656400" y="235800"/>
            <a:chExt cx="2492640" cy="1917360"/>
          </a:xfrm>
        </p:grpSpPr>
        <p:sp>
          <p:nvSpPr>
            <p:cNvPr id="1958" name="Freeform 241"/>
            <p:cNvSpPr/>
            <p:nvPr/>
          </p:nvSpPr>
          <p:spPr>
            <a:xfrm>
              <a:off x="6656400" y="304920"/>
              <a:ext cx="2339640" cy="1848240"/>
            </a:xfrm>
            <a:custGeom>
              <a:avLst/>
              <a:gdLst>
                <a:gd name="textAreaLeft" fmla="*/ 0 w 2339640"/>
                <a:gd name="textAreaRight" fmla="*/ 2340000 w 2339640"/>
                <a:gd name="textAreaTop" fmla="*/ 0 h 1848240"/>
                <a:gd name="textAreaBottom" fmla="*/ 1848600 h 1848240"/>
                <a:gd name="GluePoint1X" fmla="*/ 0 w 2340077"/>
                <a:gd name="GluePoint1Y" fmla="*/ 1691148 h 1848464"/>
                <a:gd name="GluePoint2X" fmla="*/ 383458 w 2340077"/>
                <a:gd name="GluePoint2Y" fmla="*/ 0 h 1848464"/>
                <a:gd name="GluePoint3X" fmla="*/ 2340077 w 2340077"/>
                <a:gd name="GluePoint3Y" fmla="*/ 1386348 h 1848464"/>
                <a:gd name="GluePoint4X" fmla="*/ 137651 w 2340077"/>
                <a:gd name="GluePoint4Y" fmla="*/ 1848464 h 1848464"/>
                <a:gd name="GluePoint5X" fmla="*/ 0 w 2340077"/>
                <a:gd name="GluePoint5Y" fmla="*/ 1691148 h 18484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1959" name="Group 242"/>
            <p:cNvGrpSpPr/>
            <p:nvPr/>
          </p:nvGrpSpPr>
          <p:grpSpPr>
            <a:xfrm>
              <a:off x="6969960" y="235800"/>
              <a:ext cx="2179080" cy="1445040"/>
              <a:chOff x="6969960" y="235800"/>
              <a:chExt cx="2179080" cy="1445040"/>
            </a:xfrm>
          </p:grpSpPr>
          <p:sp>
            <p:nvSpPr>
              <p:cNvPr id="1960" name="Rectangle 243"/>
              <p:cNvSpPr/>
              <p:nvPr/>
            </p:nvSpPr>
            <p:spPr>
              <a:xfrm>
                <a:off x="7059600" y="235800"/>
                <a:ext cx="1936440" cy="1435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1961" name="Group 244"/>
              <p:cNvGrpSpPr/>
              <p:nvPr/>
            </p:nvGrpSpPr>
            <p:grpSpPr>
              <a:xfrm>
                <a:off x="6969960" y="248760"/>
                <a:ext cx="2179080" cy="1432080"/>
                <a:chOff x="6969960" y="248760"/>
                <a:chExt cx="2179080" cy="1432080"/>
              </a:xfrm>
            </p:grpSpPr>
            <p:sp>
              <p:nvSpPr>
                <p:cNvPr id="1962" name="Rectangle 245"/>
                <p:cNvSpPr/>
                <p:nvPr/>
              </p:nvSpPr>
              <p:spPr>
                <a:xfrm>
                  <a:off x="7056000" y="252720"/>
                  <a:ext cx="194004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963" name="TextBox 246"/>
                <p:cNvSpPr/>
                <p:nvPr/>
              </p:nvSpPr>
              <p:spPr>
                <a:xfrm>
                  <a:off x="7445880" y="248760"/>
                  <a:ext cx="1116720" cy="399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b="0" lang="en-US" sz="2000" strike="noStrike" u="non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b:</a:t>
                  </a: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1964" name="Straight Connector 247"/>
                <p:cNvCxnSpPr/>
                <p:nvPr/>
              </p:nvCxnSpPr>
              <p:spPr>
                <a:xfrm>
                  <a:off x="7047720" y="622800"/>
                  <a:ext cx="112428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1965" name="Rectangle 248"/>
                <p:cNvSpPr/>
                <p:nvPr/>
              </p:nvSpPr>
              <p:spPr>
                <a:xfrm>
                  <a:off x="7050240" y="252720"/>
                  <a:ext cx="1936080" cy="142812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966" name="TextBox 249"/>
                <p:cNvSpPr/>
                <p:nvPr/>
              </p:nvSpPr>
              <p:spPr>
                <a:xfrm>
                  <a:off x="8038440" y="688320"/>
                  <a:ext cx="1110600" cy="9784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67" name="TextBox 250"/>
                <p:cNvSpPr/>
                <p:nvPr/>
              </p:nvSpPr>
              <p:spPr>
                <a:xfrm>
                  <a:off x="6969960" y="685080"/>
                  <a:ext cx="1116720" cy="9784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 = 8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1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1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1968" name="TextBox 280"/>
          <p:cNvSpPr/>
          <p:nvPr/>
        </p:nvSpPr>
        <p:spPr>
          <a:xfrm flipH="1">
            <a:off x="348480" y="3079080"/>
            <a:ext cx="219528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9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 receives DVs from 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9" name="Right Arrow 344"/>
          <p:cNvSpPr/>
          <p:nvPr/>
        </p:nvSpPr>
        <p:spPr>
          <a:xfrm rot="16200000">
            <a:off x="6346800" y="340740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0" name="Right Arrow 355"/>
          <p:cNvSpPr/>
          <p:nvPr/>
        </p:nvSpPr>
        <p:spPr>
          <a:xfrm>
            <a:off x="4973400" y="19378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1" name="Right Arrow 356"/>
          <p:cNvSpPr/>
          <p:nvPr/>
        </p:nvSpPr>
        <p:spPr>
          <a:xfrm rot="10800000">
            <a:off x="7632000" y="192024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972" name="Group 313"/>
          <p:cNvGrpSpPr/>
          <p:nvPr/>
        </p:nvGrpSpPr>
        <p:grpSpPr>
          <a:xfrm>
            <a:off x="4333680" y="1906200"/>
            <a:ext cx="4395600" cy="403920"/>
            <a:chOff x="4333680" y="1906200"/>
            <a:chExt cx="4395600" cy="403920"/>
          </a:xfrm>
        </p:grpSpPr>
        <p:grpSp>
          <p:nvGrpSpPr>
            <p:cNvPr id="1973" name="Group 314"/>
            <p:cNvGrpSpPr/>
            <p:nvPr/>
          </p:nvGrpSpPr>
          <p:grpSpPr>
            <a:xfrm>
              <a:off x="4333680" y="1906200"/>
              <a:ext cx="532080" cy="368640"/>
              <a:chOff x="4333680" y="1906200"/>
              <a:chExt cx="532080" cy="368640"/>
            </a:xfrm>
          </p:grpSpPr>
          <p:grpSp>
            <p:nvGrpSpPr>
              <p:cNvPr id="1974" name="Group 335"/>
              <p:cNvGrpSpPr/>
              <p:nvPr/>
            </p:nvGrpSpPr>
            <p:grpSpPr>
              <a:xfrm>
                <a:off x="4333680" y="1976760"/>
                <a:ext cx="532080" cy="271440"/>
                <a:chOff x="4333680" y="1976760"/>
                <a:chExt cx="532080" cy="271440"/>
              </a:xfrm>
            </p:grpSpPr>
            <p:sp>
              <p:nvSpPr>
                <p:cNvPr id="1975" name="Oval 5"/>
                <p:cNvSpPr/>
                <p:nvPr/>
              </p:nvSpPr>
              <p:spPr>
                <a:xfrm>
                  <a:off x="4338720" y="20988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76" name="Line 6"/>
                <p:cNvSpPr/>
                <p:nvPr/>
              </p:nvSpPr>
              <p:spPr>
                <a:xfrm>
                  <a:off x="433872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77" name="Line 7"/>
                <p:cNvSpPr/>
                <p:nvPr/>
              </p:nvSpPr>
              <p:spPr>
                <a:xfrm>
                  <a:off x="486540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78" name="Rectangle 8"/>
                <p:cNvSpPr/>
                <p:nvPr/>
              </p:nvSpPr>
              <p:spPr>
                <a:xfrm>
                  <a:off x="4338720" y="20858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79" name="Oval 9"/>
                <p:cNvSpPr/>
                <p:nvPr/>
              </p:nvSpPr>
              <p:spPr>
                <a:xfrm>
                  <a:off x="4333680" y="1976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980" name="Group 44"/>
              <p:cNvGrpSpPr/>
              <p:nvPr/>
            </p:nvGrpSpPr>
            <p:grpSpPr>
              <a:xfrm>
                <a:off x="4429080" y="1906200"/>
                <a:ext cx="312480" cy="368640"/>
                <a:chOff x="4429080" y="1906200"/>
                <a:chExt cx="312480" cy="368640"/>
              </a:xfrm>
            </p:grpSpPr>
            <p:sp>
              <p:nvSpPr>
                <p:cNvPr id="1981" name="Rectangle 45"/>
                <p:cNvSpPr/>
                <p:nvPr/>
              </p:nvSpPr>
              <p:spPr>
                <a:xfrm>
                  <a:off x="4481280" y="2025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82" name="Text Box 46"/>
                <p:cNvSpPr/>
                <p:nvPr/>
              </p:nvSpPr>
              <p:spPr>
                <a:xfrm>
                  <a:off x="4429080" y="190620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983" name="Group 315"/>
            <p:cNvGrpSpPr/>
            <p:nvPr/>
          </p:nvGrpSpPr>
          <p:grpSpPr>
            <a:xfrm>
              <a:off x="6264000" y="1941480"/>
              <a:ext cx="532080" cy="368640"/>
              <a:chOff x="6264000" y="1941480"/>
              <a:chExt cx="532080" cy="368640"/>
            </a:xfrm>
          </p:grpSpPr>
          <p:grpSp>
            <p:nvGrpSpPr>
              <p:cNvPr id="1984" name="Group 326"/>
              <p:cNvGrpSpPr/>
              <p:nvPr/>
            </p:nvGrpSpPr>
            <p:grpSpPr>
              <a:xfrm>
                <a:off x="6264000" y="1984320"/>
                <a:ext cx="532080" cy="271440"/>
                <a:chOff x="6264000" y="1984320"/>
                <a:chExt cx="532080" cy="271440"/>
              </a:xfrm>
            </p:grpSpPr>
            <p:sp>
              <p:nvSpPr>
                <p:cNvPr id="1985" name="Oval 5"/>
                <p:cNvSpPr/>
                <p:nvPr/>
              </p:nvSpPr>
              <p:spPr>
                <a:xfrm>
                  <a:off x="6269040" y="21063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86" name="Line 6"/>
                <p:cNvSpPr/>
                <p:nvPr/>
              </p:nvSpPr>
              <p:spPr>
                <a:xfrm>
                  <a:off x="626868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87" name="Line 7"/>
                <p:cNvSpPr/>
                <p:nvPr/>
              </p:nvSpPr>
              <p:spPr>
                <a:xfrm>
                  <a:off x="679572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88" name="Rectangle 8"/>
                <p:cNvSpPr/>
                <p:nvPr/>
              </p:nvSpPr>
              <p:spPr>
                <a:xfrm>
                  <a:off x="6269040" y="20934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89" name="Oval 9"/>
                <p:cNvSpPr/>
                <p:nvPr/>
              </p:nvSpPr>
              <p:spPr>
                <a:xfrm>
                  <a:off x="6264000" y="198432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1990" name="Group 44"/>
              <p:cNvGrpSpPr/>
              <p:nvPr/>
            </p:nvGrpSpPr>
            <p:grpSpPr>
              <a:xfrm>
                <a:off x="6359040" y="1941480"/>
                <a:ext cx="312480" cy="368640"/>
                <a:chOff x="6359040" y="1941480"/>
                <a:chExt cx="312480" cy="368640"/>
              </a:xfrm>
            </p:grpSpPr>
            <p:sp>
              <p:nvSpPr>
                <p:cNvPr id="1991" name="Rectangle 45"/>
                <p:cNvSpPr/>
                <p:nvPr/>
              </p:nvSpPr>
              <p:spPr>
                <a:xfrm>
                  <a:off x="6411600" y="203256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92" name="Text Box 46"/>
                <p:cNvSpPr/>
                <p:nvPr/>
              </p:nvSpPr>
              <p:spPr>
                <a:xfrm>
                  <a:off x="6359040" y="194148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b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993" name="Group 316"/>
            <p:cNvGrpSpPr/>
            <p:nvPr/>
          </p:nvGrpSpPr>
          <p:grpSpPr>
            <a:xfrm>
              <a:off x="8197200" y="1938960"/>
              <a:ext cx="532080" cy="368640"/>
              <a:chOff x="8197200" y="1938960"/>
              <a:chExt cx="532080" cy="368640"/>
            </a:xfrm>
          </p:grpSpPr>
          <p:grpSp>
            <p:nvGrpSpPr>
              <p:cNvPr id="1994" name="Group 317"/>
              <p:cNvGrpSpPr/>
              <p:nvPr/>
            </p:nvGrpSpPr>
            <p:grpSpPr>
              <a:xfrm>
                <a:off x="8197200" y="1981800"/>
                <a:ext cx="532080" cy="271440"/>
                <a:chOff x="8197200" y="1981800"/>
                <a:chExt cx="532080" cy="271440"/>
              </a:xfrm>
            </p:grpSpPr>
            <p:sp>
              <p:nvSpPr>
                <p:cNvPr id="1995" name="Oval 5"/>
                <p:cNvSpPr/>
                <p:nvPr/>
              </p:nvSpPr>
              <p:spPr>
                <a:xfrm>
                  <a:off x="8202240" y="2103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96" name="Line 6"/>
                <p:cNvSpPr/>
                <p:nvPr/>
              </p:nvSpPr>
              <p:spPr>
                <a:xfrm>
                  <a:off x="820224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97" name="Line 7"/>
                <p:cNvSpPr/>
                <p:nvPr/>
              </p:nvSpPr>
              <p:spPr>
                <a:xfrm>
                  <a:off x="872892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98" name="Rectangle 8"/>
                <p:cNvSpPr/>
                <p:nvPr/>
              </p:nvSpPr>
              <p:spPr>
                <a:xfrm>
                  <a:off x="8202240" y="2090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1999" name="Oval 9"/>
                <p:cNvSpPr/>
                <p:nvPr/>
              </p:nvSpPr>
              <p:spPr>
                <a:xfrm>
                  <a:off x="8197200" y="1981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000" name="Group 44"/>
              <p:cNvGrpSpPr/>
              <p:nvPr/>
            </p:nvGrpSpPr>
            <p:grpSpPr>
              <a:xfrm>
                <a:off x="8299440" y="1938960"/>
                <a:ext cx="299880" cy="368640"/>
                <a:chOff x="8299440" y="1938960"/>
                <a:chExt cx="299880" cy="368640"/>
              </a:xfrm>
            </p:grpSpPr>
            <p:sp>
              <p:nvSpPr>
                <p:cNvPr id="2001" name="Rectangle 45"/>
                <p:cNvSpPr/>
                <p:nvPr/>
              </p:nvSpPr>
              <p:spPr>
                <a:xfrm>
                  <a:off x="8344800" y="2030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02" name="Text Box 46"/>
                <p:cNvSpPr/>
                <p:nvPr/>
              </p:nvSpPr>
              <p:spPr>
                <a:xfrm>
                  <a:off x="8299440" y="1938960"/>
                  <a:ext cx="2998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2003" name="Group 282"/>
          <p:cNvGrpSpPr/>
          <p:nvPr/>
        </p:nvGrpSpPr>
        <p:grpSpPr>
          <a:xfrm>
            <a:off x="4336560" y="3833640"/>
            <a:ext cx="4395600" cy="404280"/>
            <a:chOff x="4336560" y="3833640"/>
            <a:chExt cx="4395600" cy="404280"/>
          </a:xfrm>
        </p:grpSpPr>
        <p:grpSp>
          <p:nvGrpSpPr>
            <p:cNvPr id="2004" name="Group 283"/>
            <p:cNvGrpSpPr/>
            <p:nvPr/>
          </p:nvGrpSpPr>
          <p:grpSpPr>
            <a:xfrm>
              <a:off x="4336560" y="3833640"/>
              <a:ext cx="531720" cy="368640"/>
              <a:chOff x="4336560" y="3833640"/>
              <a:chExt cx="531720" cy="368640"/>
            </a:xfrm>
          </p:grpSpPr>
          <p:grpSp>
            <p:nvGrpSpPr>
              <p:cNvPr id="2005" name="Group 304"/>
              <p:cNvGrpSpPr/>
              <p:nvPr/>
            </p:nvGrpSpPr>
            <p:grpSpPr>
              <a:xfrm>
                <a:off x="4336560" y="3904200"/>
                <a:ext cx="531720" cy="271800"/>
                <a:chOff x="4336560" y="3904200"/>
                <a:chExt cx="531720" cy="271800"/>
              </a:xfrm>
            </p:grpSpPr>
            <p:sp>
              <p:nvSpPr>
                <p:cNvPr id="2006" name="Oval 5"/>
                <p:cNvSpPr/>
                <p:nvPr/>
              </p:nvSpPr>
              <p:spPr>
                <a:xfrm>
                  <a:off x="4341600" y="40266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07" name="Line 6"/>
                <p:cNvSpPr/>
                <p:nvPr/>
              </p:nvSpPr>
              <p:spPr>
                <a:xfrm>
                  <a:off x="434124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08" name="Line 7"/>
                <p:cNvSpPr/>
                <p:nvPr/>
              </p:nvSpPr>
              <p:spPr>
                <a:xfrm>
                  <a:off x="486792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09" name="Rectangle 8"/>
                <p:cNvSpPr/>
                <p:nvPr/>
              </p:nvSpPr>
              <p:spPr>
                <a:xfrm>
                  <a:off x="4341600" y="40136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10" name="Oval 9"/>
                <p:cNvSpPr/>
                <p:nvPr/>
              </p:nvSpPr>
              <p:spPr>
                <a:xfrm>
                  <a:off x="4336560" y="39042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011" name="Group 44"/>
              <p:cNvGrpSpPr/>
              <p:nvPr/>
            </p:nvGrpSpPr>
            <p:grpSpPr>
              <a:xfrm>
                <a:off x="4431600" y="3833640"/>
                <a:ext cx="312480" cy="368640"/>
                <a:chOff x="4431600" y="3833640"/>
                <a:chExt cx="312480" cy="368640"/>
              </a:xfrm>
            </p:grpSpPr>
            <p:sp>
              <p:nvSpPr>
                <p:cNvPr id="2012" name="Rectangle 45"/>
                <p:cNvSpPr/>
                <p:nvPr/>
              </p:nvSpPr>
              <p:spPr>
                <a:xfrm>
                  <a:off x="4483800" y="39524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13" name="Text Box 46"/>
                <p:cNvSpPr/>
                <p:nvPr/>
              </p:nvSpPr>
              <p:spPr>
                <a:xfrm>
                  <a:off x="4431600" y="383364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014" name="Group 284"/>
            <p:cNvGrpSpPr/>
            <p:nvPr/>
          </p:nvGrpSpPr>
          <p:grpSpPr>
            <a:xfrm>
              <a:off x="6266520" y="3869280"/>
              <a:ext cx="532080" cy="368640"/>
              <a:chOff x="6266520" y="3869280"/>
              <a:chExt cx="532080" cy="368640"/>
            </a:xfrm>
          </p:grpSpPr>
          <p:grpSp>
            <p:nvGrpSpPr>
              <p:cNvPr id="2015" name="Group 295"/>
              <p:cNvGrpSpPr/>
              <p:nvPr/>
            </p:nvGrpSpPr>
            <p:grpSpPr>
              <a:xfrm>
                <a:off x="6266520" y="3911760"/>
                <a:ext cx="532080" cy="271800"/>
                <a:chOff x="6266520" y="3911760"/>
                <a:chExt cx="532080" cy="271800"/>
              </a:xfrm>
            </p:grpSpPr>
            <p:sp>
              <p:nvSpPr>
                <p:cNvPr id="2016" name="Oval 5"/>
                <p:cNvSpPr/>
                <p:nvPr/>
              </p:nvSpPr>
              <p:spPr>
                <a:xfrm>
                  <a:off x="6271560" y="40341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17" name="Line 6"/>
                <p:cNvSpPr/>
                <p:nvPr/>
              </p:nvSpPr>
              <p:spPr>
                <a:xfrm>
                  <a:off x="627156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18" name="Line 7"/>
                <p:cNvSpPr/>
                <p:nvPr/>
              </p:nvSpPr>
              <p:spPr>
                <a:xfrm>
                  <a:off x="679824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19" name="Rectangle 8"/>
                <p:cNvSpPr/>
                <p:nvPr/>
              </p:nvSpPr>
              <p:spPr>
                <a:xfrm>
                  <a:off x="6271560" y="40212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20" name="Oval 9"/>
                <p:cNvSpPr/>
                <p:nvPr/>
              </p:nvSpPr>
              <p:spPr>
                <a:xfrm>
                  <a:off x="6266520" y="3911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021" name="Group 44"/>
              <p:cNvGrpSpPr/>
              <p:nvPr/>
            </p:nvGrpSpPr>
            <p:grpSpPr>
              <a:xfrm>
                <a:off x="6361920" y="3869280"/>
                <a:ext cx="312480" cy="368640"/>
                <a:chOff x="6361920" y="3869280"/>
                <a:chExt cx="312480" cy="368640"/>
              </a:xfrm>
            </p:grpSpPr>
            <p:sp>
              <p:nvSpPr>
                <p:cNvPr id="2022" name="Rectangle 45"/>
                <p:cNvSpPr/>
                <p:nvPr/>
              </p:nvSpPr>
              <p:spPr>
                <a:xfrm>
                  <a:off x="6414120" y="3960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23" name="Text Box 46"/>
                <p:cNvSpPr/>
                <p:nvPr/>
              </p:nvSpPr>
              <p:spPr>
                <a:xfrm>
                  <a:off x="6361920" y="386928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e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024" name="Group 285"/>
            <p:cNvGrpSpPr/>
            <p:nvPr/>
          </p:nvGrpSpPr>
          <p:grpSpPr>
            <a:xfrm>
              <a:off x="8200080" y="3866760"/>
              <a:ext cx="532080" cy="368640"/>
              <a:chOff x="8200080" y="3866760"/>
              <a:chExt cx="532080" cy="368640"/>
            </a:xfrm>
          </p:grpSpPr>
          <p:grpSp>
            <p:nvGrpSpPr>
              <p:cNvPr id="2025" name="Group 286"/>
              <p:cNvGrpSpPr/>
              <p:nvPr/>
            </p:nvGrpSpPr>
            <p:grpSpPr>
              <a:xfrm>
                <a:off x="8200080" y="3909600"/>
                <a:ext cx="532080" cy="271440"/>
                <a:chOff x="8200080" y="3909600"/>
                <a:chExt cx="532080" cy="271440"/>
              </a:xfrm>
            </p:grpSpPr>
            <p:sp>
              <p:nvSpPr>
                <p:cNvPr id="2026" name="Oval 5"/>
                <p:cNvSpPr/>
                <p:nvPr/>
              </p:nvSpPr>
              <p:spPr>
                <a:xfrm>
                  <a:off x="8205120" y="40316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27" name="Line 6"/>
                <p:cNvSpPr/>
                <p:nvPr/>
              </p:nvSpPr>
              <p:spPr>
                <a:xfrm>
                  <a:off x="820476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28" name="Line 7"/>
                <p:cNvSpPr/>
                <p:nvPr/>
              </p:nvSpPr>
              <p:spPr>
                <a:xfrm>
                  <a:off x="873180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29" name="Rectangle 8"/>
                <p:cNvSpPr/>
                <p:nvPr/>
              </p:nvSpPr>
              <p:spPr>
                <a:xfrm>
                  <a:off x="8205120" y="40186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30" name="Oval 9"/>
                <p:cNvSpPr/>
                <p:nvPr/>
              </p:nvSpPr>
              <p:spPr>
                <a:xfrm>
                  <a:off x="8200080" y="39096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031" name="Group 44"/>
              <p:cNvGrpSpPr/>
              <p:nvPr/>
            </p:nvGrpSpPr>
            <p:grpSpPr>
              <a:xfrm>
                <a:off x="8326800" y="3866760"/>
                <a:ext cx="249120" cy="368640"/>
                <a:chOff x="8326800" y="3866760"/>
                <a:chExt cx="249120" cy="368640"/>
              </a:xfrm>
            </p:grpSpPr>
            <p:sp>
              <p:nvSpPr>
                <p:cNvPr id="2032" name="Rectangle 45"/>
                <p:cNvSpPr/>
                <p:nvPr/>
              </p:nvSpPr>
              <p:spPr>
                <a:xfrm>
                  <a:off x="8347680" y="39578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33" name="Text Box 46"/>
                <p:cNvSpPr/>
                <p:nvPr/>
              </p:nvSpPr>
              <p:spPr>
                <a:xfrm>
                  <a:off x="8326800" y="3866760"/>
                  <a:ext cx="24912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2034" name="Group 3"/>
          <p:cNvGrpSpPr/>
          <p:nvPr/>
        </p:nvGrpSpPr>
        <p:grpSpPr>
          <a:xfrm>
            <a:off x="8740800" y="219960"/>
            <a:ext cx="2044800" cy="2666880"/>
            <a:chOff x="8740800" y="219960"/>
            <a:chExt cx="2044800" cy="2666880"/>
          </a:xfrm>
        </p:grpSpPr>
        <p:sp>
          <p:nvSpPr>
            <p:cNvPr id="2035" name="Freeform 233"/>
            <p:cNvSpPr/>
            <p:nvPr/>
          </p:nvSpPr>
          <p:spPr>
            <a:xfrm>
              <a:off x="8740800" y="246960"/>
              <a:ext cx="923760" cy="2428200"/>
            </a:xfrm>
            <a:custGeom>
              <a:avLst/>
              <a:gdLst>
                <a:gd name="textAreaLeft" fmla="*/ 0 w 923760"/>
                <a:gd name="textAreaRight" fmla="*/ 924120 w 923760"/>
                <a:gd name="textAreaTop" fmla="*/ 0 h 2428200"/>
                <a:gd name="textAreaBottom" fmla="*/ 2428560 h 2428200"/>
                <a:gd name="GluePoint1X" fmla="*/ 1 w 1170039"/>
                <a:gd name="GluePoint1Y" fmla="*/ 1809135 h 2428567"/>
                <a:gd name="GluePoint2X" fmla="*/ 1160207 w 1170039"/>
                <a:gd name="GluePoint2Y" fmla="*/ 0 h 2428567"/>
                <a:gd name="GluePoint3X" fmla="*/ 1170039 w 1170039"/>
                <a:gd name="GluePoint3Y" fmla="*/ 2428567 h 2428567"/>
                <a:gd name="GluePoint4X" fmla="*/ 0 w 1170039"/>
                <a:gd name="GluePoint4Y" fmla="*/ 1946786 h 2428567"/>
                <a:gd name="GluePoint5X" fmla="*/ 1 w 1170039"/>
                <a:gd name="GluePoint5Y" fmla="*/ 1809135 h 24285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2036" name="Group 357"/>
            <p:cNvGrpSpPr/>
            <p:nvPr/>
          </p:nvGrpSpPr>
          <p:grpSpPr>
            <a:xfrm>
              <a:off x="9636480" y="219960"/>
              <a:ext cx="1149120" cy="2666880"/>
              <a:chOff x="9636480" y="219960"/>
              <a:chExt cx="1149120" cy="2666880"/>
            </a:xfrm>
          </p:grpSpPr>
          <p:sp>
            <p:nvSpPr>
              <p:cNvPr id="2037" name="Rectangle 358"/>
              <p:cNvSpPr/>
              <p:nvPr/>
            </p:nvSpPr>
            <p:spPr>
              <a:xfrm>
                <a:off x="9655200" y="219960"/>
                <a:ext cx="1130400" cy="24256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2038" name="Group 359"/>
              <p:cNvGrpSpPr/>
              <p:nvPr/>
            </p:nvGrpSpPr>
            <p:grpSpPr>
              <a:xfrm>
                <a:off x="9636480" y="219960"/>
                <a:ext cx="1130040" cy="2666880"/>
                <a:chOff x="9636480" y="219960"/>
                <a:chExt cx="1130040" cy="2666880"/>
              </a:xfrm>
            </p:grpSpPr>
            <p:sp>
              <p:nvSpPr>
                <p:cNvPr id="2039" name="Rectangle 360"/>
                <p:cNvSpPr/>
                <p:nvPr/>
              </p:nvSpPr>
              <p:spPr>
                <a:xfrm>
                  <a:off x="9649800" y="223920"/>
                  <a:ext cx="111672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2040" name="TextBox 361"/>
                <p:cNvSpPr/>
                <p:nvPr/>
              </p:nvSpPr>
              <p:spPr>
                <a:xfrm>
                  <a:off x="9636480" y="219960"/>
                  <a:ext cx="1087560" cy="2666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b="0" lang="en-US" sz="2000" strike="noStrike" u="non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c:</a:t>
                  </a: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 =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(b) = 1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 0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2041" name="Straight Connector 362"/>
                <p:cNvCxnSpPr/>
                <p:nvPr/>
              </p:nvCxnSpPr>
              <p:spPr>
                <a:xfrm>
                  <a:off x="9641520" y="594360"/>
                  <a:ext cx="112428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2042" name="Rectangle 363"/>
                <p:cNvSpPr/>
                <p:nvPr/>
              </p:nvSpPr>
              <p:spPr>
                <a:xfrm>
                  <a:off x="9644040" y="223920"/>
                  <a:ext cx="1122480" cy="262044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sp>
        <p:nvSpPr>
          <p:cNvPr id="2043" name="Freeform 182"/>
          <p:cNvSpPr/>
          <p:nvPr/>
        </p:nvSpPr>
        <p:spPr>
          <a:xfrm>
            <a:off x="6794280" y="3016440"/>
            <a:ext cx="2889360" cy="2634120"/>
          </a:xfrm>
          <a:custGeom>
            <a:avLst/>
            <a:gdLst>
              <a:gd name="textAreaLeft" fmla="*/ 0 w 2889360"/>
              <a:gd name="textAreaRight" fmla="*/ 2889720 w 2889360"/>
              <a:gd name="textAreaTop" fmla="*/ 0 h 2634120"/>
              <a:gd name="textAreaBottom" fmla="*/ 2634480 h 2634120"/>
              <a:gd name="GluePoint1X" fmla="*/ 10817 w 2889702"/>
              <a:gd name="GluePoint1Y" fmla="*/ 896701 h 2634390"/>
              <a:gd name="GluePoint2X" fmla="*/ 2869381 w 2889702"/>
              <a:gd name="GluePoint2Y" fmla="*/ 0 h 2634390"/>
              <a:gd name="GluePoint3X" fmla="*/ 2889702 w 2889702"/>
              <a:gd name="GluePoint3Y" fmla="*/ 2634390 h 2634390"/>
              <a:gd name="GluePoint4X" fmla="*/ 0 w 2889702"/>
              <a:gd name="GluePoint4Y" fmla="*/ 1094330 h 2634390"/>
              <a:gd name="GluePoint5X" fmla="*/ 10817 w 2889702"/>
              <a:gd name="GluePoint5Y" fmla="*/ 896701 h 263439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889702" h="2634390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 rotWithShape="0">
            <a:gsLst>
              <a:gs pos="0">
                <a:srgbClr val="f2f2f2"/>
              </a:gs>
              <a:gs pos="100000">
                <a:srgbClr val="bfbfb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044" name="Group 364"/>
          <p:cNvGrpSpPr/>
          <p:nvPr/>
        </p:nvGrpSpPr>
        <p:grpSpPr>
          <a:xfrm>
            <a:off x="9654480" y="3018240"/>
            <a:ext cx="1131120" cy="2674440"/>
            <a:chOff x="9654480" y="3018240"/>
            <a:chExt cx="1131120" cy="2674440"/>
          </a:xfrm>
        </p:grpSpPr>
        <p:sp>
          <p:nvSpPr>
            <p:cNvPr id="2045" name="Rectangle 365"/>
            <p:cNvSpPr/>
            <p:nvPr/>
          </p:nvSpPr>
          <p:spPr>
            <a:xfrm>
              <a:off x="9684720" y="3018240"/>
              <a:ext cx="1100880" cy="2388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2046" name="Group 366"/>
            <p:cNvGrpSpPr/>
            <p:nvPr/>
          </p:nvGrpSpPr>
          <p:grpSpPr>
            <a:xfrm>
              <a:off x="9654480" y="3025800"/>
              <a:ext cx="1130040" cy="2666880"/>
              <a:chOff x="9654480" y="3025800"/>
              <a:chExt cx="1130040" cy="2666880"/>
            </a:xfrm>
          </p:grpSpPr>
          <p:sp>
            <p:nvSpPr>
              <p:cNvPr id="2047" name="Rectangle 367"/>
              <p:cNvSpPr/>
              <p:nvPr/>
            </p:nvSpPr>
            <p:spPr>
              <a:xfrm>
                <a:off x="9667800" y="3029760"/>
                <a:ext cx="1116720" cy="370080"/>
              </a:xfrm>
              <a:prstGeom prst="rect">
                <a:avLst/>
              </a:prstGeom>
              <a:solidFill>
                <a:srgbClr val="4472c4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048" name="TextBox 368"/>
              <p:cNvSpPr/>
              <p:nvPr/>
            </p:nvSpPr>
            <p:spPr>
              <a:xfrm>
                <a:off x="9654480" y="3025800"/>
                <a:ext cx="1116720" cy="2666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Aft>
                    <a:spcPts val="400"/>
                  </a:spcAft>
                </a:pPr>
                <a:r>
                  <a:rPr b="0" lang="en-US" sz="20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rPr>
                  <a:t>DV in e: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(a) =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(b)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(c)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(d)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(e) = 0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(f)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(g)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(h)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e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(i)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2049" name="Straight Connector 369"/>
              <p:cNvCxnSpPr/>
              <p:nvPr/>
            </p:nvCxnSpPr>
            <p:spPr>
              <a:xfrm>
                <a:off x="9659880" y="3400200"/>
                <a:ext cx="112392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sp>
            <p:nvSpPr>
              <p:cNvPr id="2050" name="Rectangle 370"/>
              <p:cNvSpPr/>
              <p:nvPr/>
            </p:nvSpPr>
            <p:spPr>
              <a:xfrm>
                <a:off x="9662040" y="3029760"/>
                <a:ext cx="1122480" cy="261864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051" name="Right Arrow 175"/>
          <p:cNvSpPr/>
          <p:nvPr/>
        </p:nvSpPr>
        <p:spPr>
          <a:xfrm>
            <a:off x="6977520" y="19278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877" dur="indefinite" restart="never" nodeType="tmRoot">
          <p:childTnLst>
            <p:seq>
              <p:cTn id="878" dur="indefinite" nodeType="mainSeq"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83" dur="500"/>
                                        <p:tgtEl>
                                          <p:spTgt spid="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4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885" dur="500"/>
                                        <p:tgtEl>
                                          <p:spTgt spid="19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7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888" dur="500"/>
                                        <p:tgtEl>
                                          <p:spTgt spid="18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0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891" dur="500"/>
                                        <p:tgtEl>
                                          <p:spTgt spid="20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3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894" dur="500"/>
                                        <p:tgtEl>
                                          <p:spTgt spid="19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6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897" dur="500"/>
                                        <p:tgtEl>
                                          <p:spTgt spid="19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01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2" nodeType="withEffect" fill="hold" presetClass="exit" presetID="9">
                                  <p:stCondLst>
                                    <p:cond delay="0"/>
                                  </p:stCondLst>
                                  <p:childTnLst>
                                    <p:animEffect filter="dissolve" transition="out">
                                      <p:cBhvr additive="repl">
                                        <p:cTn id="903" dur="500"/>
                                        <p:tgtEl>
                                          <p:spTgt spid="20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543708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00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Distance vector example: computation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3" name="PlaceHolder 2"/>
          <p:cNvSpPr>
            <a:spLocks noGrp="1"/>
          </p:cNvSpPr>
          <p:nvPr>
            <p:ph type="sldNum" idx="77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C8DA5487-8808-49E9-8DFE-9A5F313577FD}" type="slidenum"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054" name="Straight Connector 81"/>
          <p:cNvCxnSpPr>
            <a:stCxn id="2055" idx="2"/>
            <a:endCxn id="2055" idx="0"/>
          </p:cNvCxnSpPr>
          <p:nvPr/>
        </p:nvCxnSpPr>
        <p:spPr>
          <a:xfrm flipV="1">
            <a:off x="6530040" y="2129040"/>
            <a:ext cx="360" cy="38631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2056" name="Straight Connector 95"/>
          <p:cNvCxnSpPr>
            <a:stCxn id="2055" idx="1"/>
            <a:endCxn id="2055" idx="3"/>
          </p:cNvCxnSpPr>
          <p:nvPr/>
        </p:nvCxnSpPr>
        <p:spPr>
          <a:xfrm>
            <a:off x="4598640" y="4060440"/>
            <a:ext cx="386316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2055" name="Rectangle 75"/>
          <p:cNvSpPr/>
          <p:nvPr/>
        </p:nvSpPr>
        <p:spPr>
          <a:xfrm>
            <a:off x="4598640" y="2129040"/>
            <a:ext cx="3862800" cy="38628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7" name="Rectangle 149"/>
          <p:cNvSpPr/>
          <p:nvPr/>
        </p:nvSpPr>
        <p:spPr>
          <a:xfrm>
            <a:off x="8380440" y="2220840"/>
            <a:ext cx="132120" cy="185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058" name="Group 1033"/>
          <p:cNvGrpSpPr/>
          <p:nvPr/>
        </p:nvGrpSpPr>
        <p:grpSpPr>
          <a:xfrm>
            <a:off x="4333680" y="5772240"/>
            <a:ext cx="4395600" cy="404280"/>
            <a:chOff x="4333680" y="5772240"/>
            <a:chExt cx="4395600" cy="404280"/>
          </a:xfrm>
        </p:grpSpPr>
        <p:grpSp>
          <p:nvGrpSpPr>
            <p:cNvPr id="2059" name="Group 183"/>
            <p:cNvGrpSpPr/>
            <p:nvPr/>
          </p:nvGrpSpPr>
          <p:grpSpPr>
            <a:xfrm>
              <a:off x="4333680" y="5772240"/>
              <a:ext cx="532080" cy="368640"/>
              <a:chOff x="4333680" y="5772240"/>
              <a:chExt cx="532080" cy="368640"/>
            </a:xfrm>
          </p:grpSpPr>
          <p:grpSp>
            <p:nvGrpSpPr>
              <p:cNvPr id="2060" name="Group 204"/>
              <p:cNvGrpSpPr/>
              <p:nvPr/>
            </p:nvGrpSpPr>
            <p:grpSpPr>
              <a:xfrm>
                <a:off x="4333680" y="5842800"/>
                <a:ext cx="532080" cy="271440"/>
                <a:chOff x="4333680" y="5842800"/>
                <a:chExt cx="532080" cy="271440"/>
              </a:xfrm>
            </p:grpSpPr>
            <p:sp>
              <p:nvSpPr>
                <p:cNvPr id="2061" name="Oval 5"/>
                <p:cNvSpPr/>
                <p:nvPr/>
              </p:nvSpPr>
              <p:spPr>
                <a:xfrm>
                  <a:off x="4338720" y="5964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62" name="Line 6"/>
                <p:cNvSpPr/>
                <p:nvPr/>
              </p:nvSpPr>
              <p:spPr>
                <a:xfrm>
                  <a:off x="433872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63" name="Line 7"/>
                <p:cNvSpPr/>
                <p:nvPr/>
              </p:nvSpPr>
              <p:spPr>
                <a:xfrm>
                  <a:off x="486540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64" name="Rectangle 8"/>
                <p:cNvSpPr/>
                <p:nvPr/>
              </p:nvSpPr>
              <p:spPr>
                <a:xfrm>
                  <a:off x="4338720" y="5951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65" name="Oval 9"/>
                <p:cNvSpPr/>
                <p:nvPr/>
              </p:nvSpPr>
              <p:spPr>
                <a:xfrm>
                  <a:off x="4333680" y="5842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066" name="Group 44"/>
              <p:cNvGrpSpPr/>
              <p:nvPr/>
            </p:nvGrpSpPr>
            <p:grpSpPr>
              <a:xfrm>
                <a:off x="4429080" y="5772240"/>
                <a:ext cx="312480" cy="368640"/>
                <a:chOff x="4429080" y="5772240"/>
                <a:chExt cx="312480" cy="368640"/>
              </a:xfrm>
            </p:grpSpPr>
            <p:sp>
              <p:nvSpPr>
                <p:cNvPr id="2067" name="Rectangle 45"/>
                <p:cNvSpPr/>
                <p:nvPr/>
              </p:nvSpPr>
              <p:spPr>
                <a:xfrm>
                  <a:off x="4481280" y="5891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68" name="Text Box 46"/>
                <p:cNvSpPr/>
                <p:nvPr/>
              </p:nvSpPr>
              <p:spPr>
                <a:xfrm>
                  <a:off x="4429080" y="577224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g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069" name="Group 184"/>
            <p:cNvGrpSpPr/>
            <p:nvPr/>
          </p:nvGrpSpPr>
          <p:grpSpPr>
            <a:xfrm>
              <a:off x="6264000" y="5807880"/>
              <a:ext cx="532080" cy="368640"/>
              <a:chOff x="6264000" y="5807880"/>
              <a:chExt cx="532080" cy="368640"/>
            </a:xfrm>
          </p:grpSpPr>
          <p:grpSp>
            <p:nvGrpSpPr>
              <p:cNvPr id="2070" name="Group 195"/>
              <p:cNvGrpSpPr/>
              <p:nvPr/>
            </p:nvGrpSpPr>
            <p:grpSpPr>
              <a:xfrm>
                <a:off x="6264000" y="5850360"/>
                <a:ext cx="532080" cy="271440"/>
                <a:chOff x="6264000" y="5850360"/>
                <a:chExt cx="532080" cy="271440"/>
              </a:xfrm>
            </p:grpSpPr>
            <p:sp>
              <p:nvSpPr>
                <p:cNvPr id="2071" name="Oval 5"/>
                <p:cNvSpPr/>
                <p:nvPr/>
              </p:nvSpPr>
              <p:spPr>
                <a:xfrm>
                  <a:off x="6269040" y="59724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72" name="Line 6"/>
                <p:cNvSpPr/>
                <p:nvPr/>
              </p:nvSpPr>
              <p:spPr>
                <a:xfrm>
                  <a:off x="626868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73" name="Line 7"/>
                <p:cNvSpPr/>
                <p:nvPr/>
              </p:nvSpPr>
              <p:spPr>
                <a:xfrm>
                  <a:off x="679572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74" name="Rectangle 8"/>
                <p:cNvSpPr/>
                <p:nvPr/>
              </p:nvSpPr>
              <p:spPr>
                <a:xfrm>
                  <a:off x="6269040" y="59594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75" name="Oval 9"/>
                <p:cNvSpPr/>
                <p:nvPr/>
              </p:nvSpPr>
              <p:spPr>
                <a:xfrm>
                  <a:off x="6264000" y="58503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076" name="Group 44"/>
              <p:cNvGrpSpPr/>
              <p:nvPr/>
            </p:nvGrpSpPr>
            <p:grpSpPr>
              <a:xfrm>
                <a:off x="6359040" y="5807880"/>
                <a:ext cx="312480" cy="368640"/>
                <a:chOff x="6359040" y="5807880"/>
                <a:chExt cx="312480" cy="368640"/>
              </a:xfrm>
            </p:grpSpPr>
            <p:sp>
              <p:nvSpPr>
                <p:cNvPr id="2077" name="Rectangle 45"/>
                <p:cNvSpPr/>
                <p:nvPr/>
              </p:nvSpPr>
              <p:spPr>
                <a:xfrm>
                  <a:off x="6411600" y="58986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78" name="Text Box 46"/>
                <p:cNvSpPr/>
                <p:nvPr/>
              </p:nvSpPr>
              <p:spPr>
                <a:xfrm>
                  <a:off x="6359040" y="580788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079" name="Group 185"/>
            <p:cNvGrpSpPr/>
            <p:nvPr/>
          </p:nvGrpSpPr>
          <p:grpSpPr>
            <a:xfrm>
              <a:off x="8197200" y="5805360"/>
              <a:ext cx="532080" cy="368640"/>
              <a:chOff x="8197200" y="5805360"/>
              <a:chExt cx="532080" cy="368640"/>
            </a:xfrm>
          </p:grpSpPr>
          <p:grpSp>
            <p:nvGrpSpPr>
              <p:cNvPr id="2080" name="Group 186"/>
              <p:cNvGrpSpPr/>
              <p:nvPr/>
            </p:nvGrpSpPr>
            <p:grpSpPr>
              <a:xfrm>
                <a:off x="8197200" y="5847840"/>
                <a:ext cx="532080" cy="271440"/>
                <a:chOff x="8197200" y="5847840"/>
                <a:chExt cx="532080" cy="271440"/>
              </a:xfrm>
            </p:grpSpPr>
            <p:sp>
              <p:nvSpPr>
                <p:cNvPr id="2081" name="Oval 5"/>
                <p:cNvSpPr/>
                <p:nvPr/>
              </p:nvSpPr>
              <p:spPr>
                <a:xfrm>
                  <a:off x="8202240" y="596988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82" name="Line 6"/>
                <p:cNvSpPr/>
                <p:nvPr/>
              </p:nvSpPr>
              <p:spPr>
                <a:xfrm>
                  <a:off x="820224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83" name="Line 7"/>
                <p:cNvSpPr/>
                <p:nvPr/>
              </p:nvSpPr>
              <p:spPr>
                <a:xfrm>
                  <a:off x="872892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84" name="Rectangle 8"/>
                <p:cNvSpPr/>
                <p:nvPr/>
              </p:nvSpPr>
              <p:spPr>
                <a:xfrm>
                  <a:off x="8202240" y="595692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85" name="Oval 9"/>
                <p:cNvSpPr/>
                <p:nvPr/>
              </p:nvSpPr>
              <p:spPr>
                <a:xfrm>
                  <a:off x="8197200" y="584784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086" name="Group 44"/>
              <p:cNvGrpSpPr/>
              <p:nvPr/>
            </p:nvGrpSpPr>
            <p:grpSpPr>
              <a:xfrm>
                <a:off x="8331120" y="5805360"/>
                <a:ext cx="235080" cy="368640"/>
                <a:chOff x="8331120" y="5805360"/>
                <a:chExt cx="235080" cy="368640"/>
              </a:xfrm>
            </p:grpSpPr>
            <p:sp>
              <p:nvSpPr>
                <p:cNvPr id="2087" name="Rectangle 45"/>
                <p:cNvSpPr/>
                <p:nvPr/>
              </p:nvSpPr>
              <p:spPr>
                <a:xfrm>
                  <a:off x="8344800" y="589608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088" name="Text Box 46"/>
                <p:cNvSpPr/>
                <p:nvPr/>
              </p:nvSpPr>
              <p:spPr>
                <a:xfrm>
                  <a:off x="8331120" y="5805360"/>
                  <a:ext cx="2350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i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2089" name="TextBox 214"/>
          <p:cNvSpPr/>
          <p:nvPr/>
        </p:nvSpPr>
        <p:spPr>
          <a:xfrm>
            <a:off x="4305960" y="287064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0" name="TextBox 215"/>
          <p:cNvSpPr/>
          <p:nvPr/>
        </p:nvSpPr>
        <p:spPr>
          <a:xfrm>
            <a:off x="6217560" y="286092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1" name="TextBox 224"/>
          <p:cNvSpPr/>
          <p:nvPr/>
        </p:nvSpPr>
        <p:spPr>
          <a:xfrm>
            <a:off x="5445720" y="212400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2" name="TextBox 225"/>
          <p:cNvSpPr/>
          <p:nvPr/>
        </p:nvSpPr>
        <p:spPr>
          <a:xfrm>
            <a:off x="7357680" y="211428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93" name="Group 158"/>
          <p:cNvGrpSpPr/>
          <p:nvPr/>
        </p:nvGrpSpPr>
        <p:grpSpPr>
          <a:xfrm>
            <a:off x="584280" y="1859040"/>
            <a:ext cx="735840" cy="1229040"/>
            <a:chOff x="584280" y="1859040"/>
            <a:chExt cx="735840" cy="1229040"/>
          </a:xfrm>
        </p:grpSpPr>
        <p:sp>
          <p:nvSpPr>
            <p:cNvPr id="2094" name="TextBox 159"/>
            <p:cNvSpPr/>
            <p:nvPr/>
          </p:nvSpPr>
          <p:spPr>
            <a:xfrm>
              <a:off x="584280" y="2503800"/>
              <a:ext cx="735840" cy="58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32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t=1</a:t>
              </a: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95" name="Group 160"/>
            <p:cNvGrpSpPr/>
            <p:nvPr/>
          </p:nvGrpSpPr>
          <p:grpSpPr>
            <a:xfrm>
              <a:off x="588600" y="1859040"/>
              <a:ext cx="682560" cy="682560"/>
              <a:chOff x="588600" y="1859040"/>
              <a:chExt cx="682560" cy="682560"/>
            </a:xfrm>
          </p:grpSpPr>
          <p:sp>
            <p:nvSpPr>
              <p:cNvPr id="2096" name="Oval 161"/>
              <p:cNvSpPr/>
              <p:nvPr/>
            </p:nvSpPr>
            <p:spPr>
              <a:xfrm>
                <a:off x="593640" y="1863360"/>
                <a:ext cx="671040" cy="67104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2097" name="Straight Connector 162"/>
              <p:cNvCxnSpPr/>
              <p:nvPr/>
            </p:nvCxnSpPr>
            <p:spPr>
              <a:xfrm>
                <a:off x="926640" y="1859040"/>
                <a:ext cx="360" cy="6048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098" name="Straight Connector 163"/>
              <p:cNvCxnSpPr/>
              <p:nvPr/>
            </p:nvCxnSpPr>
            <p:spPr>
              <a:xfrm>
                <a:off x="926640" y="2481120"/>
                <a:ext cx="360" cy="608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099" name="Straight Connector 164"/>
              <p:cNvCxnSpPr/>
              <p:nvPr/>
            </p:nvCxnSpPr>
            <p:spPr>
              <a:xfrm>
                <a:off x="588600" y="2200320"/>
                <a:ext cx="6048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100" name="Straight Connector 165"/>
              <p:cNvCxnSpPr/>
              <p:nvPr/>
            </p:nvCxnSpPr>
            <p:spPr>
              <a:xfrm>
                <a:off x="1210680" y="2200320"/>
                <a:ext cx="6084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101" name="Straight Connector 166"/>
              <p:cNvCxnSpPr/>
              <p:nvPr/>
            </p:nvCxnSpPr>
            <p:spPr>
              <a:xfrm>
                <a:off x="1077480" y="245124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102" name="Straight Connector 167"/>
              <p:cNvCxnSpPr/>
              <p:nvPr/>
            </p:nvCxnSpPr>
            <p:spPr>
              <a:xfrm>
                <a:off x="756720" y="190512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103" name="Straight Connector 168"/>
              <p:cNvCxnSpPr/>
              <p:nvPr/>
            </p:nvCxnSpPr>
            <p:spPr>
              <a:xfrm flipH="1">
                <a:off x="750240" y="244800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104" name="Straight Connector 169"/>
              <p:cNvCxnSpPr/>
              <p:nvPr/>
            </p:nvCxnSpPr>
            <p:spPr>
              <a:xfrm flipH="1">
                <a:off x="1071000" y="1901880"/>
                <a:ext cx="2736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105" name="Straight Connector 170"/>
              <p:cNvCxnSpPr/>
              <p:nvPr/>
            </p:nvCxnSpPr>
            <p:spPr>
              <a:xfrm flipH="1">
                <a:off x="1185480" y="202572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106" name="Straight Connector 171"/>
              <p:cNvCxnSpPr/>
              <p:nvPr/>
            </p:nvCxnSpPr>
            <p:spPr>
              <a:xfrm flipH="1">
                <a:off x="639360" y="234324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107" name="Straight Connector 172"/>
              <p:cNvCxnSpPr/>
              <p:nvPr/>
            </p:nvCxnSpPr>
            <p:spPr>
              <a:xfrm flipH="1" flipV="1">
                <a:off x="648720" y="2028960"/>
                <a:ext cx="3708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108" name="Straight Connector 173"/>
              <p:cNvCxnSpPr/>
              <p:nvPr/>
            </p:nvCxnSpPr>
            <p:spPr>
              <a:xfrm flipH="1" flipV="1">
                <a:off x="1185480" y="2346480"/>
                <a:ext cx="36720" cy="27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sp>
            <p:nvSpPr>
              <p:cNvPr id="2109" name="Oval 174"/>
              <p:cNvSpPr/>
              <p:nvPr/>
            </p:nvSpPr>
            <p:spPr>
              <a:xfrm>
                <a:off x="885600" y="2157480"/>
                <a:ext cx="82080" cy="867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16560" bIns="1656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cxnSp>
        <p:nvCxnSpPr>
          <p:cNvPr id="2110" name="Straight Connector 152"/>
          <p:cNvCxnSpPr/>
          <p:nvPr/>
        </p:nvCxnSpPr>
        <p:spPr>
          <a:xfrm>
            <a:off x="919440" y="1995840"/>
            <a:ext cx="360" cy="196200"/>
          </a:xfrm>
          <a:prstGeom prst="straightConnector1">
            <a:avLst/>
          </a:prstGeom>
          <a:ln w="25400">
            <a:solidFill>
              <a:srgbClr val="c00000"/>
            </a:solidFill>
          </a:ln>
        </p:spPr>
      </p:cxnSp>
      <p:sp>
        <p:nvSpPr>
          <p:cNvPr id="2111" name="Rectangle 153"/>
          <p:cNvSpPr/>
          <p:nvPr/>
        </p:nvSpPr>
        <p:spPr>
          <a:xfrm>
            <a:off x="6626880" y="275400"/>
            <a:ext cx="3037680" cy="628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112" name="Group 240"/>
          <p:cNvGrpSpPr/>
          <p:nvPr/>
        </p:nvGrpSpPr>
        <p:grpSpPr>
          <a:xfrm>
            <a:off x="6172200" y="235800"/>
            <a:ext cx="3429000" cy="1917360"/>
            <a:chOff x="6172200" y="235800"/>
            <a:chExt cx="3429000" cy="1917360"/>
          </a:xfrm>
        </p:grpSpPr>
        <p:sp>
          <p:nvSpPr>
            <p:cNvPr id="2113" name="Freeform 241"/>
            <p:cNvSpPr/>
            <p:nvPr/>
          </p:nvSpPr>
          <p:spPr>
            <a:xfrm>
              <a:off x="6172200" y="304920"/>
              <a:ext cx="3218400" cy="1848240"/>
            </a:xfrm>
            <a:custGeom>
              <a:avLst/>
              <a:gdLst>
                <a:gd name="textAreaLeft" fmla="*/ 0 w 3218400"/>
                <a:gd name="textAreaRight" fmla="*/ 3218760 w 3218400"/>
                <a:gd name="textAreaTop" fmla="*/ 0 h 1848240"/>
                <a:gd name="textAreaBottom" fmla="*/ 1848600 h 1848240"/>
                <a:gd name="GluePoint1X" fmla="*/ 0 w 2340077"/>
                <a:gd name="GluePoint1Y" fmla="*/ 1691148 h 1848464"/>
                <a:gd name="GluePoint2X" fmla="*/ 383458 w 2340077"/>
                <a:gd name="GluePoint2Y" fmla="*/ 0 h 1848464"/>
                <a:gd name="GluePoint3X" fmla="*/ 2340077 w 2340077"/>
                <a:gd name="GluePoint3Y" fmla="*/ 1386348 h 1848464"/>
                <a:gd name="GluePoint4X" fmla="*/ 137651 w 2340077"/>
                <a:gd name="GluePoint4Y" fmla="*/ 1848464 h 1848464"/>
                <a:gd name="GluePoint5X" fmla="*/ 0 w 2340077"/>
                <a:gd name="GluePoint5Y" fmla="*/ 1691148 h 18484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2114" name="Group 242"/>
            <p:cNvGrpSpPr/>
            <p:nvPr/>
          </p:nvGrpSpPr>
          <p:grpSpPr>
            <a:xfrm>
              <a:off x="6603480" y="235800"/>
              <a:ext cx="2997720" cy="1540080"/>
              <a:chOff x="6603480" y="235800"/>
              <a:chExt cx="2997720" cy="1540080"/>
            </a:xfrm>
          </p:grpSpPr>
          <p:sp>
            <p:nvSpPr>
              <p:cNvPr id="2115" name="Rectangle 243"/>
              <p:cNvSpPr/>
              <p:nvPr/>
            </p:nvSpPr>
            <p:spPr>
              <a:xfrm>
                <a:off x="6726960" y="235800"/>
                <a:ext cx="2663640" cy="1435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2116" name="Group 244"/>
              <p:cNvGrpSpPr/>
              <p:nvPr/>
            </p:nvGrpSpPr>
            <p:grpSpPr>
              <a:xfrm>
                <a:off x="6603480" y="248760"/>
                <a:ext cx="2997720" cy="1527120"/>
                <a:chOff x="6603480" y="248760"/>
                <a:chExt cx="2997720" cy="1527120"/>
              </a:xfrm>
            </p:grpSpPr>
            <p:sp>
              <p:nvSpPr>
                <p:cNvPr id="2117" name="Rectangle 245"/>
                <p:cNvSpPr/>
                <p:nvPr/>
              </p:nvSpPr>
              <p:spPr>
                <a:xfrm>
                  <a:off x="6721920" y="252720"/>
                  <a:ext cx="266868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2118" name="TextBox 246"/>
                <p:cNvSpPr/>
                <p:nvPr/>
              </p:nvSpPr>
              <p:spPr>
                <a:xfrm>
                  <a:off x="7258320" y="248760"/>
                  <a:ext cx="153648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b="0" lang="en-US" sz="2000" strike="noStrike" u="non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b:</a:t>
                  </a: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2119" name="Straight Connector 247"/>
                <p:cNvCxnSpPr/>
                <p:nvPr/>
              </p:nvCxnSpPr>
              <p:spPr>
                <a:xfrm>
                  <a:off x="6710400" y="622800"/>
                  <a:ext cx="154692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2120" name="Rectangle 248"/>
                <p:cNvSpPr/>
                <p:nvPr/>
              </p:nvSpPr>
              <p:spPr>
                <a:xfrm>
                  <a:off x="6713640" y="252720"/>
                  <a:ext cx="2663640" cy="142812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2121" name="TextBox 249"/>
                <p:cNvSpPr/>
                <p:nvPr/>
              </p:nvSpPr>
              <p:spPr>
                <a:xfrm>
                  <a:off x="8073360" y="688320"/>
                  <a:ext cx="1527840" cy="1087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22" name="TextBox 250"/>
                <p:cNvSpPr/>
                <p:nvPr/>
              </p:nvSpPr>
              <p:spPr>
                <a:xfrm>
                  <a:off x="6603480" y="685080"/>
                  <a:ext cx="1536480" cy="1087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 = 8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1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1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2123" name="TextBox 280"/>
          <p:cNvSpPr/>
          <p:nvPr/>
        </p:nvSpPr>
        <p:spPr>
          <a:xfrm flipH="1">
            <a:off x="348480" y="3079080"/>
            <a:ext cx="219528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9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 receives DVs from b computes: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24" name="Group 313"/>
          <p:cNvGrpSpPr/>
          <p:nvPr/>
        </p:nvGrpSpPr>
        <p:grpSpPr>
          <a:xfrm>
            <a:off x="4333680" y="1906200"/>
            <a:ext cx="4395600" cy="403920"/>
            <a:chOff x="4333680" y="1906200"/>
            <a:chExt cx="4395600" cy="403920"/>
          </a:xfrm>
        </p:grpSpPr>
        <p:grpSp>
          <p:nvGrpSpPr>
            <p:cNvPr id="2125" name="Group 314"/>
            <p:cNvGrpSpPr/>
            <p:nvPr/>
          </p:nvGrpSpPr>
          <p:grpSpPr>
            <a:xfrm>
              <a:off x="4333680" y="1906200"/>
              <a:ext cx="532080" cy="368640"/>
              <a:chOff x="4333680" y="1906200"/>
              <a:chExt cx="532080" cy="368640"/>
            </a:xfrm>
          </p:grpSpPr>
          <p:grpSp>
            <p:nvGrpSpPr>
              <p:cNvPr id="2126" name="Group 335"/>
              <p:cNvGrpSpPr/>
              <p:nvPr/>
            </p:nvGrpSpPr>
            <p:grpSpPr>
              <a:xfrm>
                <a:off x="4333680" y="1976760"/>
                <a:ext cx="532080" cy="271440"/>
                <a:chOff x="4333680" y="1976760"/>
                <a:chExt cx="532080" cy="271440"/>
              </a:xfrm>
            </p:grpSpPr>
            <p:sp>
              <p:nvSpPr>
                <p:cNvPr id="2127" name="Oval 5"/>
                <p:cNvSpPr/>
                <p:nvPr/>
              </p:nvSpPr>
              <p:spPr>
                <a:xfrm>
                  <a:off x="4338720" y="20988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28" name="Line 6"/>
                <p:cNvSpPr/>
                <p:nvPr/>
              </p:nvSpPr>
              <p:spPr>
                <a:xfrm>
                  <a:off x="433872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29" name="Line 7"/>
                <p:cNvSpPr/>
                <p:nvPr/>
              </p:nvSpPr>
              <p:spPr>
                <a:xfrm>
                  <a:off x="486540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30" name="Rectangle 8"/>
                <p:cNvSpPr/>
                <p:nvPr/>
              </p:nvSpPr>
              <p:spPr>
                <a:xfrm>
                  <a:off x="4338720" y="20858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31" name="Oval 9"/>
                <p:cNvSpPr/>
                <p:nvPr/>
              </p:nvSpPr>
              <p:spPr>
                <a:xfrm>
                  <a:off x="4333680" y="1976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132" name="Group 44"/>
              <p:cNvGrpSpPr/>
              <p:nvPr/>
            </p:nvGrpSpPr>
            <p:grpSpPr>
              <a:xfrm>
                <a:off x="4429080" y="1906200"/>
                <a:ext cx="312480" cy="368640"/>
                <a:chOff x="4429080" y="1906200"/>
                <a:chExt cx="312480" cy="368640"/>
              </a:xfrm>
            </p:grpSpPr>
            <p:sp>
              <p:nvSpPr>
                <p:cNvPr id="2133" name="Rectangle 45"/>
                <p:cNvSpPr/>
                <p:nvPr/>
              </p:nvSpPr>
              <p:spPr>
                <a:xfrm>
                  <a:off x="4481280" y="2025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34" name="Text Box 46"/>
                <p:cNvSpPr/>
                <p:nvPr/>
              </p:nvSpPr>
              <p:spPr>
                <a:xfrm>
                  <a:off x="4429080" y="190620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135" name="Group 315"/>
            <p:cNvGrpSpPr/>
            <p:nvPr/>
          </p:nvGrpSpPr>
          <p:grpSpPr>
            <a:xfrm>
              <a:off x="6264000" y="1941480"/>
              <a:ext cx="532080" cy="368640"/>
              <a:chOff x="6264000" y="1941480"/>
              <a:chExt cx="532080" cy="368640"/>
            </a:xfrm>
          </p:grpSpPr>
          <p:grpSp>
            <p:nvGrpSpPr>
              <p:cNvPr id="2136" name="Group 326"/>
              <p:cNvGrpSpPr/>
              <p:nvPr/>
            </p:nvGrpSpPr>
            <p:grpSpPr>
              <a:xfrm>
                <a:off x="6264000" y="1984320"/>
                <a:ext cx="532080" cy="271440"/>
                <a:chOff x="6264000" y="1984320"/>
                <a:chExt cx="532080" cy="271440"/>
              </a:xfrm>
            </p:grpSpPr>
            <p:sp>
              <p:nvSpPr>
                <p:cNvPr id="2137" name="Oval 5"/>
                <p:cNvSpPr/>
                <p:nvPr/>
              </p:nvSpPr>
              <p:spPr>
                <a:xfrm>
                  <a:off x="6269040" y="21063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38" name="Line 6"/>
                <p:cNvSpPr/>
                <p:nvPr/>
              </p:nvSpPr>
              <p:spPr>
                <a:xfrm>
                  <a:off x="626868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39" name="Line 7"/>
                <p:cNvSpPr/>
                <p:nvPr/>
              </p:nvSpPr>
              <p:spPr>
                <a:xfrm>
                  <a:off x="679572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40" name="Rectangle 8"/>
                <p:cNvSpPr/>
                <p:nvPr/>
              </p:nvSpPr>
              <p:spPr>
                <a:xfrm>
                  <a:off x="6269040" y="20934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41" name="Oval 9"/>
                <p:cNvSpPr/>
                <p:nvPr/>
              </p:nvSpPr>
              <p:spPr>
                <a:xfrm>
                  <a:off x="6264000" y="198432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142" name="Group 44"/>
              <p:cNvGrpSpPr/>
              <p:nvPr/>
            </p:nvGrpSpPr>
            <p:grpSpPr>
              <a:xfrm>
                <a:off x="6359040" y="1941480"/>
                <a:ext cx="312480" cy="368640"/>
                <a:chOff x="6359040" y="1941480"/>
                <a:chExt cx="312480" cy="368640"/>
              </a:xfrm>
            </p:grpSpPr>
            <p:sp>
              <p:nvSpPr>
                <p:cNvPr id="2143" name="Rectangle 45"/>
                <p:cNvSpPr/>
                <p:nvPr/>
              </p:nvSpPr>
              <p:spPr>
                <a:xfrm>
                  <a:off x="6411600" y="203256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44" name="Text Box 46"/>
                <p:cNvSpPr/>
                <p:nvPr/>
              </p:nvSpPr>
              <p:spPr>
                <a:xfrm>
                  <a:off x="6359040" y="194148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b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145" name="Group 316"/>
            <p:cNvGrpSpPr/>
            <p:nvPr/>
          </p:nvGrpSpPr>
          <p:grpSpPr>
            <a:xfrm>
              <a:off x="8197200" y="1938960"/>
              <a:ext cx="532080" cy="368640"/>
              <a:chOff x="8197200" y="1938960"/>
              <a:chExt cx="532080" cy="368640"/>
            </a:xfrm>
          </p:grpSpPr>
          <p:grpSp>
            <p:nvGrpSpPr>
              <p:cNvPr id="2146" name="Group 317"/>
              <p:cNvGrpSpPr/>
              <p:nvPr/>
            </p:nvGrpSpPr>
            <p:grpSpPr>
              <a:xfrm>
                <a:off x="8197200" y="1981800"/>
                <a:ext cx="532080" cy="271440"/>
                <a:chOff x="8197200" y="1981800"/>
                <a:chExt cx="532080" cy="271440"/>
              </a:xfrm>
            </p:grpSpPr>
            <p:sp>
              <p:nvSpPr>
                <p:cNvPr id="2147" name="Oval 5"/>
                <p:cNvSpPr/>
                <p:nvPr/>
              </p:nvSpPr>
              <p:spPr>
                <a:xfrm>
                  <a:off x="8202240" y="2103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48" name="Line 6"/>
                <p:cNvSpPr/>
                <p:nvPr/>
              </p:nvSpPr>
              <p:spPr>
                <a:xfrm>
                  <a:off x="820224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49" name="Line 7"/>
                <p:cNvSpPr/>
                <p:nvPr/>
              </p:nvSpPr>
              <p:spPr>
                <a:xfrm>
                  <a:off x="872892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50" name="Rectangle 8"/>
                <p:cNvSpPr/>
                <p:nvPr/>
              </p:nvSpPr>
              <p:spPr>
                <a:xfrm>
                  <a:off x="8202240" y="2090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51" name="Oval 9"/>
                <p:cNvSpPr/>
                <p:nvPr/>
              </p:nvSpPr>
              <p:spPr>
                <a:xfrm>
                  <a:off x="8197200" y="1981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152" name="Group 44"/>
              <p:cNvGrpSpPr/>
              <p:nvPr/>
            </p:nvGrpSpPr>
            <p:grpSpPr>
              <a:xfrm>
                <a:off x="8299440" y="1938960"/>
                <a:ext cx="299880" cy="368640"/>
                <a:chOff x="8299440" y="1938960"/>
                <a:chExt cx="299880" cy="368640"/>
              </a:xfrm>
            </p:grpSpPr>
            <p:sp>
              <p:nvSpPr>
                <p:cNvPr id="2153" name="Rectangle 45"/>
                <p:cNvSpPr/>
                <p:nvPr/>
              </p:nvSpPr>
              <p:spPr>
                <a:xfrm>
                  <a:off x="8344800" y="2030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54" name="Text Box 46"/>
                <p:cNvSpPr/>
                <p:nvPr/>
              </p:nvSpPr>
              <p:spPr>
                <a:xfrm>
                  <a:off x="8299440" y="1938960"/>
                  <a:ext cx="2998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2155" name="Group 282"/>
          <p:cNvGrpSpPr/>
          <p:nvPr/>
        </p:nvGrpSpPr>
        <p:grpSpPr>
          <a:xfrm>
            <a:off x="4336560" y="3833640"/>
            <a:ext cx="4395600" cy="404280"/>
            <a:chOff x="4336560" y="3833640"/>
            <a:chExt cx="4395600" cy="404280"/>
          </a:xfrm>
        </p:grpSpPr>
        <p:grpSp>
          <p:nvGrpSpPr>
            <p:cNvPr id="2156" name="Group 283"/>
            <p:cNvGrpSpPr/>
            <p:nvPr/>
          </p:nvGrpSpPr>
          <p:grpSpPr>
            <a:xfrm>
              <a:off x="4336560" y="3833640"/>
              <a:ext cx="531720" cy="368640"/>
              <a:chOff x="4336560" y="3833640"/>
              <a:chExt cx="531720" cy="368640"/>
            </a:xfrm>
          </p:grpSpPr>
          <p:grpSp>
            <p:nvGrpSpPr>
              <p:cNvPr id="2157" name="Group 304"/>
              <p:cNvGrpSpPr/>
              <p:nvPr/>
            </p:nvGrpSpPr>
            <p:grpSpPr>
              <a:xfrm>
                <a:off x="4336560" y="3904200"/>
                <a:ext cx="531720" cy="271800"/>
                <a:chOff x="4336560" y="3904200"/>
                <a:chExt cx="531720" cy="271800"/>
              </a:xfrm>
            </p:grpSpPr>
            <p:sp>
              <p:nvSpPr>
                <p:cNvPr id="2158" name="Oval 5"/>
                <p:cNvSpPr/>
                <p:nvPr/>
              </p:nvSpPr>
              <p:spPr>
                <a:xfrm>
                  <a:off x="4341600" y="40266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59" name="Line 6"/>
                <p:cNvSpPr/>
                <p:nvPr/>
              </p:nvSpPr>
              <p:spPr>
                <a:xfrm>
                  <a:off x="434124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60" name="Line 7"/>
                <p:cNvSpPr/>
                <p:nvPr/>
              </p:nvSpPr>
              <p:spPr>
                <a:xfrm>
                  <a:off x="486792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61" name="Rectangle 8"/>
                <p:cNvSpPr/>
                <p:nvPr/>
              </p:nvSpPr>
              <p:spPr>
                <a:xfrm>
                  <a:off x="4341600" y="40136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62" name="Oval 9"/>
                <p:cNvSpPr/>
                <p:nvPr/>
              </p:nvSpPr>
              <p:spPr>
                <a:xfrm>
                  <a:off x="4336560" y="39042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163" name="Group 44"/>
              <p:cNvGrpSpPr/>
              <p:nvPr/>
            </p:nvGrpSpPr>
            <p:grpSpPr>
              <a:xfrm>
                <a:off x="4431600" y="3833640"/>
                <a:ext cx="312480" cy="368640"/>
                <a:chOff x="4431600" y="3833640"/>
                <a:chExt cx="312480" cy="368640"/>
              </a:xfrm>
            </p:grpSpPr>
            <p:sp>
              <p:nvSpPr>
                <p:cNvPr id="2164" name="Rectangle 45"/>
                <p:cNvSpPr/>
                <p:nvPr/>
              </p:nvSpPr>
              <p:spPr>
                <a:xfrm>
                  <a:off x="4483800" y="39524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65" name="Text Box 46"/>
                <p:cNvSpPr/>
                <p:nvPr/>
              </p:nvSpPr>
              <p:spPr>
                <a:xfrm>
                  <a:off x="4431600" y="383364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166" name="Group 284"/>
            <p:cNvGrpSpPr/>
            <p:nvPr/>
          </p:nvGrpSpPr>
          <p:grpSpPr>
            <a:xfrm>
              <a:off x="6266520" y="3869280"/>
              <a:ext cx="532080" cy="368640"/>
              <a:chOff x="6266520" y="3869280"/>
              <a:chExt cx="532080" cy="368640"/>
            </a:xfrm>
          </p:grpSpPr>
          <p:grpSp>
            <p:nvGrpSpPr>
              <p:cNvPr id="2167" name="Group 295"/>
              <p:cNvGrpSpPr/>
              <p:nvPr/>
            </p:nvGrpSpPr>
            <p:grpSpPr>
              <a:xfrm>
                <a:off x="6266520" y="3911760"/>
                <a:ext cx="532080" cy="271800"/>
                <a:chOff x="6266520" y="3911760"/>
                <a:chExt cx="532080" cy="271800"/>
              </a:xfrm>
            </p:grpSpPr>
            <p:sp>
              <p:nvSpPr>
                <p:cNvPr id="2168" name="Oval 5"/>
                <p:cNvSpPr/>
                <p:nvPr/>
              </p:nvSpPr>
              <p:spPr>
                <a:xfrm>
                  <a:off x="6271560" y="40341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69" name="Line 6"/>
                <p:cNvSpPr/>
                <p:nvPr/>
              </p:nvSpPr>
              <p:spPr>
                <a:xfrm>
                  <a:off x="627156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70" name="Line 7"/>
                <p:cNvSpPr/>
                <p:nvPr/>
              </p:nvSpPr>
              <p:spPr>
                <a:xfrm>
                  <a:off x="679824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71" name="Rectangle 8"/>
                <p:cNvSpPr/>
                <p:nvPr/>
              </p:nvSpPr>
              <p:spPr>
                <a:xfrm>
                  <a:off x="6271560" y="40212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72" name="Oval 9"/>
                <p:cNvSpPr/>
                <p:nvPr/>
              </p:nvSpPr>
              <p:spPr>
                <a:xfrm>
                  <a:off x="6266520" y="3911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173" name="Group 44"/>
              <p:cNvGrpSpPr/>
              <p:nvPr/>
            </p:nvGrpSpPr>
            <p:grpSpPr>
              <a:xfrm>
                <a:off x="6361920" y="3869280"/>
                <a:ext cx="312480" cy="368640"/>
                <a:chOff x="6361920" y="3869280"/>
                <a:chExt cx="312480" cy="368640"/>
              </a:xfrm>
            </p:grpSpPr>
            <p:sp>
              <p:nvSpPr>
                <p:cNvPr id="2174" name="Rectangle 45"/>
                <p:cNvSpPr/>
                <p:nvPr/>
              </p:nvSpPr>
              <p:spPr>
                <a:xfrm>
                  <a:off x="6414120" y="3960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75" name="Text Box 46"/>
                <p:cNvSpPr/>
                <p:nvPr/>
              </p:nvSpPr>
              <p:spPr>
                <a:xfrm>
                  <a:off x="6361920" y="386928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e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176" name="Group 285"/>
            <p:cNvGrpSpPr/>
            <p:nvPr/>
          </p:nvGrpSpPr>
          <p:grpSpPr>
            <a:xfrm>
              <a:off x="8200080" y="3866760"/>
              <a:ext cx="532080" cy="368640"/>
              <a:chOff x="8200080" y="3866760"/>
              <a:chExt cx="532080" cy="368640"/>
            </a:xfrm>
          </p:grpSpPr>
          <p:grpSp>
            <p:nvGrpSpPr>
              <p:cNvPr id="2177" name="Group 286"/>
              <p:cNvGrpSpPr/>
              <p:nvPr/>
            </p:nvGrpSpPr>
            <p:grpSpPr>
              <a:xfrm>
                <a:off x="8200080" y="3909600"/>
                <a:ext cx="532080" cy="271440"/>
                <a:chOff x="8200080" y="3909600"/>
                <a:chExt cx="532080" cy="271440"/>
              </a:xfrm>
            </p:grpSpPr>
            <p:sp>
              <p:nvSpPr>
                <p:cNvPr id="2178" name="Oval 5"/>
                <p:cNvSpPr/>
                <p:nvPr/>
              </p:nvSpPr>
              <p:spPr>
                <a:xfrm>
                  <a:off x="8205120" y="40316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79" name="Line 6"/>
                <p:cNvSpPr/>
                <p:nvPr/>
              </p:nvSpPr>
              <p:spPr>
                <a:xfrm>
                  <a:off x="820476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80" name="Line 7"/>
                <p:cNvSpPr/>
                <p:nvPr/>
              </p:nvSpPr>
              <p:spPr>
                <a:xfrm>
                  <a:off x="873180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81" name="Rectangle 8"/>
                <p:cNvSpPr/>
                <p:nvPr/>
              </p:nvSpPr>
              <p:spPr>
                <a:xfrm>
                  <a:off x="8205120" y="40186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82" name="Oval 9"/>
                <p:cNvSpPr/>
                <p:nvPr/>
              </p:nvSpPr>
              <p:spPr>
                <a:xfrm>
                  <a:off x="8200080" y="39096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183" name="Group 44"/>
              <p:cNvGrpSpPr/>
              <p:nvPr/>
            </p:nvGrpSpPr>
            <p:grpSpPr>
              <a:xfrm>
                <a:off x="8326800" y="3866760"/>
                <a:ext cx="249120" cy="368640"/>
                <a:chOff x="8326800" y="3866760"/>
                <a:chExt cx="249120" cy="368640"/>
              </a:xfrm>
            </p:grpSpPr>
            <p:sp>
              <p:nvSpPr>
                <p:cNvPr id="2184" name="Rectangle 45"/>
                <p:cNvSpPr/>
                <p:nvPr/>
              </p:nvSpPr>
              <p:spPr>
                <a:xfrm>
                  <a:off x="8347680" y="39578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185" name="Text Box 46"/>
                <p:cNvSpPr/>
                <p:nvPr/>
              </p:nvSpPr>
              <p:spPr>
                <a:xfrm>
                  <a:off x="8326800" y="3866760"/>
                  <a:ext cx="24912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2186" name="Group 3"/>
          <p:cNvGrpSpPr/>
          <p:nvPr/>
        </p:nvGrpSpPr>
        <p:grpSpPr>
          <a:xfrm>
            <a:off x="8740800" y="219960"/>
            <a:ext cx="3146400" cy="2940120"/>
            <a:chOff x="8740800" y="219960"/>
            <a:chExt cx="3146400" cy="2940120"/>
          </a:xfrm>
        </p:grpSpPr>
        <p:sp>
          <p:nvSpPr>
            <p:cNvPr id="2187" name="Freeform 233"/>
            <p:cNvSpPr/>
            <p:nvPr/>
          </p:nvSpPr>
          <p:spPr>
            <a:xfrm>
              <a:off x="8740800" y="246960"/>
              <a:ext cx="1421280" cy="2428200"/>
            </a:xfrm>
            <a:custGeom>
              <a:avLst/>
              <a:gdLst>
                <a:gd name="textAreaLeft" fmla="*/ 0 w 1421280"/>
                <a:gd name="textAreaRight" fmla="*/ 1421640 w 1421280"/>
                <a:gd name="textAreaTop" fmla="*/ 0 h 2428200"/>
                <a:gd name="textAreaBottom" fmla="*/ 2428560 h 2428200"/>
                <a:gd name="GluePoint1X" fmla="*/ 1 w 1170039"/>
                <a:gd name="GluePoint1Y" fmla="*/ 1809135 h 2428567"/>
                <a:gd name="GluePoint2X" fmla="*/ 1160207 w 1170039"/>
                <a:gd name="GluePoint2Y" fmla="*/ 0 h 2428567"/>
                <a:gd name="GluePoint3X" fmla="*/ 1170039 w 1170039"/>
                <a:gd name="GluePoint3Y" fmla="*/ 2428567 h 2428567"/>
                <a:gd name="GluePoint4X" fmla="*/ 0 w 1170039"/>
                <a:gd name="GluePoint4Y" fmla="*/ 1946786 h 2428567"/>
                <a:gd name="GluePoint5X" fmla="*/ 1 w 1170039"/>
                <a:gd name="GluePoint5Y" fmla="*/ 1809135 h 242856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2188" name="Group 357"/>
            <p:cNvGrpSpPr/>
            <p:nvPr/>
          </p:nvGrpSpPr>
          <p:grpSpPr>
            <a:xfrm>
              <a:off x="10118880" y="219960"/>
              <a:ext cx="1768320" cy="2940120"/>
              <a:chOff x="10118880" y="219960"/>
              <a:chExt cx="1768320" cy="2940120"/>
            </a:xfrm>
          </p:grpSpPr>
          <p:sp>
            <p:nvSpPr>
              <p:cNvPr id="2189" name="Rectangle 358"/>
              <p:cNvSpPr/>
              <p:nvPr/>
            </p:nvSpPr>
            <p:spPr>
              <a:xfrm>
                <a:off x="10147680" y="219960"/>
                <a:ext cx="1739520" cy="24256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2190" name="Group 359"/>
              <p:cNvGrpSpPr/>
              <p:nvPr/>
            </p:nvGrpSpPr>
            <p:grpSpPr>
              <a:xfrm>
                <a:off x="10118880" y="219960"/>
                <a:ext cx="1738800" cy="2940120"/>
                <a:chOff x="10118880" y="219960"/>
                <a:chExt cx="1738800" cy="2940120"/>
              </a:xfrm>
            </p:grpSpPr>
            <p:sp>
              <p:nvSpPr>
                <p:cNvPr id="2191" name="Rectangle 360"/>
                <p:cNvSpPr/>
                <p:nvPr/>
              </p:nvSpPr>
              <p:spPr>
                <a:xfrm>
                  <a:off x="10139400" y="223920"/>
                  <a:ext cx="171828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2192" name="TextBox 361"/>
                <p:cNvSpPr/>
                <p:nvPr/>
              </p:nvSpPr>
              <p:spPr>
                <a:xfrm>
                  <a:off x="10118880" y="219960"/>
                  <a:ext cx="1673640" cy="2940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b="0" lang="en-US" sz="2000" strike="noStrike" u="non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c:</a:t>
                  </a: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 =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(b) = 1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 0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10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c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2193" name="Straight Connector 362"/>
                <p:cNvCxnSpPr/>
                <p:nvPr/>
              </p:nvCxnSpPr>
              <p:spPr>
                <a:xfrm>
                  <a:off x="10126800" y="594360"/>
                  <a:ext cx="172980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2194" name="Rectangle 363"/>
                <p:cNvSpPr/>
                <p:nvPr/>
              </p:nvSpPr>
              <p:spPr>
                <a:xfrm>
                  <a:off x="10130760" y="223920"/>
                  <a:ext cx="1726920" cy="262044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</p:grpSp>
      <p:sp>
        <p:nvSpPr>
          <p:cNvPr id="2195" name="Right Arrow 175"/>
          <p:cNvSpPr/>
          <p:nvPr/>
        </p:nvSpPr>
        <p:spPr>
          <a:xfrm>
            <a:off x="6977520" y="192780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6" name="Freeform 176"/>
          <p:cNvSpPr/>
          <p:nvPr/>
        </p:nvSpPr>
        <p:spPr>
          <a:xfrm>
            <a:off x="3281760" y="1747440"/>
            <a:ext cx="5923080" cy="4988160"/>
          </a:xfrm>
          <a:custGeom>
            <a:avLst/>
            <a:gdLst>
              <a:gd name="textAreaLeft" fmla="*/ 0 w 5923080"/>
              <a:gd name="textAreaRight" fmla="*/ 5923440 w 5923080"/>
              <a:gd name="textAreaTop" fmla="*/ 0 h 4988160"/>
              <a:gd name="textAreaBottom" fmla="*/ 4988520 h 4988160"/>
              <a:gd name="GluePoint1X" fmla="*/ 2524413 w 5760999"/>
              <a:gd name="GluePoint1Y" fmla="*/ 30480 h 4988560"/>
              <a:gd name="GluePoint2X" fmla="*/ 2829213 w 5760999"/>
              <a:gd name="GluePoint2Y" fmla="*/ 568960 h 4988560"/>
              <a:gd name="GluePoint3X" fmla="*/ 3570336 w 5760999"/>
              <a:gd name="GluePoint3Y" fmla="*/ 782320 h 4988560"/>
              <a:gd name="GluePoint4X" fmla="*/ 5730519 w 5760999"/>
              <a:gd name="GluePoint4Y" fmla="*/ 1950720 h 4988560"/>
              <a:gd name="GluePoint5X" fmla="*/ 5760999 w 5760999"/>
              <a:gd name="GluePoint5Y" fmla="*/ 4988560 h 4988560"/>
              <a:gd name="GluePoint6X" fmla="*/ 0 w 5760999"/>
              <a:gd name="GluePoint6Y" fmla="*/ 4978400 h 4988560"/>
              <a:gd name="GluePoint7X" fmla="*/ 138344 w 5760999"/>
              <a:gd name="GluePoint7Y" fmla="*/ 20320 h 4988560"/>
              <a:gd name="GluePoint8X" fmla="*/ 936947 w 5760999"/>
              <a:gd name="GluePoint8Y" fmla="*/ 0 h 4988560"/>
              <a:gd name="GluePoint9X" fmla="*/ 2524413 w 5760999"/>
              <a:gd name="GluePoint9Y" fmla="*/ 30480 h 498856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60999" h="4988560">
                <a:moveTo>
                  <a:pt x="2524413" y="30480"/>
                </a:moveTo>
                <a:lnTo>
                  <a:pt x="2829213" y="568960"/>
                </a:lnTo>
                <a:lnTo>
                  <a:pt x="3570336" y="782320"/>
                </a:lnTo>
                <a:lnTo>
                  <a:pt x="5730519" y="1950720"/>
                </a:lnTo>
                <a:lnTo>
                  <a:pt x="5760999" y="4988560"/>
                </a:lnTo>
                <a:lnTo>
                  <a:pt x="0" y="4978400"/>
                </a:lnTo>
                <a:lnTo>
                  <a:pt x="138344" y="20320"/>
                </a:lnTo>
                <a:lnTo>
                  <a:pt x="936947" y="0"/>
                </a:lnTo>
                <a:lnTo>
                  <a:pt x="2524413" y="304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7" name="Rectangle 181"/>
          <p:cNvSpPr/>
          <p:nvPr/>
        </p:nvSpPr>
        <p:spPr>
          <a:xfrm>
            <a:off x="2057400" y="3809880"/>
            <a:ext cx="4546080" cy="2712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8" name="TextBox 213"/>
          <p:cNvSpPr/>
          <p:nvPr/>
        </p:nvSpPr>
        <p:spPr>
          <a:xfrm>
            <a:off x="1828800" y="3889440"/>
            <a:ext cx="47037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(a) = min{c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c,b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(a}}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= 1 + 8 = 9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9" name="TextBox 219"/>
          <p:cNvSpPr/>
          <p:nvPr/>
        </p:nvSpPr>
        <p:spPr>
          <a:xfrm>
            <a:off x="2057400" y="4214520"/>
            <a:ext cx="44751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(b) = min{c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c,b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(b)} = 1 + 0 = 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0" name="TextBox 226"/>
          <p:cNvSpPr/>
          <p:nvPr/>
        </p:nvSpPr>
        <p:spPr>
          <a:xfrm>
            <a:off x="2057400" y="4539600"/>
            <a:ext cx="45561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(d) = min{c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c,b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(d)} = 1+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∞ = ∞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1" name="TextBox 227"/>
          <p:cNvSpPr/>
          <p:nvPr/>
        </p:nvSpPr>
        <p:spPr>
          <a:xfrm>
            <a:off x="2057400" y="4844520"/>
            <a:ext cx="43941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(e) = min{c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c,b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(e)} = 1 + 1 = 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2" name="TextBox 228"/>
          <p:cNvSpPr/>
          <p:nvPr/>
        </p:nvSpPr>
        <p:spPr>
          <a:xfrm>
            <a:off x="2057400" y="5169600"/>
            <a:ext cx="44751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(f) = min{c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c,b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(f)} = 1+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∞ = ∞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3" name="TextBox 229"/>
          <p:cNvSpPr/>
          <p:nvPr/>
        </p:nvSpPr>
        <p:spPr>
          <a:xfrm>
            <a:off x="2057400" y="5484600"/>
            <a:ext cx="434304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(g) = min{c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c,b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(g)} = 1+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∞ = ∞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4" name="TextBox 230"/>
          <p:cNvSpPr/>
          <p:nvPr/>
        </p:nvSpPr>
        <p:spPr>
          <a:xfrm>
            <a:off x="2286000" y="6112800"/>
            <a:ext cx="426708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(i) = min{c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c,b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(i)} = 1+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∞ = ∞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5" name="TextBox 231"/>
          <p:cNvSpPr/>
          <p:nvPr/>
        </p:nvSpPr>
        <p:spPr>
          <a:xfrm>
            <a:off x="2057400" y="5807880"/>
            <a:ext cx="44953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(h) = min{c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bc,b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+D</a:t>
            </a:r>
            <a:r>
              <a:rPr b="0" lang="en-US" sz="1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(h)} = 1+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∞ = ∞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6" name="Down Arrow 237"/>
          <p:cNvSpPr/>
          <p:nvPr/>
        </p:nvSpPr>
        <p:spPr>
          <a:xfrm rot="16200000">
            <a:off x="6704280" y="5411160"/>
            <a:ext cx="339120" cy="560160"/>
          </a:xfrm>
          <a:prstGeom prst="down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fffff"/>
              </a:gs>
              <a:gs pos="100000">
                <a:srgbClr val="bdd7ee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207" name="Group 251"/>
          <p:cNvGrpSpPr/>
          <p:nvPr/>
        </p:nvGrpSpPr>
        <p:grpSpPr>
          <a:xfrm>
            <a:off x="7147440" y="3969000"/>
            <a:ext cx="1539360" cy="2940120"/>
            <a:chOff x="7147440" y="3969000"/>
            <a:chExt cx="1539360" cy="2940120"/>
          </a:xfrm>
        </p:grpSpPr>
        <p:sp>
          <p:nvSpPr>
            <p:cNvPr id="2208" name="Rectangle 252"/>
            <p:cNvSpPr/>
            <p:nvPr/>
          </p:nvSpPr>
          <p:spPr>
            <a:xfrm>
              <a:off x="7172640" y="3969000"/>
              <a:ext cx="1514160" cy="2425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2209" name="Group 253"/>
            <p:cNvGrpSpPr/>
            <p:nvPr/>
          </p:nvGrpSpPr>
          <p:grpSpPr>
            <a:xfrm>
              <a:off x="7147440" y="3969000"/>
              <a:ext cx="1513800" cy="2940120"/>
              <a:chOff x="7147440" y="3969000"/>
              <a:chExt cx="1513800" cy="2940120"/>
            </a:xfrm>
          </p:grpSpPr>
          <p:sp>
            <p:nvSpPr>
              <p:cNvPr id="2210" name="Rectangle 254"/>
              <p:cNvSpPr/>
              <p:nvPr/>
            </p:nvSpPr>
            <p:spPr>
              <a:xfrm>
                <a:off x="7165440" y="3972960"/>
                <a:ext cx="1495800" cy="370080"/>
              </a:xfrm>
              <a:prstGeom prst="rect">
                <a:avLst/>
              </a:prstGeom>
              <a:solidFill>
                <a:srgbClr val="4472c4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211" name="TextBox 255"/>
              <p:cNvSpPr/>
              <p:nvPr/>
            </p:nvSpPr>
            <p:spPr>
              <a:xfrm>
                <a:off x="7147440" y="3969000"/>
                <a:ext cx="1456920" cy="294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Aft>
                    <a:spcPts val="400"/>
                  </a:spcAft>
                </a:pPr>
                <a:r>
                  <a:rPr b="0" lang="en-US" sz="20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rPr>
                  <a:t>DV in c: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(a) =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 9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(b)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(c) = 0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(d) = 2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(e)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(f)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(g)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(h)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(i)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2212" name="Straight Connector 256"/>
              <p:cNvCxnSpPr/>
              <p:nvPr/>
            </p:nvCxnSpPr>
            <p:spPr>
              <a:xfrm>
                <a:off x="7154280" y="4343400"/>
                <a:ext cx="150588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sp>
            <p:nvSpPr>
              <p:cNvPr id="2213" name="Rectangle 257"/>
              <p:cNvSpPr/>
              <p:nvPr/>
            </p:nvSpPr>
            <p:spPr>
              <a:xfrm>
                <a:off x="7157520" y="3972960"/>
                <a:ext cx="1503720" cy="262044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214" name="Freeform 2"/>
          <p:cNvSpPr/>
          <p:nvPr/>
        </p:nvSpPr>
        <p:spPr>
          <a:xfrm>
            <a:off x="3068280" y="2194560"/>
            <a:ext cx="5597640" cy="1625400"/>
          </a:xfrm>
          <a:custGeom>
            <a:avLst/>
            <a:gdLst>
              <a:gd name="textAreaLeft" fmla="*/ 0 w 5597640"/>
              <a:gd name="textAreaRight" fmla="*/ 5598000 w 5597640"/>
              <a:gd name="textAreaTop" fmla="*/ 0 h 1625400"/>
              <a:gd name="textAreaBottom" fmla="*/ 1625760 h 1625400"/>
              <a:gd name="GluePoint1X" fmla="*/ 5120640 w 5598160"/>
              <a:gd name="GluePoint1Y" fmla="*/ 0 h 1625600"/>
              <a:gd name="GluePoint2X" fmla="*/ 0 w 5598160"/>
              <a:gd name="GluePoint2Y" fmla="*/ 1615440 h 1625600"/>
              <a:gd name="GluePoint3X" fmla="*/ 3535680 w 5598160"/>
              <a:gd name="GluePoint3Y" fmla="*/ 1625600 h 1625600"/>
              <a:gd name="GluePoint4X" fmla="*/ 5598160 w 5598160"/>
              <a:gd name="GluePoint4Y" fmla="*/ 50800 h 1625600"/>
              <a:gd name="GluePoint5X" fmla="*/ 5120640 w 5598160"/>
              <a:gd name="GluePoint5Y" fmla="*/ 0 h 1625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5598160" h="1625600">
                <a:moveTo>
                  <a:pt x="5120640" y="0"/>
                </a:moveTo>
                <a:cubicBezTo>
                  <a:pt x="3495040" y="812800"/>
                  <a:pt x="2540000" y="1127760"/>
                  <a:pt x="0" y="1615440"/>
                </a:cubicBezTo>
                <a:lnTo>
                  <a:pt x="3535680" y="1625600"/>
                </a:lnTo>
                <a:cubicBezTo>
                  <a:pt x="4087707" y="988907"/>
                  <a:pt x="4243493" y="890693"/>
                  <a:pt x="5598160" y="50800"/>
                </a:cubicBezTo>
                <a:cubicBezTo>
                  <a:pt x="5317067" y="98213"/>
                  <a:pt x="5259493" y="115147"/>
                  <a:pt x="5120640" y="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deebf7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215" name="Group 232"/>
          <p:cNvGrpSpPr/>
          <p:nvPr/>
        </p:nvGrpSpPr>
        <p:grpSpPr>
          <a:xfrm>
            <a:off x="7868520" y="1698120"/>
            <a:ext cx="1195560" cy="1022040"/>
            <a:chOff x="7868520" y="1698120"/>
            <a:chExt cx="1195560" cy="1022040"/>
          </a:xfrm>
        </p:grpSpPr>
        <p:sp>
          <p:nvSpPr>
            <p:cNvPr id="2216" name="Freeform 234"/>
            <p:cNvSpPr/>
            <p:nvPr/>
          </p:nvSpPr>
          <p:spPr>
            <a:xfrm>
              <a:off x="7868520" y="1698120"/>
              <a:ext cx="1195560" cy="1022040"/>
            </a:xfrm>
            <a:custGeom>
              <a:avLst/>
              <a:gdLst>
                <a:gd name="textAreaLeft" fmla="*/ 0 w 1195560"/>
                <a:gd name="textAreaRight" fmla="*/ 1195920 w 1195560"/>
                <a:gd name="textAreaTop" fmla="*/ 0 h 1022040"/>
                <a:gd name="textAreaBottom" fmla="*/ 1022400 h 1022040"/>
                <a:gd name="GluePoint1X" fmla="*/ 1416106 w 2820074"/>
                <a:gd name="GluePoint1Y" fmla="*/ 606903 h 2290046"/>
                <a:gd name="GluePoint2X" fmla="*/ 1096471 w 2820074"/>
                <a:gd name="GluePoint2Y" fmla="*/ 222531 h 2290046"/>
                <a:gd name="GluePoint3X" fmla="*/ 954860 w 2820074"/>
                <a:gd name="GluePoint3Y" fmla="*/ 667593 h 2290046"/>
                <a:gd name="GluePoint4X" fmla="*/ 89012 w 2820074"/>
                <a:gd name="GluePoint4Y" fmla="*/ 242761 h 2290046"/>
                <a:gd name="GluePoint5X" fmla="*/ 610948 w 2820074"/>
                <a:gd name="GluePoint5Y" fmla="*/ 797066 h 2290046"/>
                <a:gd name="GluePoint6X" fmla="*/ 0 w 2820074"/>
                <a:gd name="GluePoint6Y" fmla="*/ 902262 h 2290046"/>
                <a:gd name="GluePoint7X" fmla="*/ 481476 w 2820074"/>
                <a:gd name="GluePoint7Y" fmla="*/ 1246174 h 2290046"/>
                <a:gd name="GluePoint8X" fmla="*/ 36414 w 2820074"/>
                <a:gd name="GluePoint8Y" fmla="*/ 1533441 h 2290046"/>
                <a:gd name="GluePoint9X" fmla="*/ 760651 w 2820074"/>
                <a:gd name="GluePoint9Y" fmla="*/ 1476797 h 2290046"/>
                <a:gd name="GluePoint10X" fmla="*/ 623086 w 2820074"/>
                <a:gd name="GluePoint10Y" fmla="*/ 1869260 h 2290046"/>
                <a:gd name="GluePoint11X" fmla="*/ 1003412 w 2820074"/>
                <a:gd name="GluePoint11Y" fmla="*/ 1658867 h 2290046"/>
                <a:gd name="GluePoint12X" fmla="*/ 1104563 w 2820074"/>
                <a:gd name="GluePoint12Y" fmla="*/ 2290046 h 2290046"/>
                <a:gd name="GluePoint13X" fmla="*/ 1383738 w 2820074"/>
                <a:gd name="GluePoint13Y" fmla="*/ 1569855 h 2290046"/>
                <a:gd name="GluePoint14X" fmla="*/ 1743833 w 2820074"/>
                <a:gd name="GluePoint14Y" fmla="*/ 2091791 h 2290046"/>
                <a:gd name="GluePoint15X" fmla="*/ 1836892 w 2820074"/>
                <a:gd name="GluePoint15Y" fmla="*/ 1529395 h 2290046"/>
                <a:gd name="GluePoint16X" fmla="*/ 2375012 w 2820074"/>
                <a:gd name="GluePoint16Y" fmla="*/ 1889491 h 2290046"/>
                <a:gd name="GluePoint17X" fmla="*/ 2209125 w 2820074"/>
                <a:gd name="GluePoint17Y" fmla="*/ 1351370 h 2290046"/>
                <a:gd name="GluePoint18X" fmla="*/ 2820074 w 2820074"/>
                <a:gd name="GluePoint18Y" fmla="*/ 1399922 h 2290046"/>
                <a:gd name="GluePoint19X" fmla="*/ 2310276 w 2820074"/>
                <a:gd name="GluePoint19Y" fmla="*/ 1092425 h 2290046"/>
                <a:gd name="GluePoint20X" fmla="*/ 2775568 w 2820074"/>
                <a:gd name="GluePoint20Y" fmla="*/ 837526 h 2290046"/>
                <a:gd name="GluePoint21X" fmla="*/ 2196987 w 2820074"/>
                <a:gd name="GluePoint21Y" fmla="*/ 768744 h 2290046"/>
                <a:gd name="GluePoint22X" fmla="*/ 2427610 w 2820074"/>
                <a:gd name="GluePoint22Y" fmla="*/ 441016 h 2290046"/>
                <a:gd name="GluePoint23X" fmla="*/ 1844984 w 2820074"/>
                <a:gd name="GluePoint23Y" fmla="*/ 546213 h 2290046"/>
                <a:gd name="GluePoint24X" fmla="*/ 1901628 w 2820074"/>
                <a:gd name="GluePoint24Y" fmla="*/ 0 h 2290046"/>
                <a:gd name="GluePoint25X" fmla="*/ 1416106 w 2820074"/>
                <a:gd name="GluePoint25Y" fmla="*/ 606903 h 229004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</a:cxnLst>
              <a:rect l="textAreaLeft" t="textAreaTop" r="textAreaRight" b="textAreaBottom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217" name="TextBox 235"/>
            <p:cNvSpPr/>
            <p:nvPr/>
          </p:nvSpPr>
          <p:spPr>
            <a:xfrm>
              <a:off x="7966800" y="1983240"/>
              <a:ext cx="101988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trike="noStrike" u="none">
                  <a:solidFill>
                    <a:srgbClr val="c00000"/>
                  </a:solidFill>
                  <a:effectLst/>
                  <a:uFillTx/>
                  <a:latin typeface="Calibri"/>
                </a:rPr>
                <a:t>compute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905" dur="indefinite" restart="never" nodeType="tmRoot">
          <p:childTnLst>
            <p:seq>
              <p:cTn id="906" dur="indefinite" nodeType="mainSeq">
                <p:childTnLst>
                  <p:par>
                    <p:cTn id="907" fill="hold">
                      <p:stCondLst>
                        <p:cond delay="0"/>
                      </p:stCondLst>
                      <p:childTnLst>
                        <p:par>
                          <p:cTn id="908" fill="hold">
                            <p:stCondLst>
                              <p:cond delay="0"/>
                            </p:stCondLst>
                            <p:childTnLst>
                              <p:par>
                                <p:cTn id="90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11" dur="1000"/>
                                        <p:tgtEl>
                                          <p:spTgt spid="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2" fill="hold">
                      <p:stCondLst>
                        <p:cond delay="indefinite"/>
                      </p:stCondLst>
                      <p:childTnLst>
                        <p:par>
                          <p:cTn id="913" fill="hold">
                            <p:stCondLst>
                              <p:cond delay="0"/>
                            </p:stCondLst>
                            <p:childTnLst>
                              <p:par>
                                <p:cTn id="914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916" dur="500"/>
                                        <p:tgtEl>
                                          <p:spTgt spid="2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7" fill="hold">
                            <p:stCondLst>
                              <p:cond delay="500"/>
                            </p:stCondLst>
                            <p:childTnLst>
                              <p:par>
                                <p:cTn id="918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920" dur="500"/>
                                        <p:tgtEl>
                                          <p:spTgt spid="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1" fill="hold">
                      <p:stCondLst>
                        <p:cond delay="indefinite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id="92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25" dur="500"/>
                                        <p:tgtEl>
                                          <p:spTgt spid="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6" fill="hold">
                      <p:stCondLst>
                        <p:cond delay="indefinite"/>
                      </p:stCondLst>
                      <p:childTnLst>
                        <p:par>
                          <p:cTn id="927" fill="hold">
                            <p:stCondLst>
                              <p:cond delay="0"/>
                            </p:stCondLst>
                            <p:childTnLst>
                              <p:par>
                                <p:cTn id="92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30" dur="500"/>
                                        <p:tgtEl>
                                          <p:spTgt spid="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1" fill="hold">
                      <p:stCondLst>
                        <p:cond delay="indefinite"/>
                      </p:stCondLst>
                      <p:childTnLst>
                        <p:par>
                          <p:cTn id="932" fill="hold">
                            <p:stCondLst>
                              <p:cond delay="0"/>
                            </p:stCondLst>
                            <p:childTnLst>
                              <p:par>
                                <p:cTn id="93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35" dur="500"/>
                                        <p:tgtEl>
                                          <p:spTgt spid="2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6" fill="hold">
                      <p:stCondLst>
                        <p:cond delay="indefinite"/>
                      </p:stCondLst>
                      <p:childTnLst>
                        <p:par>
                          <p:cTn id="937" fill="hold">
                            <p:stCondLst>
                              <p:cond delay="0"/>
                            </p:stCondLst>
                            <p:childTnLst>
                              <p:par>
                                <p:cTn id="93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40" dur="500"/>
                                        <p:tgtEl>
                                          <p:spTgt spid="2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1" fill="hold">
                      <p:stCondLst>
                        <p:cond delay="indefinite"/>
                      </p:stCondLst>
                      <p:childTnLst>
                        <p:par>
                          <p:cTn id="942" fill="hold">
                            <p:stCondLst>
                              <p:cond delay="0"/>
                            </p:stCondLst>
                            <p:childTnLst>
                              <p:par>
                                <p:cTn id="94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45" dur="500"/>
                                        <p:tgtEl>
                                          <p:spTgt spid="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6" fill="hold">
                      <p:stCondLst>
                        <p:cond delay="indefinite"/>
                      </p:stCondLst>
                      <p:childTnLst>
                        <p:par>
                          <p:cTn id="947" fill="hold">
                            <p:stCondLst>
                              <p:cond delay="0"/>
                            </p:stCondLst>
                            <p:childTnLst>
                              <p:par>
                                <p:cTn id="94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50" dur="500"/>
                                        <p:tgtEl>
                                          <p:spTgt spid="2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1" fill="hold">
                      <p:stCondLst>
                        <p:cond delay="indefinite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id="95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55" dur="500"/>
                                        <p:tgtEl>
                                          <p:spTgt spid="2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6" fill="hold">
                      <p:stCondLst>
                        <p:cond delay="indefinite"/>
                      </p:stCondLst>
                      <p:childTnLst>
                        <p:par>
                          <p:cTn id="957" fill="hold">
                            <p:stCondLst>
                              <p:cond delay="0"/>
                            </p:stCondLst>
                            <p:childTnLst>
                              <p:par>
                                <p:cTn id="95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60" dur="500"/>
                                        <p:tgtEl>
                                          <p:spTgt spid="2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1" fill="hold">
                      <p:stCondLst>
                        <p:cond delay="indefinite"/>
                      </p:stCondLst>
                      <p:childTnLst>
                        <p:par>
                          <p:cTn id="962" fill="hold">
                            <p:stCondLst>
                              <p:cond delay="0"/>
                            </p:stCondLst>
                            <p:childTnLst>
                              <p:par>
                                <p:cTn id="96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65" dur="500"/>
                                        <p:tgtEl>
                                          <p:spTgt spid="2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6" fill="hold">
                            <p:stCondLst>
                              <p:cond delay="500"/>
                            </p:stCondLst>
                            <p:childTnLst>
                              <p:par>
                                <p:cTn id="96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69" dur="500"/>
                                        <p:tgtEl>
                                          <p:spTgt spid="2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0" fill="hold">
                      <p:stCondLst>
                        <p:cond delay="indefinite"/>
                      </p:stCondLst>
                      <p:childTnLst>
                        <p:par>
                          <p:cTn id="971" fill="hold">
                            <p:stCondLst>
                              <p:cond delay="0"/>
                            </p:stCondLst>
                            <p:childTnLst>
                              <p:par>
                                <p:cTn id="972" nodeType="click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006 -3.7037E-007 L 0.20417 -0.54653 E">
                                      <p:cBhvr>
                                        <p:cTn id="973" dur="2000" fill="hold"/>
                                        <p:tgtEl>
                                          <p:spTgt spid="22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PlaceHolder 1"/>
          <p:cNvSpPr>
            <a:spLocks noGrp="1"/>
          </p:cNvSpPr>
          <p:nvPr>
            <p:ph type="title"/>
          </p:nvPr>
        </p:nvSpPr>
        <p:spPr>
          <a:xfrm>
            <a:off x="826560" y="173880"/>
            <a:ext cx="5844960" cy="8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75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Distance vector example: computation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9" name="PlaceHolder 2"/>
          <p:cNvSpPr>
            <a:spLocks noGrp="1"/>
          </p:cNvSpPr>
          <p:nvPr>
            <p:ph type="sldNum" idx="78"/>
          </p:nvPr>
        </p:nvSpPr>
        <p:spPr>
          <a:xfrm>
            <a:off x="9219600" y="64429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Network Layer: 5-</a:t>
            </a:r>
            <a:fld id="{11021DC6-3E08-45B6-A23A-B8E015755197}" type="slidenum">
              <a:rPr b="0" lang="en-US" sz="1100" strike="noStrike" u="none">
                <a:solidFill>
                  <a:schemeClr val="lt1">
                    <a:tint val="75000"/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220" name="Straight Connector 81"/>
          <p:cNvCxnSpPr>
            <a:stCxn id="2221" idx="2"/>
            <a:endCxn id="2221" idx="0"/>
          </p:cNvCxnSpPr>
          <p:nvPr/>
        </p:nvCxnSpPr>
        <p:spPr>
          <a:xfrm flipV="1">
            <a:off x="6530040" y="2129040"/>
            <a:ext cx="360" cy="38631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2222" name="Straight Connector 95"/>
          <p:cNvCxnSpPr>
            <a:stCxn id="2221" idx="1"/>
            <a:endCxn id="2221" idx="3"/>
          </p:cNvCxnSpPr>
          <p:nvPr/>
        </p:nvCxnSpPr>
        <p:spPr>
          <a:xfrm>
            <a:off x="4598640" y="4060440"/>
            <a:ext cx="386316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2221" name="Rectangle 75"/>
          <p:cNvSpPr/>
          <p:nvPr/>
        </p:nvSpPr>
        <p:spPr>
          <a:xfrm>
            <a:off x="4598640" y="2129040"/>
            <a:ext cx="3862800" cy="38628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3" name="Rectangle 149"/>
          <p:cNvSpPr/>
          <p:nvPr/>
        </p:nvSpPr>
        <p:spPr>
          <a:xfrm>
            <a:off x="8380440" y="2200320"/>
            <a:ext cx="132120" cy="185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4" name="TextBox 214"/>
          <p:cNvSpPr/>
          <p:nvPr/>
        </p:nvSpPr>
        <p:spPr>
          <a:xfrm>
            <a:off x="4305960" y="287064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5" name="TextBox 215"/>
          <p:cNvSpPr/>
          <p:nvPr/>
        </p:nvSpPr>
        <p:spPr>
          <a:xfrm>
            <a:off x="6217560" y="286092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6" name="TextBox 216"/>
          <p:cNvSpPr/>
          <p:nvPr/>
        </p:nvSpPr>
        <p:spPr>
          <a:xfrm>
            <a:off x="4296240" y="488628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7" name="TextBox 217"/>
          <p:cNvSpPr/>
          <p:nvPr/>
        </p:nvSpPr>
        <p:spPr>
          <a:xfrm>
            <a:off x="6230880" y="488844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8" name="TextBox 218"/>
          <p:cNvSpPr/>
          <p:nvPr/>
        </p:nvSpPr>
        <p:spPr>
          <a:xfrm>
            <a:off x="8154360" y="489024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9" name="TextBox 220"/>
          <p:cNvSpPr/>
          <p:nvPr/>
        </p:nvSpPr>
        <p:spPr>
          <a:xfrm>
            <a:off x="5442120" y="402984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0" name="TextBox 221"/>
          <p:cNvSpPr/>
          <p:nvPr/>
        </p:nvSpPr>
        <p:spPr>
          <a:xfrm>
            <a:off x="7353720" y="402012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1" name="TextBox 222"/>
          <p:cNvSpPr/>
          <p:nvPr/>
        </p:nvSpPr>
        <p:spPr>
          <a:xfrm>
            <a:off x="5443920" y="595332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2" name="TextBox 223"/>
          <p:cNvSpPr/>
          <p:nvPr/>
        </p:nvSpPr>
        <p:spPr>
          <a:xfrm>
            <a:off x="7355880" y="594360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3" name="TextBox 224"/>
          <p:cNvSpPr/>
          <p:nvPr/>
        </p:nvSpPr>
        <p:spPr>
          <a:xfrm>
            <a:off x="5445720" y="2124000"/>
            <a:ext cx="301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4" name="TextBox 225"/>
          <p:cNvSpPr/>
          <p:nvPr/>
        </p:nvSpPr>
        <p:spPr>
          <a:xfrm>
            <a:off x="7357680" y="2114280"/>
            <a:ext cx="28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35" name="Group 158"/>
          <p:cNvGrpSpPr/>
          <p:nvPr/>
        </p:nvGrpSpPr>
        <p:grpSpPr>
          <a:xfrm>
            <a:off x="0" y="1143000"/>
            <a:ext cx="1232280" cy="1598400"/>
            <a:chOff x="0" y="1143000"/>
            <a:chExt cx="1232280" cy="1598400"/>
          </a:xfrm>
        </p:grpSpPr>
        <p:sp>
          <p:nvSpPr>
            <p:cNvPr id="2236" name="TextBox 159"/>
            <p:cNvSpPr/>
            <p:nvPr/>
          </p:nvSpPr>
          <p:spPr>
            <a:xfrm>
              <a:off x="0" y="2163240"/>
              <a:ext cx="93996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32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t=1</a:t>
              </a: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37" name="Group 160"/>
            <p:cNvGrpSpPr/>
            <p:nvPr/>
          </p:nvGrpSpPr>
          <p:grpSpPr>
            <a:xfrm>
              <a:off x="7920" y="1143000"/>
              <a:ext cx="1224360" cy="1080360"/>
              <a:chOff x="7920" y="1143000"/>
              <a:chExt cx="1224360" cy="1080360"/>
            </a:xfrm>
          </p:grpSpPr>
          <p:sp>
            <p:nvSpPr>
              <p:cNvPr id="2238" name="Oval 161"/>
              <p:cNvSpPr/>
              <p:nvPr/>
            </p:nvSpPr>
            <p:spPr>
              <a:xfrm>
                <a:off x="16920" y="1149840"/>
                <a:ext cx="1203840" cy="1062000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2239" name="Straight Connector 162"/>
              <p:cNvCxnSpPr/>
              <p:nvPr/>
            </p:nvCxnSpPr>
            <p:spPr>
              <a:xfrm>
                <a:off x="614160" y="1143000"/>
                <a:ext cx="360" cy="954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240" name="Straight Connector 163"/>
              <p:cNvCxnSpPr/>
              <p:nvPr/>
            </p:nvCxnSpPr>
            <p:spPr>
              <a:xfrm>
                <a:off x="614160" y="2127600"/>
                <a:ext cx="360" cy="9612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241" name="Straight Connector 164"/>
              <p:cNvCxnSpPr/>
              <p:nvPr/>
            </p:nvCxnSpPr>
            <p:spPr>
              <a:xfrm>
                <a:off x="7920" y="1683000"/>
                <a:ext cx="10800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242" name="Straight Connector 165"/>
              <p:cNvCxnSpPr/>
              <p:nvPr/>
            </p:nvCxnSpPr>
            <p:spPr>
              <a:xfrm>
                <a:off x="1123920" y="1683000"/>
                <a:ext cx="108720" cy="36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243" name="Straight Connector 166"/>
              <p:cNvCxnSpPr/>
              <p:nvPr/>
            </p:nvCxnSpPr>
            <p:spPr>
              <a:xfrm>
                <a:off x="884880" y="2080080"/>
                <a:ext cx="48600" cy="684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244" name="Straight Connector 167"/>
              <p:cNvCxnSpPr/>
              <p:nvPr/>
            </p:nvCxnSpPr>
            <p:spPr>
              <a:xfrm>
                <a:off x="309240" y="1216080"/>
                <a:ext cx="48960" cy="680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245" name="Straight Connector 168"/>
              <p:cNvCxnSpPr/>
              <p:nvPr/>
            </p:nvCxnSpPr>
            <p:spPr>
              <a:xfrm flipH="1">
                <a:off x="297720" y="2075040"/>
                <a:ext cx="48960" cy="680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246" name="Straight Connector 169"/>
              <p:cNvCxnSpPr/>
              <p:nvPr/>
            </p:nvCxnSpPr>
            <p:spPr>
              <a:xfrm flipH="1">
                <a:off x="873360" y="1210680"/>
                <a:ext cx="48600" cy="684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247" name="Straight Connector 170"/>
              <p:cNvCxnSpPr/>
              <p:nvPr/>
            </p:nvCxnSpPr>
            <p:spPr>
              <a:xfrm flipH="1">
                <a:off x="1078560" y="1406880"/>
                <a:ext cx="65520" cy="428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248" name="Straight Connector 171"/>
              <p:cNvCxnSpPr/>
              <p:nvPr/>
            </p:nvCxnSpPr>
            <p:spPr>
              <a:xfrm flipH="1">
                <a:off x="98640" y="1909440"/>
                <a:ext cx="65880" cy="4284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249" name="Straight Connector 172"/>
              <p:cNvCxnSpPr/>
              <p:nvPr/>
            </p:nvCxnSpPr>
            <p:spPr>
              <a:xfrm flipH="1" flipV="1">
                <a:off x="115560" y="1411920"/>
                <a:ext cx="6624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cxnSp>
            <p:nvCxnSpPr>
              <p:cNvPr id="2250" name="Straight Connector 173"/>
              <p:cNvCxnSpPr/>
              <p:nvPr/>
            </p:nvCxnSpPr>
            <p:spPr>
              <a:xfrm flipH="1" flipV="1">
                <a:off x="1078560" y="1914480"/>
                <a:ext cx="65520" cy="43200"/>
              </a:xfrm>
              <a:prstGeom prst="straightConnector1">
                <a:avLst/>
              </a:prstGeom>
              <a:ln cap="rnd" w="25400">
                <a:solidFill>
                  <a:srgbClr val="c00000"/>
                </a:solidFill>
              </a:ln>
            </p:spPr>
          </p:cxnSp>
          <p:sp>
            <p:nvSpPr>
              <p:cNvPr id="2251" name="Oval 174"/>
              <p:cNvSpPr/>
              <p:nvPr/>
            </p:nvSpPr>
            <p:spPr>
              <a:xfrm>
                <a:off x="540720" y="1615320"/>
                <a:ext cx="147240" cy="1371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cxnSp>
        <p:nvCxnSpPr>
          <p:cNvPr id="2252" name="Straight Connector 152"/>
          <p:cNvCxnSpPr/>
          <p:nvPr/>
        </p:nvCxnSpPr>
        <p:spPr>
          <a:xfrm>
            <a:off x="919440" y="1995840"/>
            <a:ext cx="360" cy="196200"/>
          </a:xfrm>
          <a:prstGeom prst="straightConnector1">
            <a:avLst/>
          </a:prstGeom>
          <a:ln w="25400">
            <a:solidFill>
              <a:srgbClr val="c00000"/>
            </a:solidFill>
          </a:ln>
        </p:spPr>
      </p:cxnSp>
      <p:sp>
        <p:nvSpPr>
          <p:cNvPr id="2253" name="Rectangle 153"/>
          <p:cNvSpPr/>
          <p:nvPr/>
        </p:nvSpPr>
        <p:spPr>
          <a:xfrm>
            <a:off x="6626880" y="275400"/>
            <a:ext cx="3037680" cy="628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254" name="Group 240"/>
          <p:cNvGrpSpPr/>
          <p:nvPr/>
        </p:nvGrpSpPr>
        <p:grpSpPr>
          <a:xfrm>
            <a:off x="6400800" y="235800"/>
            <a:ext cx="3200400" cy="1917360"/>
            <a:chOff x="6400800" y="235800"/>
            <a:chExt cx="3200400" cy="1917360"/>
          </a:xfrm>
        </p:grpSpPr>
        <p:sp>
          <p:nvSpPr>
            <p:cNvPr id="2255" name="Freeform 241"/>
            <p:cNvSpPr/>
            <p:nvPr/>
          </p:nvSpPr>
          <p:spPr>
            <a:xfrm>
              <a:off x="6400800" y="304920"/>
              <a:ext cx="3003840" cy="1848240"/>
            </a:xfrm>
            <a:custGeom>
              <a:avLst/>
              <a:gdLst>
                <a:gd name="textAreaLeft" fmla="*/ 0 w 3003840"/>
                <a:gd name="textAreaRight" fmla="*/ 3004200 w 3003840"/>
                <a:gd name="textAreaTop" fmla="*/ 0 h 1848240"/>
                <a:gd name="textAreaBottom" fmla="*/ 1848600 h 1848240"/>
                <a:gd name="GluePoint1X" fmla="*/ 0 w 2340077"/>
                <a:gd name="GluePoint1Y" fmla="*/ 1691148 h 1848464"/>
                <a:gd name="GluePoint2X" fmla="*/ 383458 w 2340077"/>
                <a:gd name="GluePoint2Y" fmla="*/ 0 h 1848464"/>
                <a:gd name="GluePoint3X" fmla="*/ 2340077 w 2340077"/>
                <a:gd name="GluePoint3Y" fmla="*/ 1386348 h 1848464"/>
                <a:gd name="GluePoint4X" fmla="*/ 137651 w 2340077"/>
                <a:gd name="GluePoint4Y" fmla="*/ 1848464 h 1848464"/>
                <a:gd name="GluePoint5X" fmla="*/ 0 w 2340077"/>
                <a:gd name="GluePoint5Y" fmla="*/ 1691148 h 18484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 rotWithShape="0"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2256" name="Group 242"/>
            <p:cNvGrpSpPr/>
            <p:nvPr/>
          </p:nvGrpSpPr>
          <p:grpSpPr>
            <a:xfrm>
              <a:off x="6803280" y="235800"/>
              <a:ext cx="2797920" cy="1540080"/>
              <a:chOff x="6803280" y="235800"/>
              <a:chExt cx="2797920" cy="1540080"/>
            </a:xfrm>
          </p:grpSpPr>
          <p:sp>
            <p:nvSpPr>
              <p:cNvPr id="2257" name="Rectangle 243"/>
              <p:cNvSpPr/>
              <p:nvPr/>
            </p:nvSpPr>
            <p:spPr>
              <a:xfrm>
                <a:off x="6918480" y="235800"/>
                <a:ext cx="2486160" cy="14353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2258" name="Group 244"/>
              <p:cNvGrpSpPr/>
              <p:nvPr/>
            </p:nvGrpSpPr>
            <p:grpSpPr>
              <a:xfrm>
                <a:off x="6803280" y="248760"/>
                <a:ext cx="2797920" cy="1527120"/>
                <a:chOff x="6803280" y="248760"/>
                <a:chExt cx="2797920" cy="1527120"/>
              </a:xfrm>
            </p:grpSpPr>
            <p:sp>
              <p:nvSpPr>
                <p:cNvPr id="2259" name="Rectangle 245"/>
                <p:cNvSpPr/>
                <p:nvPr/>
              </p:nvSpPr>
              <p:spPr>
                <a:xfrm>
                  <a:off x="6913800" y="252720"/>
                  <a:ext cx="2490840" cy="370080"/>
                </a:xfrm>
                <a:prstGeom prst="rect">
                  <a:avLst/>
                </a:prstGeom>
                <a:solidFill>
                  <a:srgbClr val="4472c4"/>
                </a:solidFill>
                <a:ln>
                  <a:solidFill>
                    <a:srgbClr val="3254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2260" name="TextBox 246"/>
                <p:cNvSpPr/>
                <p:nvPr/>
              </p:nvSpPr>
              <p:spPr>
                <a:xfrm>
                  <a:off x="7414560" y="248760"/>
                  <a:ext cx="1433880" cy="395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spcAft>
                      <a:spcPts val="400"/>
                    </a:spcAft>
                  </a:pPr>
                  <a:r>
                    <a:rPr b="0" lang="en-US" sz="2000" strike="noStrike" u="none">
                      <a:solidFill>
                        <a:schemeClr val="lt1"/>
                      </a:solidFill>
                      <a:effectLst/>
                      <a:uFillTx/>
                      <a:latin typeface="Calibri"/>
                    </a:rPr>
                    <a:t>DV in b:</a:t>
                  </a: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2261" name="Straight Connector 247"/>
                <p:cNvCxnSpPr/>
                <p:nvPr/>
              </p:nvCxnSpPr>
              <p:spPr>
                <a:xfrm>
                  <a:off x="6903000" y="622800"/>
                  <a:ext cx="1443960" cy="360"/>
                </a:xfrm>
                <a:prstGeom prst="straightConnector1">
                  <a:avLst/>
                </a:prstGeom>
                <a:ln w="12700">
                  <a:solidFill>
                    <a:srgbClr val="000000"/>
                  </a:solidFill>
                </a:ln>
              </p:spPr>
            </p:cxnSp>
            <p:sp>
              <p:nvSpPr>
                <p:cNvPr id="2262" name="Rectangle 248"/>
                <p:cNvSpPr/>
                <p:nvPr/>
              </p:nvSpPr>
              <p:spPr>
                <a:xfrm>
                  <a:off x="6906240" y="252720"/>
                  <a:ext cx="2486160" cy="142812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2263" name="TextBox 249"/>
                <p:cNvSpPr/>
                <p:nvPr/>
              </p:nvSpPr>
              <p:spPr>
                <a:xfrm>
                  <a:off x="8175240" y="688320"/>
                  <a:ext cx="1425960" cy="1087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(f) =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(g)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(h)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(i)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64" name="TextBox 250"/>
                <p:cNvSpPr/>
                <p:nvPr/>
              </p:nvSpPr>
              <p:spPr>
                <a:xfrm>
                  <a:off x="6803280" y="685080"/>
                  <a:ext cx="1433880" cy="1088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(a) = 8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(c) =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 1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(d) = ∞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marL="114480" defTabSz="914400">
                    <a:lnSpc>
                      <a:spcPct val="90000"/>
                    </a:lnSpc>
                  </a:pP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D</a:t>
                  </a:r>
                  <a:r>
                    <a:rPr b="0" lang="en-US" sz="1600" strike="noStrike" u="none" baseline="-25000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b</a:t>
                  </a:r>
                  <a:r>
                    <a:rPr b="0" lang="en-US" sz="1600" strike="noStrike" u="non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(e) = 1</a:t>
                  </a: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2265" name="TextBox 280"/>
          <p:cNvSpPr/>
          <p:nvPr/>
        </p:nvSpPr>
        <p:spPr>
          <a:xfrm flipH="1">
            <a:off x="74880" y="2805480"/>
            <a:ext cx="219528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90000"/>
              </a:lnSpc>
              <a:buClr>
                <a:srgbClr val="0000a8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 receives DVs from b, d, f, 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66" name="Group 313"/>
          <p:cNvGrpSpPr/>
          <p:nvPr/>
        </p:nvGrpSpPr>
        <p:grpSpPr>
          <a:xfrm>
            <a:off x="4333680" y="1906200"/>
            <a:ext cx="4395600" cy="403920"/>
            <a:chOff x="4333680" y="1906200"/>
            <a:chExt cx="4395600" cy="403920"/>
          </a:xfrm>
        </p:grpSpPr>
        <p:grpSp>
          <p:nvGrpSpPr>
            <p:cNvPr id="2267" name="Group 314"/>
            <p:cNvGrpSpPr/>
            <p:nvPr/>
          </p:nvGrpSpPr>
          <p:grpSpPr>
            <a:xfrm>
              <a:off x="4333680" y="1906200"/>
              <a:ext cx="532080" cy="368640"/>
              <a:chOff x="4333680" y="1906200"/>
              <a:chExt cx="532080" cy="368640"/>
            </a:xfrm>
          </p:grpSpPr>
          <p:grpSp>
            <p:nvGrpSpPr>
              <p:cNvPr id="2268" name="Group 335"/>
              <p:cNvGrpSpPr/>
              <p:nvPr/>
            </p:nvGrpSpPr>
            <p:grpSpPr>
              <a:xfrm>
                <a:off x="4333680" y="1976760"/>
                <a:ext cx="532080" cy="271440"/>
                <a:chOff x="4333680" y="1976760"/>
                <a:chExt cx="532080" cy="271440"/>
              </a:xfrm>
            </p:grpSpPr>
            <p:sp>
              <p:nvSpPr>
                <p:cNvPr id="2269" name="Oval 5"/>
                <p:cNvSpPr/>
                <p:nvPr/>
              </p:nvSpPr>
              <p:spPr>
                <a:xfrm>
                  <a:off x="4338720" y="20988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270" name="Line 6"/>
                <p:cNvSpPr/>
                <p:nvPr/>
              </p:nvSpPr>
              <p:spPr>
                <a:xfrm>
                  <a:off x="433872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271" name="Line 7"/>
                <p:cNvSpPr/>
                <p:nvPr/>
              </p:nvSpPr>
              <p:spPr>
                <a:xfrm>
                  <a:off x="4865400" y="2085480"/>
                  <a:ext cx="360" cy="9288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272" name="Rectangle 8"/>
                <p:cNvSpPr/>
                <p:nvPr/>
              </p:nvSpPr>
              <p:spPr>
                <a:xfrm>
                  <a:off x="4338720" y="20858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273" name="Oval 9"/>
                <p:cNvSpPr/>
                <p:nvPr/>
              </p:nvSpPr>
              <p:spPr>
                <a:xfrm>
                  <a:off x="4333680" y="1976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274" name="Group 44"/>
              <p:cNvGrpSpPr/>
              <p:nvPr/>
            </p:nvGrpSpPr>
            <p:grpSpPr>
              <a:xfrm>
                <a:off x="4429080" y="1906200"/>
                <a:ext cx="312480" cy="368640"/>
                <a:chOff x="4429080" y="1906200"/>
                <a:chExt cx="312480" cy="368640"/>
              </a:xfrm>
            </p:grpSpPr>
            <p:sp>
              <p:nvSpPr>
                <p:cNvPr id="2275" name="Rectangle 45"/>
                <p:cNvSpPr/>
                <p:nvPr/>
              </p:nvSpPr>
              <p:spPr>
                <a:xfrm>
                  <a:off x="4481280" y="2025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276" name="Text Box 46"/>
                <p:cNvSpPr/>
                <p:nvPr/>
              </p:nvSpPr>
              <p:spPr>
                <a:xfrm>
                  <a:off x="4429080" y="190620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a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277" name="Group 315"/>
            <p:cNvGrpSpPr/>
            <p:nvPr/>
          </p:nvGrpSpPr>
          <p:grpSpPr>
            <a:xfrm>
              <a:off x="6264000" y="1941480"/>
              <a:ext cx="532080" cy="368640"/>
              <a:chOff x="6264000" y="1941480"/>
              <a:chExt cx="532080" cy="368640"/>
            </a:xfrm>
          </p:grpSpPr>
          <p:grpSp>
            <p:nvGrpSpPr>
              <p:cNvPr id="2278" name="Group 326"/>
              <p:cNvGrpSpPr/>
              <p:nvPr/>
            </p:nvGrpSpPr>
            <p:grpSpPr>
              <a:xfrm>
                <a:off x="6264000" y="1984320"/>
                <a:ext cx="532080" cy="271440"/>
                <a:chOff x="6264000" y="1984320"/>
                <a:chExt cx="532080" cy="271440"/>
              </a:xfrm>
            </p:grpSpPr>
            <p:sp>
              <p:nvSpPr>
                <p:cNvPr id="2279" name="Oval 5"/>
                <p:cNvSpPr/>
                <p:nvPr/>
              </p:nvSpPr>
              <p:spPr>
                <a:xfrm>
                  <a:off x="6269040" y="21063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280" name="Line 6"/>
                <p:cNvSpPr/>
                <p:nvPr/>
              </p:nvSpPr>
              <p:spPr>
                <a:xfrm>
                  <a:off x="626868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281" name="Line 7"/>
                <p:cNvSpPr/>
                <p:nvPr/>
              </p:nvSpPr>
              <p:spPr>
                <a:xfrm>
                  <a:off x="6795720" y="20930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282" name="Rectangle 8"/>
                <p:cNvSpPr/>
                <p:nvPr/>
              </p:nvSpPr>
              <p:spPr>
                <a:xfrm>
                  <a:off x="6269040" y="20934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283" name="Oval 9"/>
                <p:cNvSpPr/>
                <p:nvPr/>
              </p:nvSpPr>
              <p:spPr>
                <a:xfrm>
                  <a:off x="6264000" y="198432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284" name="Group 44"/>
              <p:cNvGrpSpPr/>
              <p:nvPr/>
            </p:nvGrpSpPr>
            <p:grpSpPr>
              <a:xfrm>
                <a:off x="6359040" y="1941480"/>
                <a:ext cx="312480" cy="368640"/>
                <a:chOff x="6359040" y="1941480"/>
                <a:chExt cx="312480" cy="368640"/>
              </a:xfrm>
            </p:grpSpPr>
            <p:sp>
              <p:nvSpPr>
                <p:cNvPr id="2285" name="Rectangle 45"/>
                <p:cNvSpPr/>
                <p:nvPr/>
              </p:nvSpPr>
              <p:spPr>
                <a:xfrm>
                  <a:off x="6411600" y="203256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286" name="Text Box 46"/>
                <p:cNvSpPr/>
                <p:nvPr/>
              </p:nvSpPr>
              <p:spPr>
                <a:xfrm>
                  <a:off x="6359040" y="194148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b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287" name="Group 316"/>
            <p:cNvGrpSpPr/>
            <p:nvPr/>
          </p:nvGrpSpPr>
          <p:grpSpPr>
            <a:xfrm>
              <a:off x="8197200" y="1938960"/>
              <a:ext cx="532080" cy="368640"/>
              <a:chOff x="8197200" y="1938960"/>
              <a:chExt cx="532080" cy="368640"/>
            </a:xfrm>
          </p:grpSpPr>
          <p:grpSp>
            <p:nvGrpSpPr>
              <p:cNvPr id="2288" name="Group 317"/>
              <p:cNvGrpSpPr/>
              <p:nvPr/>
            </p:nvGrpSpPr>
            <p:grpSpPr>
              <a:xfrm>
                <a:off x="8197200" y="1981800"/>
                <a:ext cx="532080" cy="271440"/>
                <a:chOff x="8197200" y="1981800"/>
                <a:chExt cx="532080" cy="271440"/>
              </a:xfrm>
            </p:grpSpPr>
            <p:sp>
              <p:nvSpPr>
                <p:cNvPr id="2289" name="Oval 5"/>
                <p:cNvSpPr/>
                <p:nvPr/>
              </p:nvSpPr>
              <p:spPr>
                <a:xfrm>
                  <a:off x="8202240" y="2103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290" name="Line 6"/>
                <p:cNvSpPr/>
                <p:nvPr/>
              </p:nvSpPr>
              <p:spPr>
                <a:xfrm>
                  <a:off x="820224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291" name="Line 7"/>
                <p:cNvSpPr/>
                <p:nvPr/>
              </p:nvSpPr>
              <p:spPr>
                <a:xfrm>
                  <a:off x="8728920" y="2090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292" name="Rectangle 8"/>
                <p:cNvSpPr/>
                <p:nvPr/>
              </p:nvSpPr>
              <p:spPr>
                <a:xfrm>
                  <a:off x="8202240" y="2090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293" name="Oval 9"/>
                <p:cNvSpPr/>
                <p:nvPr/>
              </p:nvSpPr>
              <p:spPr>
                <a:xfrm>
                  <a:off x="8197200" y="1981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294" name="Group 44"/>
              <p:cNvGrpSpPr/>
              <p:nvPr/>
            </p:nvGrpSpPr>
            <p:grpSpPr>
              <a:xfrm>
                <a:off x="8299440" y="1938960"/>
                <a:ext cx="299880" cy="368640"/>
                <a:chOff x="8299440" y="1938960"/>
                <a:chExt cx="299880" cy="368640"/>
              </a:xfrm>
            </p:grpSpPr>
            <p:sp>
              <p:nvSpPr>
                <p:cNvPr id="2295" name="Rectangle 45"/>
                <p:cNvSpPr/>
                <p:nvPr/>
              </p:nvSpPr>
              <p:spPr>
                <a:xfrm>
                  <a:off x="8344800" y="2030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296" name="Text Box 46"/>
                <p:cNvSpPr/>
                <p:nvPr/>
              </p:nvSpPr>
              <p:spPr>
                <a:xfrm>
                  <a:off x="8299440" y="1938960"/>
                  <a:ext cx="2998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c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2297" name="Freeform 182"/>
          <p:cNvSpPr/>
          <p:nvPr/>
        </p:nvSpPr>
        <p:spPr>
          <a:xfrm>
            <a:off x="6774840" y="1106280"/>
            <a:ext cx="2967480" cy="3014280"/>
          </a:xfrm>
          <a:custGeom>
            <a:avLst/>
            <a:gdLst>
              <a:gd name="textAreaLeft" fmla="*/ 0 w 2967480"/>
              <a:gd name="textAreaRight" fmla="*/ 2967840 w 2967480"/>
              <a:gd name="textAreaTop" fmla="*/ 0 h 3014280"/>
              <a:gd name="textAreaBottom" fmla="*/ 3014640 h 3014280"/>
              <a:gd name="GluePoint1X" fmla="*/ 0 w 2967758"/>
              <a:gd name="GluePoint1Y" fmla="*/ 2877901 h 3014570"/>
              <a:gd name="GluePoint2X" fmla="*/ 2919524 w 2967758"/>
              <a:gd name="GluePoint2Y" fmla="*/ 0 h 3014570"/>
              <a:gd name="GluePoint3X" fmla="*/ 2960165 w 2967758"/>
              <a:gd name="GluePoint3Y" fmla="*/ 2583590 h 3014570"/>
              <a:gd name="GluePoint4X" fmla="*/ 50143 w 2967758"/>
              <a:gd name="GluePoint4Y" fmla="*/ 3014570 h 3014570"/>
              <a:gd name="GluePoint5X" fmla="*/ 0 w 2967758"/>
              <a:gd name="GluePoint5Y" fmla="*/ 2877901 h 301457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967758" h="3014570">
                <a:moveTo>
                  <a:pt x="0" y="2877901"/>
                </a:moveTo>
                <a:cubicBezTo>
                  <a:pt x="1740309" y="2497721"/>
                  <a:pt x="2305008" y="1488604"/>
                  <a:pt x="2919524" y="0"/>
                </a:cubicBezTo>
                <a:cubicBezTo>
                  <a:pt x="2919524" y="783303"/>
                  <a:pt x="2990645" y="1719007"/>
                  <a:pt x="2960165" y="2583590"/>
                </a:cubicBezTo>
                <a:cubicBezTo>
                  <a:pt x="2152608" y="2386944"/>
                  <a:pt x="1676726" y="2623574"/>
                  <a:pt x="50143" y="3014570"/>
                </a:cubicBezTo>
                <a:lnTo>
                  <a:pt x="0" y="2877901"/>
                </a:lnTo>
                <a:close/>
              </a:path>
            </a:pathLst>
          </a:custGeom>
          <a:gradFill rotWithShape="0">
            <a:gsLst>
              <a:gs pos="0">
                <a:srgbClr val="f2f2f2"/>
              </a:gs>
              <a:gs pos="100000">
                <a:srgbClr val="bfbfb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8" name="Freeform 177"/>
          <p:cNvSpPr/>
          <p:nvPr/>
        </p:nvSpPr>
        <p:spPr>
          <a:xfrm>
            <a:off x="8446320" y="3874320"/>
            <a:ext cx="1238760" cy="2428200"/>
          </a:xfrm>
          <a:custGeom>
            <a:avLst/>
            <a:gdLst>
              <a:gd name="textAreaLeft" fmla="*/ 0 w 1238760"/>
              <a:gd name="textAreaRight" fmla="*/ 1239120 w 1238760"/>
              <a:gd name="textAreaTop" fmla="*/ 0 h 2428200"/>
              <a:gd name="textAreaBottom" fmla="*/ 2428560 h 2428200"/>
              <a:gd name="GluePoint1X" fmla="*/ 360141 w 1568765"/>
              <a:gd name="GluePoint1Y" fmla="*/ 224175 h 2428567"/>
              <a:gd name="GluePoint2X" fmla="*/ 1558933 w 1568765"/>
              <a:gd name="GluePoint2Y" fmla="*/ 0 h 2428567"/>
              <a:gd name="GluePoint3X" fmla="*/ 1568765 w 1568765"/>
              <a:gd name="GluePoint3Y" fmla="*/ 2428567 h 2428567"/>
              <a:gd name="GluePoint4X" fmla="*/ 0 w 1568765"/>
              <a:gd name="GluePoint4Y" fmla="*/ 341506 h 2428567"/>
              <a:gd name="GluePoint5X" fmla="*/ 360141 w 1568765"/>
              <a:gd name="GluePoint5Y" fmla="*/ 224175 h 24285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568765" h="2428567">
                <a:moveTo>
                  <a:pt x="360141" y="224175"/>
                </a:moveTo>
                <a:cubicBezTo>
                  <a:pt x="978394" y="281530"/>
                  <a:pt x="1236509" y="288085"/>
                  <a:pt x="1558933" y="0"/>
                </a:cubicBezTo>
                <a:cubicBezTo>
                  <a:pt x="1562210" y="809522"/>
                  <a:pt x="1565488" y="1619045"/>
                  <a:pt x="1568765" y="2428567"/>
                </a:cubicBezTo>
                <a:cubicBezTo>
                  <a:pt x="1218082" y="2058219"/>
                  <a:pt x="714478" y="485712"/>
                  <a:pt x="0" y="341506"/>
                </a:cubicBezTo>
                <a:cubicBezTo>
                  <a:pt x="0" y="295622"/>
                  <a:pt x="360141" y="270059"/>
                  <a:pt x="360141" y="224175"/>
                </a:cubicBezTo>
                <a:close/>
              </a:path>
            </a:pathLst>
          </a:custGeom>
          <a:gradFill rotWithShape="0">
            <a:gsLst>
              <a:gs pos="0">
                <a:srgbClr val="f2f2f2"/>
              </a:gs>
              <a:gs pos="100000">
                <a:srgbClr val="bfbfb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299" name="Group 178"/>
          <p:cNvGrpSpPr/>
          <p:nvPr/>
        </p:nvGrpSpPr>
        <p:grpSpPr>
          <a:xfrm>
            <a:off x="9657000" y="3598200"/>
            <a:ext cx="2001600" cy="2940840"/>
            <a:chOff x="9657000" y="3598200"/>
            <a:chExt cx="2001600" cy="2940840"/>
          </a:xfrm>
        </p:grpSpPr>
        <p:sp>
          <p:nvSpPr>
            <p:cNvPr id="2300" name="Rectangle 179"/>
            <p:cNvSpPr/>
            <p:nvPr/>
          </p:nvSpPr>
          <p:spPr>
            <a:xfrm>
              <a:off x="9689760" y="3598200"/>
              <a:ext cx="1968840" cy="2408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2301" name="Group 180"/>
            <p:cNvGrpSpPr/>
            <p:nvPr/>
          </p:nvGrpSpPr>
          <p:grpSpPr>
            <a:xfrm>
              <a:off x="9657000" y="3598200"/>
              <a:ext cx="1968480" cy="2940840"/>
              <a:chOff x="9657000" y="3598200"/>
              <a:chExt cx="1968480" cy="2940840"/>
            </a:xfrm>
          </p:grpSpPr>
          <p:sp>
            <p:nvSpPr>
              <p:cNvPr id="2302" name="Rectangle 181"/>
              <p:cNvSpPr/>
              <p:nvPr/>
            </p:nvSpPr>
            <p:spPr>
              <a:xfrm>
                <a:off x="9680040" y="3602520"/>
                <a:ext cx="1945440" cy="367200"/>
              </a:xfrm>
              <a:prstGeom prst="rect">
                <a:avLst/>
              </a:prstGeom>
              <a:solidFill>
                <a:srgbClr val="4472c4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303" name="TextBox 213"/>
              <p:cNvSpPr/>
              <p:nvPr/>
            </p:nvSpPr>
            <p:spPr>
              <a:xfrm>
                <a:off x="9657000" y="3598200"/>
                <a:ext cx="1894320" cy="2940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Aft>
                    <a:spcPts val="400"/>
                  </a:spcAft>
                </a:pPr>
                <a:r>
                  <a:rPr b="0" lang="en-US" sz="20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rPr>
                  <a:t>DV in f: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(a) =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(b)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(c)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(d)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(e)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(f) = 0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(g)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(h)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(i)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2304" name="Straight Connector 219"/>
              <p:cNvCxnSpPr/>
              <p:nvPr/>
            </p:nvCxnSpPr>
            <p:spPr>
              <a:xfrm>
                <a:off x="9665640" y="3969720"/>
                <a:ext cx="195804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sp>
            <p:nvSpPr>
              <p:cNvPr id="2305" name="Rectangle 226"/>
              <p:cNvSpPr/>
              <p:nvPr/>
            </p:nvSpPr>
            <p:spPr>
              <a:xfrm>
                <a:off x="9670320" y="3602520"/>
                <a:ext cx="1955160" cy="260136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2306" name="Group 7"/>
          <p:cNvGrpSpPr/>
          <p:nvPr/>
        </p:nvGrpSpPr>
        <p:grpSpPr>
          <a:xfrm>
            <a:off x="9613080" y="642240"/>
            <a:ext cx="2430720" cy="2947680"/>
            <a:chOff x="9613080" y="642240"/>
            <a:chExt cx="2430720" cy="2947680"/>
          </a:xfrm>
        </p:grpSpPr>
        <p:sp>
          <p:nvSpPr>
            <p:cNvPr id="2307" name="Rectangle 365"/>
            <p:cNvSpPr/>
            <p:nvPr/>
          </p:nvSpPr>
          <p:spPr>
            <a:xfrm>
              <a:off x="9676800" y="642240"/>
              <a:ext cx="2367000" cy="26305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08" name="Rectangle 367"/>
            <p:cNvSpPr/>
            <p:nvPr/>
          </p:nvSpPr>
          <p:spPr>
            <a:xfrm>
              <a:off x="9641160" y="654120"/>
              <a:ext cx="2401200" cy="407520"/>
            </a:xfrm>
            <a:prstGeom prst="rect">
              <a:avLst/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09" name="TextBox 368"/>
            <p:cNvSpPr/>
            <p:nvPr/>
          </p:nvSpPr>
          <p:spPr>
            <a:xfrm>
              <a:off x="9613080" y="649800"/>
              <a:ext cx="2349720" cy="2940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spcAft>
                  <a:spcPts val="400"/>
                </a:spcAft>
              </a:pPr>
              <a:r>
                <a:rPr b="0" lang="en-US" sz="20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DV in e: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14480" defTabSz="914400">
                <a:lnSpc>
                  <a:spcPct val="100000"/>
                </a:lnSpc>
              </a:pP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D</a:t>
              </a:r>
              <a:r>
                <a:rPr b="0" lang="en-US" sz="1600" strike="noStrike" u="none" baseline="-25000">
                  <a:solidFill>
                    <a:schemeClr val="dk1"/>
                  </a:solidFill>
                  <a:effectLst/>
                  <a:uFillTx/>
                  <a:latin typeface="Calibri"/>
                </a:rPr>
                <a:t>e</a:t>
              </a: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(a) =</a:t>
              </a: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 ∞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14480" defTabSz="914400">
                <a:lnSpc>
                  <a:spcPct val="100000"/>
                </a:lnSpc>
              </a:pP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D</a:t>
              </a:r>
              <a:r>
                <a:rPr b="0" lang="en-US" sz="1600" strike="noStrike" u="none" baseline="-25000">
                  <a:solidFill>
                    <a:schemeClr val="dk1"/>
                  </a:solidFill>
                  <a:effectLst/>
                  <a:uFillTx/>
                  <a:latin typeface="Calibri"/>
                </a:rPr>
                <a:t>e</a:t>
              </a: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(b) = 1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14480" defTabSz="914400">
                <a:lnSpc>
                  <a:spcPct val="100000"/>
                </a:lnSpc>
              </a:pP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D</a:t>
              </a:r>
              <a:r>
                <a:rPr b="0" lang="en-US" sz="1600" strike="noStrike" u="none" baseline="-25000">
                  <a:solidFill>
                    <a:schemeClr val="dk1"/>
                  </a:solidFill>
                  <a:effectLst/>
                  <a:uFillTx/>
                  <a:latin typeface="Calibri"/>
                </a:rPr>
                <a:t>e</a:t>
              </a: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(c) = ∞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14480" defTabSz="914400">
                <a:lnSpc>
                  <a:spcPct val="100000"/>
                </a:lnSpc>
              </a:pP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D</a:t>
              </a:r>
              <a:r>
                <a:rPr b="0" lang="en-US" sz="1600" strike="noStrike" u="none" baseline="-25000">
                  <a:solidFill>
                    <a:schemeClr val="dk1"/>
                  </a:solidFill>
                  <a:effectLst/>
                  <a:uFillTx/>
                  <a:latin typeface="Calibri"/>
                </a:rPr>
                <a:t>e</a:t>
              </a: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(d) = 1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14480" defTabSz="914400">
                <a:lnSpc>
                  <a:spcPct val="100000"/>
                </a:lnSpc>
              </a:pP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D</a:t>
              </a:r>
              <a:r>
                <a:rPr b="0" lang="en-US" sz="1600" strike="noStrike" u="none" baseline="-25000">
                  <a:solidFill>
                    <a:schemeClr val="dk1"/>
                  </a:solidFill>
                  <a:effectLst/>
                  <a:uFillTx/>
                  <a:latin typeface="Calibri"/>
                </a:rPr>
                <a:t>e</a:t>
              </a: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(e) = 0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14480" defTabSz="914400">
                <a:lnSpc>
                  <a:spcPct val="100000"/>
                </a:lnSpc>
              </a:pP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D</a:t>
              </a:r>
              <a:r>
                <a:rPr b="0" lang="en-US" sz="1600" strike="noStrike" u="none" baseline="-25000">
                  <a:solidFill>
                    <a:schemeClr val="dk1"/>
                  </a:solidFill>
                  <a:effectLst/>
                  <a:uFillTx/>
                  <a:latin typeface="Calibri"/>
                </a:rPr>
                <a:t>e</a:t>
              </a: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(f) = 1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14480" defTabSz="914400">
                <a:lnSpc>
                  <a:spcPct val="100000"/>
                </a:lnSpc>
              </a:pP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D</a:t>
              </a:r>
              <a:r>
                <a:rPr b="0" lang="en-US" sz="1600" strike="noStrike" u="none" baseline="-25000">
                  <a:solidFill>
                    <a:schemeClr val="dk1"/>
                  </a:solidFill>
                  <a:effectLst/>
                  <a:uFillTx/>
                  <a:latin typeface="Calibri"/>
                </a:rPr>
                <a:t>e</a:t>
              </a: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(g) = ∞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14480" defTabSz="914400">
                <a:lnSpc>
                  <a:spcPct val="100000"/>
                </a:lnSpc>
              </a:pP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D</a:t>
              </a:r>
              <a:r>
                <a:rPr b="0" lang="en-US" sz="1600" strike="noStrike" u="none" baseline="-25000">
                  <a:solidFill>
                    <a:schemeClr val="dk1"/>
                  </a:solidFill>
                  <a:effectLst/>
                  <a:uFillTx/>
                  <a:latin typeface="Calibri"/>
                </a:rPr>
                <a:t>e</a:t>
              </a: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(h) = 1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14480" defTabSz="914400">
                <a:lnSpc>
                  <a:spcPct val="100000"/>
                </a:lnSpc>
              </a:pP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D</a:t>
              </a:r>
              <a:r>
                <a:rPr b="0" lang="en-US" sz="1600" strike="noStrike" u="none" baseline="-25000">
                  <a:solidFill>
                    <a:schemeClr val="dk1"/>
                  </a:solidFill>
                  <a:effectLst/>
                  <a:uFillTx/>
                  <a:latin typeface="Calibri"/>
                </a:rPr>
                <a:t>e</a:t>
              </a:r>
              <a:r>
                <a:rPr b="0" lang="en-US" sz="16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(i) = ∞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310" name="Straight Connector 369"/>
            <p:cNvCxnSpPr/>
            <p:nvPr/>
          </p:nvCxnSpPr>
          <p:spPr>
            <a:xfrm>
              <a:off x="9623520" y="1054440"/>
              <a:ext cx="2417760" cy="360"/>
            </a:xfrm>
            <a:prstGeom prst="straightConnector1">
              <a:avLst/>
            </a:prstGeom>
            <a:ln w="12700">
              <a:solidFill>
                <a:srgbClr val="000000"/>
              </a:solidFill>
            </a:ln>
          </p:spPr>
        </p:cxnSp>
        <p:sp>
          <p:nvSpPr>
            <p:cNvPr id="2311" name="Rectangle 370"/>
            <p:cNvSpPr/>
            <p:nvPr/>
          </p:nvSpPr>
          <p:spPr>
            <a:xfrm>
              <a:off x="9628920" y="654120"/>
              <a:ext cx="2361960" cy="261612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2312" name="Group 227"/>
          <p:cNvGrpSpPr/>
          <p:nvPr/>
        </p:nvGrpSpPr>
        <p:grpSpPr>
          <a:xfrm>
            <a:off x="141480" y="3689280"/>
            <a:ext cx="1915920" cy="2940120"/>
            <a:chOff x="141480" y="3689280"/>
            <a:chExt cx="1915920" cy="2940120"/>
          </a:xfrm>
        </p:grpSpPr>
        <p:sp>
          <p:nvSpPr>
            <p:cNvPr id="2313" name="Rectangle 228"/>
            <p:cNvSpPr/>
            <p:nvPr/>
          </p:nvSpPr>
          <p:spPr>
            <a:xfrm>
              <a:off x="172800" y="3689280"/>
              <a:ext cx="1884600" cy="2425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2314" name="Group 229"/>
            <p:cNvGrpSpPr/>
            <p:nvPr/>
          </p:nvGrpSpPr>
          <p:grpSpPr>
            <a:xfrm>
              <a:off x="141480" y="3689280"/>
              <a:ext cx="1884240" cy="2940120"/>
              <a:chOff x="141480" y="3689280"/>
              <a:chExt cx="1884240" cy="2940120"/>
            </a:xfrm>
          </p:grpSpPr>
          <p:sp>
            <p:nvSpPr>
              <p:cNvPr id="2315" name="Rectangle 230"/>
              <p:cNvSpPr/>
              <p:nvPr/>
            </p:nvSpPr>
            <p:spPr>
              <a:xfrm>
                <a:off x="163800" y="3693600"/>
                <a:ext cx="1861920" cy="370080"/>
              </a:xfrm>
              <a:prstGeom prst="rect">
                <a:avLst/>
              </a:prstGeom>
              <a:solidFill>
                <a:srgbClr val="4472c4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316" name="TextBox 231"/>
              <p:cNvSpPr/>
              <p:nvPr/>
            </p:nvSpPr>
            <p:spPr>
              <a:xfrm>
                <a:off x="141480" y="3689280"/>
                <a:ext cx="1813320" cy="294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Aft>
                    <a:spcPts val="400"/>
                  </a:spcAft>
                </a:pPr>
                <a:r>
                  <a:rPr b="0" lang="en-US" sz="20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rPr>
                  <a:t>DV in h: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(a) =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(b)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(c)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(d)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(e)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(f)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(g)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(h) = 0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(i)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2317" name="Straight Connector 232"/>
              <p:cNvCxnSpPr/>
              <p:nvPr/>
            </p:nvCxnSpPr>
            <p:spPr>
              <a:xfrm>
                <a:off x="149760" y="4063680"/>
                <a:ext cx="187452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sp>
            <p:nvSpPr>
              <p:cNvPr id="2318" name="Rectangle 234"/>
              <p:cNvSpPr/>
              <p:nvPr/>
            </p:nvSpPr>
            <p:spPr>
              <a:xfrm>
                <a:off x="154080" y="3693600"/>
                <a:ext cx="1871640" cy="262044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2319" name="Group 235"/>
          <p:cNvGrpSpPr/>
          <p:nvPr/>
        </p:nvGrpSpPr>
        <p:grpSpPr>
          <a:xfrm>
            <a:off x="2286000" y="1246320"/>
            <a:ext cx="1407960" cy="2940120"/>
            <a:chOff x="2286000" y="1246320"/>
            <a:chExt cx="1407960" cy="2940120"/>
          </a:xfrm>
        </p:grpSpPr>
        <p:sp>
          <p:nvSpPr>
            <p:cNvPr id="2320" name="Rectangle 236"/>
            <p:cNvSpPr/>
            <p:nvPr/>
          </p:nvSpPr>
          <p:spPr>
            <a:xfrm>
              <a:off x="2309040" y="1246320"/>
              <a:ext cx="1384920" cy="2425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grpSp>
          <p:nvGrpSpPr>
            <p:cNvPr id="2321" name="Group 237"/>
            <p:cNvGrpSpPr/>
            <p:nvPr/>
          </p:nvGrpSpPr>
          <p:grpSpPr>
            <a:xfrm>
              <a:off x="2286000" y="1246320"/>
              <a:ext cx="1384560" cy="2940120"/>
              <a:chOff x="2286000" y="1246320"/>
              <a:chExt cx="1384560" cy="2940120"/>
            </a:xfrm>
          </p:grpSpPr>
          <p:sp>
            <p:nvSpPr>
              <p:cNvPr id="2322" name="Rectangle 238"/>
              <p:cNvSpPr/>
              <p:nvPr/>
            </p:nvSpPr>
            <p:spPr>
              <a:xfrm>
                <a:off x="2302200" y="1250280"/>
                <a:ext cx="1368360" cy="370080"/>
              </a:xfrm>
              <a:prstGeom prst="rect">
                <a:avLst/>
              </a:prstGeom>
              <a:solidFill>
                <a:srgbClr val="4472c4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323" name="TextBox 239"/>
              <p:cNvSpPr/>
              <p:nvPr/>
            </p:nvSpPr>
            <p:spPr>
              <a:xfrm>
                <a:off x="2286000" y="1246320"/>
                <a:ext cx="1332360" cy="294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Aft>
                    <a:spcPts val="400"/>
                  </a:spcAft>
                </a:pPr>
                <a:r>
                  <a:rPr b="0" lang="en-US" sz="2000" strike="noStrike" u="none">
                    <a:solidFill>
                      <a:schemeClr val="lt1"/>
                    </a:solidFill>
                    <a:effectLst/>
                    <a:uFillTx/>
                    <a:latin typeface="Calibri"/>
                  </a:rPr>
                  <a:t>DV in d:</a:t>
                </a:r>
                <a:endPara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(a) =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(b)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(c)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(d) = 0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(e)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(f) = ∞ 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(g) = 1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(h)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114480" defTabSz="914400">
                  <a:lnSpc>
                    <a:spcPct val="100000"/>
                  </a:lnSpc>
                </a:pP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D</a:t>
                </a:r>
                <a:r>
                  <a:rPr b="0" lang="en-US" sz="1600" strike="noStrike" u="none" baseline="-25000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</a:t>
                </a:r>
                <a:r>
                  <a:rPr b="0" lang="en-US" sz="16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(i) = ∞</a:t>
                </a:r>
                <a:endParaRPr b="0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2324" name="Straight Connector 251"/>
              <p:cNvCxnSpPr/>
              <p:nvPr/>
            </p:nvCxnSpPr>
            <p:spPr>
              <a:xfrm>
                <a:off x="2292120" y="1620360"/>
                <a:ext cx="1377360" cy="36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</a:ln>
            </p:spPr>
          </p:cxnSp>
          <p:sp>
            <p:nvSpPr>
              <p:cNvPr id="2325" name="Rectangle 252"/>
              <p:cNvSpPr/>
              <p:nvPr/>
            </p:nvSpPr>
            <p:spPr>
              <a:xfrm>
                <a:off x="2295360" y="1250280"/>
                <a:ext cx="1375200" cy="2620440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326" name="Freeform 8"/>
          <p:cNvSpPr/>
          <p:nvPr/>
        </p:nvSpPr>
        <p:spPr>
          <a:xfrm>
            <a:off x="3677760" y="1280160"/>
            <a:ext cx="853200" cy="2824200"/>
          </a:xfrm>
          <a:custGeom>
            <a:avLst/>
            <a:gdLst>
              <a:gd name="textAreaLeft" fmla="*/ 0 w 853200"/>
              <a:gd name="textAreaRight" fmla="*/ 853560 w 853200"/>
              <a:gd name="textAreaTop" fmla="*/ 0 h 2824200"/>
              <a:gd name="textAreaBottom" fmla="*/ 2824560 h 2824200"/>
              <a:gd name="GluePoint1X" fmla="*/ 680720 w 853440"/>
              <a:gd name="GluePoint1Y" fmla="*/ 2824480 h 2824480"/>
              <a:gd name="GluePoint2X" fmla="*/ 0 w 853440"/>
              <a:gd name="GluePoint2Y" fmla="*/ 2590800 h 2824480"/>
              <a:gd name="GluePoint3X" fmla="*/ 0 w 853440"/>
              <a:gd name="GluePoint3Y" fmla="*/ 0 h 2824480"/>
              <a:gd name="GluePoint4X" fmla="*/ 853440 w 853440"/>
              <a:gd name="GluePoint4Y" fmla="*/ 2631440 h 2824480"/>
              <a:gd name="GluePoint5X" fmla="*/ 680720 w 853440"/>
              <a:gd name="GluePoint5Y" fmla="*/ 2824480 h 28244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853440" h="2824480">
                <a:moveTo>
                  <a:pt x="680720" y="2824480"/>
                </a:moveTo>
                <a:cubicBezTo>
                  <a:pt x="443653" y="2705947"/>
                  <a:pt x="328507" y="2658533"/>
                  <a:pt x="0" y="2590800"/>
                </a:cubicBezTo>
                <a:lnTo>
                  <a:pt x="0" y="0"/>
                </a:lnTo>
                <a:cubicBezTo>
                  <a:pt x="254000" y="1222587"/>
                  <a:pt x="447040" y="1835573"/>
                  <a:pt x="853440" y="2631440"/>
                </a:cubicBezTo>
                <a:lnTo>
                  <a:pt x="680720" y="2824480"/>
                </a:lnTo>
                <a:close/>
              </a:path>
            </a:pathLst>
          </a:custGeom>
          <a:gradFill rotWithShape="0">
            <a:gsLst>
              <a:gs pos="0">
                <a:srgbClr val="f2f2f2"/>
              </a:gs>
              <a:gs pos="100000">
                <a:srgbClr val="bfbfb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327" name="Group 282"/>
          <p:cNvGrpSpPr/>
          <p:nvPr/>
        </p:nvGrpSpPr>
        <p:grpSpPr>
          <a:xfrm>
            <a:off x="4336560" y="3833640"/>
            <a:ext cx="4395600" cy="404280"/>
            <a:chOff x="4336560" y="3833640"/>
            <a:chExt cx="4395600" cy="404280"/>
          </a:xfrm>
        </p:grpSpPr>
        <p:grpSp>
          <p:nvGrpSpPr>
            <p:cNvPr id="2328" name="Group 283"/>
            <p:cNvGrpSpPr/>
            <p:nvPr/>
          </p:nvGrpSpPr>
          <p:grpSpPr>
            <a:xfrm>
              <a:off x="4336560" y="3833640"/>
              <a:ext cx="531720" cy="368640"/>
              <a:chOff x="4336560" y="3833640"/>
              <a:chExt cx="531720" cy="368640"/>
            </a:xfrm>
          </p:grpSpPr>
          <p:grpSp>
            <p:nvGrpSpPr>
              <p:cNvPr id="2329" name="Group 304"/>
              <p:cNvGrpSpPr/>
              <p:nvPr/>
            </p:nvGrpSpPr>
            <p:grpSpPr>
              <a:xfrm>
                <a:off x="4336560" y="3904200"/>
                <a:ext cx="531720" cy="271800"/>
                <a:chOff x="4336560" y="3904200"/>
                <a:chExt cx="531720" cy="271800"/>
              </a:xfrm>
            </p:grpSpPr>
            <p:sp>
              <p:nvSpPr>
                <p:cNvPr id="2330" name="Oval 5"/>
                <p:cNvSpPr/>
                <p:nvPr/>
              </p:nvSpPr>
              <p:spPr>
                <a:xfrm>
                  <a:off x="4341600" y="40266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31" name="Line 6"/>
                <p:cNvSpPr/>
                <p:nvPr/>
              </p:nvSpPr>
              <p:spPr>
                <a:xfrm>
                  <a:off x="434124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32" name="Line 7"/>
                <p:cNvSpPr/>
                <p:nvPr/>
              </p:nvSpPr>
              <p:spPr>
                <a:xfrm>
                  <a:off x="4867920" y="40132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33" name="Rectangle 8"/>
                <p:cNvSpPr/>
                <p:nvPr/>
              </p:nvSpPr>
              <p:spPr>
                <a:xfrm>
                  <a:off x="4341600" y="40136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34" name="Oval 9"/>
                <p:cNvSpPr/>
                <p:nvPr/>
              </p:nvSpPr>
              <p:spPr>
                <a:xfrm>
                  <a:off x="4336560" y="39042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335" name="Group 44"/>
              <p:cNvGrpSpPr/>
              <p:nvPr/>
            </p:nvGrpSpPr>
            <p:grpSpPr>
              <a:xfrm>
                <a:off x="4431600" y="3833640"/>
                <a:ext cx="312480" cy="368640"/>
                <a:chOff x="4431600" y="3833640"/>
                <a:chExt cx="312480" cy="368640"/>
              </a:xfrm>
            </p:grpSpPr>
            <p:sp>
              <p:nvSpPr>
                <p:cNvPr id="2336" name="Rectangle 45"/>
                <p:cNvSpPr/>
                <p:nvPr/>
              </p:nvSpPr>
              <p:spPr>
                <a:xfrm>
                  <a:off x="4483800" y="39524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37" name="Text Box 46"/>
                <p:cNvSpPr/>
                <p:nvPr/>
              </p:nvSpPr>
              <p:spPr>
                <a:xfrm>
                  <a:off x="4431600" y="383364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d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338" name="Group 284"/>
            <p:cNvGrpSpPr/>
            <p:nvPr/>
          </p:nvGrpSpPr>
          <p:grpSpPr>
            <a:xfrm>
              <a:off x="6266520" y="3869280"/>
              <a:ext cx="532080" cy="368640"/>
              <a:chOff x="6266520" y="3869280"/>
              <a:chExt cx="532080" cy="368640"/>
            </a:xfrm>
          </p:grpSpPr>
          <p:grpSp>
            <p:nvGrpSpPr>
              <p:cNvPr id="2339" name="Group 295"/>
              <p:cNvGrpSpPr/>
              <p:nvPr/>
            </p:nvGrpSpPr>
            <p:grpSpPr>
              <a:xfrm>
                <a:off x="6266520" y="3911760"/>
                <a:ext cx="532080" cy="271800"/>
                <a:chOff x="6266520" y="3911760"/>
                <a:chExt cx="532080" cy="271800"/>
              </a:xfrm>
            </p:grpSpPr>
            <p:sp>
              <p:nvSpPr>
                <p:cNvPr id="2340" name="Oval 5"/>
                <p:cNvSpPr/>
                <p:nvPr/>
              </p:nvSpPr>
              <p:spPr>
                <a:xfrm>
                  <a:off x="6271560" y="403416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41" name="Line 6"/>
                <p:cNvSpPr/>
                <p:nvPr/>
              </p:nvSpPr>
              <p:spPr>
                <a:xfrm>
                  <a:off x="627156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42" name="Line 7"/>
                <p:cNvSpPr/>
                <p:nvPr/>
              </p:nvSpPr>
              <p:spPr>
                <a:xfrm>
                  <a:off x="6798240" y="40208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43" name="Rectangle 8"/>
                <p:cNvSpPr/>
                <p:nvPr/>
              </p:nvSpPr>
              <p:spPr>
                <a:xfrm>
                  <a:off x="6271560" y="402120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44" name="Oval 9"/>
                <p:cNvSpPr/>
                <p:nvPr/>
              </p:nvSpPr>
              <p:spPr>
                <a:xfrm>
                  <a:off x="6266520" y="39117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345" name="Group 44"/>
              <p:cNvGrpSpPr/>
              <p:nvPr/>
            </p:nvGrpSpPr>
            <p:grpSpPr>
              <a:xfrm>
                <a:off x="6361920" y="3869280"/>
                <a:ext cx="312480" cy="368640"/>
                <a:chOff x="6361920" y="3869280"/>
                <a:chExt cx="312480" cy="368640"/>
              </a:xfrm>
            </p:grpSpPr>
            <p:sp>
              <p:nvSpPr>
                <p:cNvPr id="2346" name="Rectangle 45"/>
                <p:cNvSpPr/>
                <p:nvPr/>
              </p:nvSpPr>
              <p:spPr>
                <a:xfrm>
                  <a:off x="6414120" y="39600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47" name="Text Box 46"/>
                <p:cNvSpPr/>
                <p:nvPr/>
              </p:nvSpPr>
              <p:spPr>
                <a:xfrm>
                  <a:off x="6361920" y="386928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e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348" name="Group 285"/>
            <p:cNvGrpSpPr/>
            <p:nvPr/>
          </p:nvGrpSpPr>
          <p:grpSpPr>
            <a:xfrm>
              <a:off x="8200080" y="3866760"/>
              <a:ext cx="532080" cy="368640"/>
              <a:chOff x="8200080" y="3866760"/>
              <a:chExt cx="532080" cy="368640"/>
            </a:xfrm>
          </p:grpSpPr>
          <p:grpSp>
            <p:nvGrpSpPr>
              <p:cNvPr id="2349" name="Group 286"/>
              <p:cNvGrpSpPr/>
              <p:nvPr/>
            </p:nvGrpSpPr>
            <p:grpSpPr>
              <a:xfrm>
                <a:off x="8200080" y="3909600"/>
                <a:ext cx="532080" cy="271440"/>
                <a:chOff x="8200080" y="3909600"/>
                <a:chExt cx="532080" cy="271440"/>
              </a:xfrm>
            </p:grpSpPr>
            <p:sp>
              <p:nvSpPr>
                <p:cNvPr id="2350" name="Oval 5"/>
                <p:cNvSpPr/>
                <p:nvPr/>
              </p:nvSpPr>
              <p:spPr>
                <a:xfrm>
                  <a:off x="8205120" y="40316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51" name="Line 6"/>
                <p:cNvSpPr/>
                <p:nvPr/>
              </p:nvSpPr>
              <p:spPr>
                <a:xfrm>
                  <a:off x="820476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52" name="Line 7"/>
                <p:cNvSpPr/>
                <p:nvPr/>
              </p:nvSpPr>
              <p:spPr>
                <a:xfrm>
                  <a:off x="8731800" y="40183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53" name="Rectangle 8"/>
                <p:cNvSpPr/>
                <p:nvPr/>
              </p:nvSpPr>
              <p:spPr>
                <a:xfrm>
                  <a:off x="8205120" y="40186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54" name="Oval 9"/>
                <p:cNvSpPr/>
                <p:nvPr/>
              </p:nvSpPr>
              <p:spPr>
                <a:xfrm>
                  <a:off x="8200080" y="39096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355" name="Group 44"/>
              <p:cNvGrpSpPr/>
              <p:nvPr/>
            </p:nvGrpSpPr>
            <p:grpSpPr>
              <a:xfrm>
                <a:off x="8326800" y="3866760"/>
                <a:ext cx="249120" cy="368640"/>
                <a:chOff x="8326800" y="3866760"/>
                <a:chExt cx="249120" cy="368640"/>
              </a:xfrm>
            </p:grpSpPr>
            <p:sp>
              <p:nvSpPr>
                <p:cNvPr id="2356" name="Rectangle 45"/>
                <p:cNvSpPr/>
                <p:nvPr/>
              </p:nvSpPr>
              <p:spPr>
                <a:xfrm>
                  <a:off x="8347680" y="39578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57" name="Text Box 46"/>
                <p:cNvSpPr/>
                <p:nvPr/>
              </p:nvSpPr>
              <p:spPr>
                <a:xfrm>
                  <a:off x="8326800" y="3866760"/>
                  <a:ext cx="24912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f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2358" name="Freeform 253"/>
          <p:cNvSpPr/>
          <p:nvPr/>
        </p:nvSpPr>
        <p:spPr>
          <a:xfrm>
            <a:off x="2025720" y="4114800"/>
            <a:ext cx="4425840" cy="2559960"/>
          </a:xfrm>
          <a:custGeom>
            <a:avLst/>
            <a:gdLst>
              <a:gd name="textAreaLeft" fmla="*/ 0 w 4425840"/>
              <a:gd name="textAreaRight" fmla="*/ 4426200 w 4425840"/>
              <a:gd name="textAreaTop" fmla="*/ 0 h 2559960"/>
              <a:gd name="textAreaBottom" fmla="*/ 2560320 h 2559960"/>
              <a:gd name="GluePoint1X" fmla="*/ 2550160 w 2722880"/>
              <a:gd name="GluePoint1Y" fmla="*/ 1950720 h 2560320"/>
              <a:gd name="GluePoint2X" fmla="*/ 20320 w 2722880"/>
              <a:gd name="GluePoint2Y" fmla="*/ 2560320 h 2560320"/>
              <a:gd name="GluePoint3X" fmla="*/ 0 w 2722880"/>
              <a:gd name="GluePoint3Y" fmla="*/ 0 h 2560320"/>
              <a:gd name="GluePoint4X" fmla="*/ 2722880 w 2722880"/>
              <a:gd name="GluePoint4Y" fmla="*/ 1757680 h 2560320"/>
              <a:gd name="GluePoint5X" fmla="*/ 2550160 w 2722880"/>
              <a:gd name="GluePoint5Y" fmla="*/ 1950720 h 25603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722880" h="2560320">
                <a:moveTo>
                  <a:pt x="2550160" y="1950720"/>
                </a:moveTo>
                <a:cubicBezTo>
                  <a:pt x="931333" y="1507067"/>
                  <a:pt x="399627" y="1347893"/>
                  <a:pt x="20320" y="2560320"/>
                </a:cubicBezTo>
                <a:lnTo>
                  <a:pt x="0" y="0"/>
                </a:lnTo>
                <a:cubicBezTo>
                  <a:pt x="1148080" y="887307"/>
                  <a:pt x="1513840" y="1297093"/>
                  <a:pt x="2722880" y="1757680"/>
                </a:cubicBezTo>
                <a:lnTo>
                  <a:pt x="2550160" y="1950720"/>
                </a:lnTo>
                <a:close/>
              </a:path>
            </a:pathLst>
          </a:custGeom>
          <a:gradFill rotWithShape="0">
            <a:gsLst>
              <a:gs pos="0">
                <a:srgbClr val="f2f2f2"/>
              </a:gs>
              <a:gs pos="100000">
                <a:srgbClr val="bfbfb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359" name="Group 1033"/>
          <p:cNvGrpSpPr/>
          <p:nvPr/>
        </p:nvGrpSpPr>
        <p:grpSpPr>
          <a:xfrm>
            <a:off x="4333680" y="5772240"/>
            <a:ext cx="4395600" cy="404280"/>
            <a:chOff x="4333680" y="5772240"/>
            <a:chExt cx="4395600" cy="404280"/>
          </a:xfrm>
        </p:grpSpPr>
        <p:grpSp>
          <p:nvGrpSpPr>
            <p:cNvPr id="2360" name="Group 183"/>
            <p:cNvGrpSpPr/>
            <p:nvPr/>
          </p:nvGrpSpPr>
          <p:grpSpPr>
            <a:xfrm>
              <a:off x="4333680" y="5772240"/>
              <a:ext cx="532080" cy="368640"/>
              <a:chOff x="4333680" y="5772240"/>
              <a:chExt cx="532080" cy="368640"/>
            </a:xfrm>
          </p:grpSpPr>
          <p:grpSp>
            <p:nvGrpSpPr>
              <p:cNvPr id="2361" name="Group 204"/>
              <p:cNvGrpSpPr/>
              <p:nvPr/>
            </p:nvGrpSpPr>
            <p:grpSpPr>
              <a:xfrm>
                <a:off x="4333680" y="5842800"/>
                <a:ext cx="532080" cy="271440"/>
                <a:chOff x="4333680" y="5842800"/>
                <a:chExt cx="532080" cy="271440"/>
              </a:xfrm>
            </p:grpSpPr>
            <p:sp>
              <p:nvSpPr>
                <p:cNvPr id="2362" name="Oval 5"/>
                <p:cNvSpPr/>
                <p:nvPr/>
              </p:nvSpPr>
              <p:spPr>
                <a:xfrm>
                  <a:off x="4338720" y="596484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63" name="Line 6"/>
                <p:cNvSpPr/>
                <p:nvPr/>
              </p:nvSpPr>
              <p:spPr>
                <a:xfrm>
                  <a:off x="433872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64" name="Line 7"/>
                <p:cNvSpPr/>
                <p:nvPr/>
              </p:nvSpPr>
              <p:spPr>
                <a:xfrm>
                  <a:off x="4865400" y="595188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65" name="Rectangle 8"/>
                <p:cNvSpPr/>
                <p:nvPr/>
              </p:nvSpPr>
              <p:spPr>
                <a:xfrm>
                  <a:off x="4338720" y="595188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66" name="Oval 9"/>
                <p:cNvSpPr/>
                <p:nvPr/>
              </p:nvSpPr>
              <p:spPr>
                <a:xfrm>
                  <a:off x="4333680" y="584280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367" name="Group 44"/>
              <p:cNvGrpSpPr/>
              <p:nvPr/>
            </p:nvGrpSpPr>
            <p:grpSpPr>
              <a:xfrm>
                <a:off x="4429080" y="5772240"/>
                <a:ext cx="312480" cy="368640"/>
                <a:chOff x="4429080" y="5772240"/>
                <a:chExt cx="312480" cy="368640"/>
              </a:xfrm>
            </p:grpSpPr>
            <p:sp>
              <p:nvSpPr>
                <p:cNvPr id="2368" name="Rectangle 45"/>
                <p:cNvSpPr/>
                <p:nvPr/>
              </p:nvSpPr>
              <p:spPr>
                <a:xfrm>
                  <a:off x="4481280" y="589104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69" name="Text Box 46"/>
                <p:cNvSpPr/>
                <p:nvPr/>
              </p:nvSpPr>
              <p:spPr>
                <a:xfrm>
                  <a:off x="4429080" y="577224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g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370" name="Group 184"/>
            <p:cNvGrpSpPr/>
            <p:nvPr/>
          </p:nvGrpSpPr>
          <p:grpSpPr>
            <a:xfrm>
              <a:off x="6264000" y="5807880"/>
              <a:ext cx="532080" cy="368640"/>
              <a:chOff x="6264000" y="5807880"/>
              <a:chExt cx="532080" cy="368640"/>
            </a:xfrm>
          </p:grpSpPr>
          <p:grpSp>
            <p:nvGrpSpPr>
              <p:cNvPr id="2371" name="Group 195"/>
              <p:cNvGrpSpPr/>
              <p:nvPr/>
            </p:nvGrpSpPr>
            <p:grpSpPr>
              <a:xfrm>
                <a:off x="6264000" y="5850360"/>
                <a:ext cx="532080" cy="271440"/>
                <a:chOff x="6264000" y="5850360"/>
                <a:chExt cx="532080" cy="271440"/>
              </a:xfrm>
            </p:grpSpPr>
            <p:sp>
              <p:nvSpPr>
                <p:cNvPr id="2372" name="Oval 5"/>
                <p:cNvSpPr/>
                <p:nvPr/>
              </p:nvSpPr>
              <p:spPr>
                <a:xfrm>
                  <a:off x="6269040" y="597240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73" name="Line 6"/>
                <p:cNvSpPr/>
                <p:nvPr/>
              </p:nvSpPr>
              <p:spPr>
                <a:xfrm>
                  <a:off x="626868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74" name="Line 7"/>
                <p:cNvSpPr/>
                <p:nvPr/>
              </p:nvSpPr>
              <p:spPr>
                <a:xfrm>
                  <a:off x="6795720" y="595944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75" name="Rectangle 8"/>
                <p:cNvSpPr/>
                <p:nvPr/>
              </p:nvSpPr>
              <p:spPr>
                <a:xfrm>
                  <a:off x="6269040" y="595944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76" name="Oval 9"/>
                <p:cNvSpPr/>
                <p:nvPr/>
              </p:nvSpPr>
              <p:spPr>
                <a:xfrm>
                  <a:off x="6264000" y="585036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377" name="Group 44"/>
              <p:cNvGrpSpPr/>
              <p:nvPr/>
            </p:nvGrpSpPr>
            <p:grpSpPr>
              <a:xfrm>
                <a:off x="6359040" y="5807880"/>
                <a:ext cx="312480" cy="368640"/>
                <a:chOff x="6359040" y="5807880"/>
                <a:chExt cx="312480" cy="368640"/>
              </a:xfrm>
            </p:grpSpPr>
            <p:sp>
              <p:nvSpPr>
                <p:cNvPr id="2378" name="Rectangle 45"/>
                <p:cNvSpPr/>
                <p:nvPr/>
              </p:nvSpPr>
              <p:spPr>
                <a:xfrm>
                  <a:off x="6411600" y="589860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79" name="Text Box 46"/>
                <p:cNvSpPr/>
                <p:nvPr/>
              </p:nvSpPr>
              <p:spPr>
                <a:xfrm>
                  <a:off x="6359040" y="5807880"/>
                  <a:ext cx="3124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h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380" name="Group 185"/>
            <p:cNvGrpSpPr/>
            <p:nvPr/>
          </p:nvGrpSpPr>
          <p:grpSpPr>
            <a:xfrm>
              <a:off x="8197200" y="5805360"/>
              <a:ext cx="532080" cy="368640"/>
              <a:chOff x="8197200" y="5805360"/>
              <a:chExt cx="532080" cy="368640"/>
            </a:xfrm>
          </p:grpSpPr>
          <p:grpSp>
            <p:nvGrpSpPr>
              <p:cNvPr id="2381" name="Group 186"/>
              <p:cNvGrpSpPr/>
              <p:nvPr/>
            </p:nvGrpSpPr>
            <p:grpSpPr>
              <a:xfrm>
                <a:off x="8197200" y="5847840"/>
                <a:ext cx="532080" cy="271440"/>
                <a:chOff x="8197200" y="5847840"/>
                <a:chExt cx="532080" cy="271440"/>
              </a:xfrm>
            </p:grpSpPr>
            <p:sp>
              <p:nvSpPr>
                <p:cNvPr id="2382" name="Oval 5"/>
                <p:cNvSpPr/>
                <p:nvPr/>
              </p:nvSpPr>
              <p:spPr>
                <a:xfrm>
                  <a:off x="8202240" y="5969880"/>
                  <a:ext cx="526320" cy="14940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83" name="Line 6"/>
                <p:cNvSpPr/>
                <p:nvPr/>
              </p:nvSpPr>
              <p:spPr>
                <a:xfrm>
                  <a:off x="820224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84" name="Line 7"/>
                <p:cNvSpPr/>
                <p:nvPr/>
              </p:nvSpPr>
              <p:spPr>
                <a:xfrm>
                  <a:off x="8728920" y="5956920"/>
                  <a:ext cx="360" cy="92520"/>
                </a:xfrm>
                <a:prstGeom prst="line">
                  <a:avLst/>
                </a:prstGeom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85" name="Rectangle 8"/>
                <p:cNvSpPr/>
                <p:nvPr/>
              </p:nvSpPr>
              <p:spPr>
                <a:xfrm>
                  <a:off x="8202240" y="5956920"/>
                  <a:ext cx="521280" cy="9036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20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86" name="Oval 9"/>
                <p:cNvSpPr/>
                <p:nvPr/>
              </p:nvSpPr>
              <p:spPr>
                <a:xfrm>
                  <a:off x="8197200" y="5847840"/>
                  <a:ext cx="526320" cy="1753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</p:grpSp>
          <p:grpSp>
            <p:nvGrpSpPr>
              <p:cNvPr id="2387" name="Group 44"/>
              <p:cNvGrpSpPr/>
              <p:nvPr/>
            </p:nvGrpSpPr>
            <p:grpSpPr>
              <a:xfrm>
                <a:off x="8331120" y="5805360"/>
                <a:ext cx="235080" cy="368640"/>
                <a:chOff x="8331120" y="5805360"/>
                <a:chExt cx="235080" cy="368640"/>
              </a:xfrm>
            </p:grpSpPr>
            <p:sp>
              <p:nvSpPr>
                <p:cNvPr id="2388" name="Rectangle 45"/>
                <p:cNvSpPr/>
                <p:nvPr/>
              </p:nvSpPr>
              <p:spPr>
                <a:xfrm>
                  <a:off x="8344800" y="5896080"/>
                  <a:ext cx="198000" cy="184320"/>
                </a:xfrm>
                <a:prstGeom prst="rect">
                  <a:avLst/>
                </a:prstGeom>
                <a:solidFill>
                  <a:srgbClr val="cccc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  <a:ea typeface="ＭＳ Ｐゴシック"/>
                  </a:endParaRPr>
                </a:p>
              </p:txBody>
            </p:sp>
            <p:sp>
              <p:nvSpPr>
                <p:cNvPr id="2389" name="Text Box 46"/>
                <p:cNvSpPr/>
                <p:nvPr/>
              </p:nvSpPr>
              <p:spPr>
                <a:xfrm>
                  <a:off x="8331120" y="5805360"/>
                  <a:ext cx="235080" cy="368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ＭＳ Ｐゴシック"/>
                    </a:rPr>
                    <a:t>i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sp>
        <p:nvSpPr>
          <p:cNvPr id="2390" name="Rectangle 254"/>
          <p:cNvSpPr/>
          <p:nvPr/>
        </p:nvSpPr>
        <p:spPr>
          <a:xfrm>
            <a:off x="4764960" y="2611080"/>
            <a:ext cx="3535200" cy="639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Q: what is new DV computed in e at </a:t>
            </a: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t=1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1" name="Right Arrow 255"/>
          <p:cNvSpPr/>
          <p:nvPr/>
        </p:nvSpPr>
        <p:spPr>
          <a:xfrm flipV="1" rot="5400000">
            <a:off x="6297480" y="345636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2" name="Right Arrow 256"/>
          <p:cNvSpPr/>
          <p:nvPr/>
        </p:nvSpPr>
        <p:spPr>
          <a:xfrm flipV="1" rot="16200000">
            <a:off x="6312600" y="4453920"/>
            <a:ext cx="638640" cy="15696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3480" bIns="334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3" name="Right Arrow 257"/>
          <p:cNvSpPr/>
          <p:nvPr/>
        </p:nvSpPr>
        <p:spPr>
          <a:xfrm flipH="1" rot="10800000">
            <a:off x="5651640" y="390528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4" name="Right Arrow 258"/>
          <p:cNvSpPr/>
          <p:nvPr/>
        </p:nvSpPr>
        <p:spPr>
          <a:xfrm flipH="1">
            <a:off x="6832440" y="3912120"/>
            <a:ext cx="574920" cy="151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2f2f2"/>
              </a:gs>
              <a:gs pos="100000">
                <a:srgbClr val="c00000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395" name="Group 259"/>
          <p:cNvGrpSpPr/>
          <p:nvPr/>
        </p:nvGrpSpPr>
        <p:grpSpPr>
          <a:xfrm>
            <a:off x="6039720" y="3567600"/>
            <a:ext cx="1195560" cy="1022040"/>
            <a:chOff x="6039720" y="3567600"/>
            <a:chExt cx="1195560" cy="1022040"/>
          </a:xfrm>
        </p:grpSpPr>
        <p:sp>
          <p:nvSpPr>
            <p:cNvPr id="2396" name="Freeform 260"/>
            <p:cNvSpPr/>
            <p:nvPr/>
          </p:nvSpPr>
          <p:spPr>
            <a:xfrm>
              <a:off x="6039720" y="3567600"/>
              <a:ext cx="1195560" cy="1022040"/>
            </a:xfrm>
            <a:custGeom>
              <a:avLst/>
              <a:gdLst>
                <a:gd name="textAreaLeft" fmla="*/ 0 w 1195560"/>
                <a:gd name="textAreaRight" fmla="*/ 1195920 w 1195560"/>
                <a:gd name="textAreaTop" fmla="*/ 0 h 1022040"/>
                <a:gd name="textAreaBottom" fmla="*/ 1022400 h 1022040"/>
                <a:gd name="GluePoint1X" fmla="*/ 1416106 w 2820074"/>
                <a:gd name="GluePoint1Y" fmla="*/ 606903 h 2290046"/>
                <a:gd name="GluePoint2X" fmla="*/ 1096471 w 2820074"/>
                <a:gd name="GluePoint2Y" fmla="*/ 222531 h 2290046"/>
                <a:gd name="GluePoint3X" fmla="*/ 954860 w 2820074"/>
                <a:gd name="GluePoint3Y" fmla="*/ 667593 h 2290046"/>
                <a:gd name="GluePoint4X" fmla="*/ 89012 w 2820074"/>
                <a:gd name="GluePoint4Y" fmla="*/ 242761 h 2290046"/>
                <a:gd name="GluePoint5X" fmla="*/ 610948 w 2820074"/>
                <a:gd name="GluePoint5Y" fmla="*/ 797066 h 2290046"/>
                <a:gd name="GluePoint6X" fmla="*/ 0 w 2820074"/>
                <a:gd name="GluePoint6Y" fmla="*/ 902262 h 2290046"/>
                <a:gd name="GluePoint7X" fmla="*/ 481476 w 2820074"/>
                <a:gd name="GluePoint7Y" fmla="*/ 1246174 h 2290046"/>
                <a:gd name="GluePoint8X" fmla="*/ 36414 w 2820074"/>
                <a:gd name="GluePoint8Y" fmla="*/ 1533441 h 2290046"/>
                <a:gd name="GluePoint9X" fmla="*/ 760651 w 2820074"/>
                <a:gd name="GluePoint9Y" fmla="*/ 1476797 h 2290046"/>
                <a:gd name="GluePoint10X" fmla="*/ 623086 w 2820074"/>
                <a:gd name="GluePoint10Y" fmla="*/ 1869260 h 2290046"/>
                <a:gd name="GluePoint11X" fmla="*/ 1003412 w 2820074"/>
                <a:gd name="GluePoint11Y" fmla="*/ 1658867 h 2290046"/>
                <a:gd name="GluePoint12X" fmla="*/ 1104563 w 2820074"/>
                <a:gd name="GluePoint12Y" fmla="*/ 2290046 h 2290046"/>
                <a:gd name="GluePoint13X" fmla="*/ 1383738 w 2820074"/>
                <a:gd name="GluePoint13Y" fmla="*/ 1569855 h 2290046"/>
                <a:gd name="GluePoint14X" fmla="*/ 1743833 w 2820074"/>
                <a:gd name="GluePoint14Y" fmla="*/ 2091791 h 2290046"/>
                <a:gd name="GluePoint15X" fmla="*/ 1836892 w 2820074"/>
                <a:gd name="GluePoint15Y" fmla="*/ 1529395 h 2290046"/>
                <a:gd name="GluePoint16X" fmla="*/ 2375012 w 2820074"/>
                <a:gd name="GluePoint16Y" fmla="*/ 1889491 h 2290046"/>
                <a:gd name="GluePoint17X" fmla="*/ 2209125 w 2820074"/>
                <a:gd name="GluePoint17Y" fmla="*/ 1351370 h 2290046"/>
                <a:gd name="GluePoint18X" fmla="*/ 2820074 w 2820074"/>
                <a:gd name="GluePoint18Y" fmla="*/ 1399922 h 2290046"/>
                <a:gd name="GluePoint19X" fmla="*/ 2310276 w 2820074"/>
                <a:gd name="GluePoint19Y" fmla="*/ 1092425 h 2290046"/>
                <a:gd name="GluePoint20X" fmla="*/ 2775568 w 2820074"/>
                <a:gd name="GluePoint20Y" fmla="*/ 837526 h 2290046"/>
                <a:gd name="GluePoint21X" fmla="*/ 2196987 w 2820074"/>
                <a:gd name="GluePoint21Y" fmla="*/ 768744 h 2290046"/>
                <a:gd name="GluePoint22X" fmla="*/ 2427610 w 2820074"/>
                <a:gd name="GluePoint22Y" fmla="*/ 441016 h 2290046"/>
                <a:gd name="GluePoint23X" fmla="*/ 1844984 w 2820074"/>
                <a:gd name="GluePoint23Y" fmla="*/ 546213 h 2290046"/>
                <a:gd name="GluePoint24X" fmla="*/ 1901628 w 2820074"/>
                <a:gd name="GluePoint24Y" fmla="*/ 0 h 2290046"/>
                <a:gd name="GluePoint25X" fmla="*/ 1416106 w 2820074"/>
                <a:gd name="GluePoint25Y" fmla="*/ 606903 h 229004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</a:cxnLst>
              <a:rect l="textAreaLeft" t="textAreaTop" r="textAreaRight" b="textAreaBottom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97" name="TextBox 261"/>
            <p:cNvSpPr/>
            <p:nvPr/>
          </p:nvSpPr>
          <p:spPr>
            <a:xfrm>
              <a:off x="6138000" y="3852720"/>
              <a:ext cx="101988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trike="noStrike" u="none">
                  <a:solidFill>
                    <a:srgbClr val="c00000"/>
                  </a:solidFill>
                  <a:effectLst/>
                  <a:uFillTx/>
                  <a:latin typeface="Calibri"/>
                </a:rPr>
                <a:t>compute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974" dur="indefinite" restart="never" nodeType="tmRoot">
          <p:childTnLst>
            <p:seq>
              <p:cTn id="975" dur="indefinite" nodeType="mainSeq">
                <p:childTnLst>
                  <p:par>
                    <p:cTn id="976" fill="hold">
                      <p:stCondLst>
                        <p:cond delay="indefinite"/>
                      </p:stCondLst>
                      <p:childTnLst>
                        <p:par>
                          <p:cTn id="977" fill="hold">
                            <p:stCondLst>
                              <p:cond delay="0"/>
                            </p:stCondLst>
                            <p:childTnLst>
                              <p:par>
                                <p:cTn id="97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80" dur="500"/>
                                        <p:tgtEl>
                                          <p:spTgt spid="2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1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83" dur="1000"/>
                                        <p:tgtEl>
                                          <p:spTgt spid="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4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986" dur="1000"/>
                                        <p:tgtEl>
                                          <p:spTgt spid="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7" nodeType="with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989" dur="1000"/>
                                        <p:tgtEl>
                                          <p:spTgt spid="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0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992" dur="1000"/>
                                        <p:tgtEl>
                                          <p:spTgt spid="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9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96" dur="500"/>
                                        <p:tgtEl>
                                          <p:spTgt spid="2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7" fill="hold">
                      <p:stCondLst>
                        <p:cond delay="indefinite"/>
                      </p:stCondLst>
                      <p:childTnLst>
                        <p:par>
                          <p:cTn id="998" fill="hold">
                            <p:stCondLst>
                              <p:cond delay="0"/>
                            </p:stCondLst>
                            <p:childTnLst>
                              <p:par>
                                <p:cTn id="999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001" dur="500"/>
                                        <p:tgtEl>
                                          <p:spTgt spid="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Application>LibreOffice/25.2.3.2$Linux_X86_64 LibreOffice_project/520$Build-2</Application>
  <AppVersion>15.0000</AppVersion>
  <Words>5013</Words>
  <Paragraphs>1089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2024-02-16T04:08:11Z</dcterms:created>
  <dc:creator>Tianming Zhao</dc:creator>
  <dc:description/>
  <dc:language>en-US</dc:language>
  <cp:lastModifiedBy/>
  <dcterms:modified xsi:type="dcterms:W3CDTF">2026-04-02T15:02:42Z</dcterms:modified>
  <cp:revision>61</cp:revision>
  <dc:subject/>
  <dc:title>Access networks: cable-based access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40</vt:i4>
  </property>
  <property fmtid="{D5CDD505-2E9C-101B-9397-08002B2CF9AE}" pid="3" name="PresentationFormat">
    <vt:lpwstr>Widescreen</vt:lpwstr>
  </property>
  <property fmtid="{D5CDD505-2E9C-101B-9397-08002B2CF9AE}" pid="4" name="Slides">
    <vt:i4>44</vt:i4>
  </property>
</Properties>
</file>