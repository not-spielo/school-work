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1"/>
    <p:sldMasterId id="2147483655" r:id="rId2"/>
  </p:sldMasterIdLst>
  <p:notesMasterIdLst>
    <p:notesMasterId r:id="rId76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271" r:id="rId9"/>
    <p:sldId id="1225" r:id="rId10"/>
    <p:sldId id="1228" r:id="rId11"/>
    <p:sldId id="1272" r:id="rId12"/>
    <p:sldId id="1227" r:id="rId13"/>
    <p:sldId id="1229" r:id="rId14"/>
    <p:sldId id="1230" r:id="rId15"/>
    <p:sldId id="1232" r:id="rId16"/>
    <p:sldId id="1233" r:id="rId17"/>
    <p:sldId id="1259" r:id="rId18"/>
    <p:sldId id="1231" r:id="rId19"/>
    <p:sldId id="1260" r:id="rId20"/>
    <p:sldId id="1273" r:id="rId21"/>
    <p:sldId id="1261" r:id="rId22"/>
    <p:sldId id="1262" r:id="rId23"/>
    <p:sldId id="1263" r:id="rId24"/>
    <p:sldId id="1264" r:id="rId25"/>
    <p:sldId id="1234" r:id="rId26"/>
    <p:sldId id="1238" r:id="rId27"/>
    <p:sldId id="1245" r:id="rId28"/>
    <p:sldId id="1244" r:id="rId29"/>
    <p:sldId id="1241" r:id="rId30"/>
    <p:sldId id="1242" r:id="rId31"/>
    <p:sldId id="1243" r:id="rId32"/>
    <p:sldId id="1246" r:id="rId33"/>
    <p:sldId id="1249" r:id="rId34"/>
    <p:sldId id="1250" r:id="rId35"/>
    <p:sldId id="1252" r:id="rId36"/>
    <p:sldId id="1253" r:id="rId37"/>
    <p:sldId id="1254" r:id="rId38"/>
    <p:sldId id="1255" r:id="rId39"/>
    <p:sldId id="1267" r:id="rId40"/>
    <p:sldId id="1268" r:id="rId41"/>
    <p:sldId id="1269" r:id="rId42"/>
    <p:sldId id="1274" r:id="rId43"/>
    <p:sldId id="1280" r:id="rId44"/>
    <p:sldId id="1281" r:id="rId45"/>
    <p:sldId id="1282" r:id="rId46"/>
    <p:sldId id="1284" r:id="rId47"/>
    <p:sldId id="1285" r:id="rId48"/>
    <p:sldId id="1286" r:id="rId49"/>
    <p:sldId id="1287" r:id="rId50"/>
    <p:sldId id="1276" r:id="rId51"/>
    <p:sldId id="1288" r:id="rId52"/>
    <p:sldId id="1289" r:id="rId53"/>
    <p:sldId id="1290" r:id="rId54"/>
    <p:sldId id="1291" r:id="rId55"/>
    <p:sldId id="1292" r:id="rId56"/>
    <p:sldId id="1293" r:id="rId57"/>
    <p:sldId id="1294" r:id="rId58"/>
    <p:sldId id="1295" r:id="rId59"/>
    <p:sldId id="1296" r:id="rId60"/>
    <p:sldId id="1302" r:id="rId61"/>
    <p:sldId id="1299" r:id="rId62"/>
    <p:sldId id="1301" r:id="rId63"/>
    <p:sldId id="1277" r:id="rId64"/>
    <p:sldId id="1305" r:id="rId65"/>
    <p:sldId id="1306" r:id="rId66"/>
    <p:sldId id="1310" r:id="rId67"/>
    <p:sldId id="1309" r:id="rId68"/>
    <p:sldId id="1308" r:id="rId69"/>
    <p:sldId id="1311" r:id="rId70"/>
    <p:sldId id="1278" r:id="rId71"/>
    <p:sldId id="1327" r:id="rId72"/>
    <p:sldId id="1328" r:id="rId73"/>
    <p:sldId id="1337" r:id="rId74"/>
    <p:sldId id="1336" r:id="rId7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1348"/>
    <p:restoredTop sz="90784" autoAdjust="0"/>
  </p:normalViewPr>
  <p:slideViewPr>
    <p:cSldViewPr snapToGrid="0" snapToObjects="1">
      <p:cViewPr varScale="1">
        <p:scale>
          <a:sx n="89" d="100"/>
          <a:sy n="89" d="100"/>
        </p:scale>
        <p:origin x="636" y="300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slide" Target="slides/slide72.xml"/><Relationship Id="rId79" Type="http://schemas.openxmlformats.org/officeDocument/2006/relationships/theme" Target="theme/theme1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presProps" Target="pres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tableStyles" Target="tableStyle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notesMaster" Target="notesMasters/notesMaster1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3/23/2026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r>
                  <a:rPr lang="en-US" b="1" dirty="0"/>
                  <a:t>Inverse to Bandwidth</a:t>
                </a:r>
              </a:p>
              <a:p>
                <a:r>
                  <a:rPr lang="en-US" b="1" dirty="0"/>
                  <a:t>Description:</a:t>
                </a:r>
                <a:r>
                  <a:rPr lang="en-US" dirty="0"/>
                  <a:t> The cost is </a:t>
                </a:r>
                <a:r>
                  <a:rPr lang="en-US" b="1" dirty="0"/>
                  <a:t>inversely proportional</a:t>
                </a:r>
                <a:r>
                  <a:rPr lang="en-US" dirty="0"/>
                  <a:t> to the </a:t>
                </a:r>
                <a:r>
                  <a:rPr lang="en-US" b="1" dirty="0"/>
                  <a:t>bandwidth</a:t>
                </a:r>
                <a:r>
                  <a:rPr lang="en-US" dirty="0"/>
                  <a:t> of the link.</a:t>
                </a:r>
              </a:p>
              <a:p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𝑐_(𝑎,𝑏)=1/〖</a:t>
                </a:r>
                <a:r>
                  <a:rPr lang="en-US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"bandwidth</a:t>
                </a:r>
                <a:r>
                  <a:rPr lang="ar-AE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 〗_(𝑎,𝑏) </a:t>
                </a:r>
                <a:endParaRPr lang="ar-AE" b="0" dirty="0"/>
              </a:p>
              <a:p>
                <a:r>
                  <a:rPr lang="en-US" b="1" dirty="0"/>
                  <a:t>Interpretation:</a:t>
                </a:r>
                <a:r>
                  <a:rPr lang="en-US" dirty="0"/>
                  <a:t> Higher-bandwidth links (faster data transfer) have </a:t>
                </a:r>
                <a:r>
                  <a:rPr lang="en-US" b="1" dirty="0"/>
                  <a:t>lower cost</a:t>
                </a:r>
                <a:r>
                  <a:rPr lang="en-US" dirty="0"/>
                  <a:t>, so routing algorithms prefer them.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Inverse to Congestion (or Delay)</a:t>
                </a:r>
              </a:p>
              <a:p>
                <a:r>
                  <a:rPr lang="en-US" b="1" dirty="0"/>
                  <a:t>Description:</a:t>
                </a:r>
                <a:r>
                  <a:rPr lang="en-US" dirty="0"/>
                  <a:t> Cost increases with </a:t>
                </a:r>
                <a:r>
                  <a:rPr lang="en-US" b="1" dirty="0"/>
                  <a:t>congestion</a:t>
                </a:r>
                <a:r>
                  <a:rPr lang="en-US" dirty="0"/>
                  <a:t> (or delay).</a:t>
                </a:r>
                <a:br>
                  <a:rPr lang="en-US" dirty="0"/>
                </a:br>
                <a:r>
                  <a:rPr lang="en-US" dirty="0"/>
                  <a:t>Often modeled as:</a:t>
                </a:r>
              </a:p>
              <a:p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𝑐_(𝑎,𝑏)=1/(1−</a:t>
                </a:r>
                <a:r>
                  <a:rPr lang="en-US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"traffic load</a:t>
                </a:r>
                <a:r>
                  <a:rPr lang="ar-AE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 /</a:t>
                </a:r>
                <a:r>
                  <a:rPr lang="en-US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"capacity</a:t>
                </a:r>
                <a:r>
                  <a:rPr lang="ar-AE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 )</a:t>
                </a:r>
                <a:endParaRPr lang="ar-AE" b="0" dirty="0"/>
              </a:p>
              <a:p>
                <a:r>
                  <a:rPr lang="en-US" dirty="0"/>
                  <a:t>or simply proportional to </a:t>
                </a:r>
                <a:r>
                  <a:rPr lang="en-US" b="1" dirty="0"/>
                  <a:t>current delay or queue length</a:t>
                </a:r>
                <a:r>
                  <a:rPr lang="en-US" dirty="0"/>
                  <a:t>.</a:t>
                </a:r>
              </a:p>
              <a:p>
                <a:r>
                  <a:rPr lang="en-US" b="1" dirty="0"/>
                  <a:t>Interpretation:</a:t>
                </a:r>
                <a:r>
                  <a:rPr lang="en-US" dirty="0"/>
                  <a:t> Links with heavy traffic or higher delay become more “expensive,” so routes dynamically adapt to avoid them.</a:t>
                </a:r>
              </a:p>
              <a:p>
                <a:r>
                  <a:rPr lang="en-US" b="1" dirty="0"/>
                  <a:t>Use case:</a:t>
                </a:r>
                <a:r>
                  <a:rPr lang="en-US" dirty="0"/>
                  <a:t> Adaptive routing protocols in dynamic networks (e.g., OSPF with traffic engineering).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What It </a:t>
                </a:r>
                <a:r>
                  <a:rPr lang="en-US" b="1" i="1" dirty="0"/>
                  <a:t>Really</a:t>
                </a:r>
                <a:r>
                  <a:rPr lang="en-US" b="1" dirty="0"/>
                  <a:t> Means</a:t>
                </a:r>
              </a:p>
              <a:p>
                <a:r>
                  <a:rPr lang="en-US" dirty="0"/>
                  <a:t>The idea behind the formula is </a:t>
                </a:r>
                <a:r>
                  <a:rPr lang="en-US" b="1" dirty="0"/>
                  <a:t>not literal</a:t>
                </a:r>
                <a:r>
                  <a:rPr lang="en-US" dirty="0"/>
                  <a:t> — it models that as load approaches capacity, </a:t>
                </a:r>
                <a:r>
                  <a:rPr lang="en-US" b="1" dirty="0"/>
                  <a:t>cost should increase sharply</a:t>
                </a:r>
                <a:r>
                  <a:rPr lang="en-US" dirty="0"/>
                  <a:t>, reflecting congestion delay.</a:t>
                </a:r>
              </a:p>
              <a:p>
                <a:r>
                  <a:rPr lang="en-US" dirty="0"/>
                  <a:t>In real systems, we </a:t>
                </a:r>
                <a:r>
                  <a:rPr lang="en-US" b="1" dirty="0"/>
                  <a:t>bound</a:t>
                </a:r>
                <a:r>
                  <a:rPr lang="en-US" dirty="0"/>
                  <a:t> or </a:t>
                </a:r>
                <a:r>
                  <a:rPr lang="en-US" b="1" dirty="0"/>
                  <a:t>reformulate</a:t>
                </a:r>
                <a:r>
                  <a:rPr lang="en-US" dirty="0"/>
                  <a:t> the function to avoid negatives or infinities, for example:</a:t>
                </a:r>
              </a:p>
              <a:p>
                <a:r>
                  <a:rPr lang="en-US" b="1" dirty="0"/>
                  <a:t>Clamped version</a:t>
                </a:r>
                <a:r>
                  <a:rPr lang="en-US" dirty="0"/>
                  <a:t>:</a:t>
                </a:r>
              </a:p>
              <a:p>
                <a:endParaRPr lang="en-US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59711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r>
                  <a:rPr lang="en-US" b="1" dirty="0"/>
                  <a:t>⚙️ Step-by-Step: Why It’s O(n²)</a:t>
                </a:r>
              </a:p>
              <a:p>
                <a:r>
                  <a:rPr lang="en-US" dirty="0"/>
                  <a:t>Let’s assume there are </a:t>
                </a:r>
                <a:r>
                  <a:rPr lang="en-US" b="1" dirty="0"/>
                  <a:t>n routers</a:t>
                </a:r>
                <a:r>
                  <a:rPr lang="en-US" dirty="0"/>
                  <a:t> in the network.</a:t>
                </a:r>
              </a:p>
              <a:p>
                <a:r>
                  <a:rPr lang="en-US" b="1" dirty="0"/>
                  <a:t>1. Each router must broadcast its own link-state information</a:t>
                </a:r>
              </a:p>
              <a:p>
                <a:r>
                  <a:rPr lang="en-US" dirty="0"/>
                  <a:t>Each router knows the cost of its </a:t>
                </a:r>
                <a:r>
                  <a:rPr lang="en-US" b="1" dirty="0"/>
                  <a:t>direct links</a:t>
                </a:r>
                <a:r>
                  <a:rPr lang="en-US" dirty="0"/>
                  <a:t> to its neighbors.</a:t>
                </a:r>
              </a:p>
              <a:p>
                <a:r>
                  <a:rPr lang="en-US" dirty="0"/>
                  <a:t>It must </a:t>
                </a:r>
                <a:r>
                  <a:rPr lang="en-US" b="1" dirty="0"/>
                  <a:t>flood</a:t>
                </a:r>
                <a:r>
                  <a:rPr lang="en-US" dirty="0"/>
                  <a:t> (broadcast) this link-state information to </a:t>
                </a:r>
                <a:r>
                  <a:rPr lang="en-US" b="1" dirty="0"/>
                  <a:t>all other routers</a:t>
                </a:r>
                <a:r>
                  <a:rPr lang="en-US" dirty="0"/>
                  <a:t> in the network.</a:t>
                </a:r>
              </a:p>
              <a:p>
                <a:r>
                  <a:rPr lang="en-US" dirty="0"/>
                  <a:t>So we have </a:t>
                </a:r>
                <a:r>
                  <a:rPr lang="en-US" b="1" dirty="0"/>
                  <a:t>n routers</a:t>
                </a:r>
                <a:r>
                  <a:rPr lang="en-US" dirty="0"/>
                  <a:t>, and each must send its link-state packet (LSP) to </a:t>
                </a:r>
                <a:r>
                  <a:rPr lang="en-US" b="1" dirty="0"/>
                  <a:t>every other router</a:t>
                </a:r>
                <a:r>
                  <a:rPr lang="en-US" dirty="0"/>
                  <a:t>.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2. How the broadcast works</a:t>
                </a:r>
              </a:p>
              <a:p>
                <a:r>
                  <a:rPr lang="en-US" dirty="0"/>
                  <a:t>Flooding (broadcasting) isn’t one direct message per router — instead, routers </a:t>
                </a:r>
                <a:r>
                  <a:rPr lang="en-US" b="1" dirty="0"/>
                  <a:t>relay</a:t>
                </a:r>
                <a:r>
                  <a:rPr lang="en-US" dirty="0"/>
                  <a:t> LSAs through neighbors.</a:t>
                </a:r>
              </a:p>
              <a:p>
                <a:r>
                  <a:rPr lang="en-US" dirty="0"/>
                  <a:t>However, if flooding is done efficiently, we can estimate:</a:t>
                </a:r>
              </a:p>
              <a:p>
                <a:r>
                  <a:rPr lang="en-US" dirty="0"/>
                  <a:t>To broadcast one router’s LSA to the entire network requires roughly </a:t>
                </a:r>
                <a:r>
                  <a:rPr lang="en-US" b="1" dirty="0"/>
                  <a:t>O(n)</a:t>
                </a:r>
                <a:r>
                  <a:rPr lang="en-US" dirty="0"/>
                  <a:t> link transmissions (because the message crosses each link at most once).</a:t>
                </a:r>
              </a:p>
              <a:p>
                <a:r>
                  <a:rPr lang="en-US" dirty="0"/>
                  <a:t>Since there are </a:t>
                </a:r>
                <a:r>
                  <a:rPr lang="en-US" b="1" dirty="0"/>
                  <a:t>n routers</a:t>
                </a:r>
                <a:r>
                  <a:rPr lang="en-US" dirty="0"/>
                  <a:t>, each with its own LSA to flood…</a:t>
                </a:r>
              </a:p>
              <a:p>
                <a:r>
                  <a:rPr lang="en-US" b="0" i="0">
                    <a:latin typeface="Cambria Math" panose="02040503050406030204" pitchFamily="18" charset="0"/>
                  </a:rPr>
                  <a:t>"Total message transmissions</a:t>
                </a:r>
                <a:r>
                  <a:rPr lang="en-US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"=𝑂</a:t>
                </a:r>
                <a:r>
                  <a:rPr lang="ar-AE" sz="1200" b="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(𝑛)×𝑂(𝑛)=𝑂(𝑛^2 )</a:t>
                </a:r>
                <a:endParaRPr lang="ar-AE" b="0" dirty="0"/>
              </a:p>
              <a:p>
                <a:r>
                  <a:rPr lang="en-US" dirty="0"/>
                  <a:t>That’s where the </a:t>
                </a:r>
                <a:r>
                  <a:rPr lang="en-US" b="1" dirty="0"/>
                  <a:t>message complexity = O(n²)</a:t>
                </a:r>
                <a:r>
                  <a:rPr lang="en-US" dirty="0"/>
                  <a:t> comes from.</a:t>
                </a:r>
              </a:p>
              <a:p>
                <a:endParaRPr lang="en-US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r>
                  <a:rPr lang="en-US" b="1" dirty="0"/>
                  <a:t>🔷 Big Picture: What is the Distance Vector Algorithm?</a:t>
                </a:r>
              </a:p>
              <a:p>
                <a:r>
                  <a:rPr lang="en-US" dirty="0"/>
                  <a:t>The </a:t>
                </a:r>
                <a:r>
                  <a:rPr lang="en-US" b="1" dirty="0"/>
                  <a:t>Distance Vector (DV) algorithm</a:t>
                </a:r>
                <a:r>
                  <a:rPr lang="en-US" dirty="0"/>
                  <a:t> is a routing algorithm used in networks (like the Internet) where each node (router):</a:t>
                </a:r>
              </a:p>
              <a:p>
                <a:r>
                  <a:rPr lang="en-US" dirty="0"/>
                  <a:t>Knows only about its </a:t>
                </a:r>
                <a:r>
                  <a:rPr lang="en-US" b="1" dirty="0"/>
                  <a:t>neighbors</a:t>
                </a:r>
                <a:endParaRPr lang="en-US" dirty="0"/>
              </a:p>
              <a:p>
                <a:r>
                  <a:rPr lang="en-US" dirty="0"/>
                  <a:t>Repeatedly shares information with them</a:t>
                </a:r>
              </a:p>
              <a:p>
                <a:r>
                  <a:rPr lang="en-US" dirty="0"/>
                  <a:t>Gradually learns the </a:t>
                </a:r>
                <a:r>
                  <a:rPr lang="en-US" b="1" dirty="0"/>
                  <a:t>shortest path to every destination</a:t>
                </a:r>
                <a:endParaRPr lang="en-US" dirty="0"/>
              </a:p>
              <a:p>
                <a:r>
                  <a:rPr lang="en-US" dirty="0"/>
                  <a:t>It is based on the </a:t>
                </a:r>
                <a:r>
                  <a:rPr lang="en-US" b="1" dirty="0"/>
                  <a:t>Bellman-Ford algorithm</a:t>
                </a:r>
                <a:r>
                  <a:rPr lang="en-US" dirty="0"/>
                  <a:t>, which solves shortest path problems using dynamic programming.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🔷 Why This Works (Dynamic Programming)</a:t>
                </a:r>
              </a:p>
              <a:p>
                <a:r>
                  <a:rPr lang="en-US" dirty="0"/>
                  <a:t>This is </a:t>
                </a:r>
                <a:r>
                  <a:rPr lang="en-US" b="1" dirty="0"/>
                  <a:t>dynamic programming</a:t>
                </a:r>
                <a:r>
                  <a:rPr lang="en-US" dirty="0"/>
                  <a:t> because:</a:t>
                </a:r>
              </a:p>
              <a:p>
                <a:r>
                  <a:rPr lang="en-US" dirty="0"/>
                  <a:t>Each node builds its solution using </a:t>
                </a:r>
                <a:r>
                  <a:rPr lang="en-US" b="1" dirty="0"/>
                  <a:t>solutions from neighbors</a:t>
                </a:r>
                <a:endParaRPr lang="en-US" dirty="0"/>
              </a:p>
              <a:p>
                <a:r>
                  <a:rPr lang="en-US" dirty="0"/>
                  <a:t>Over time, estimates improve until they become correct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🔷 Intuition (Super Important)</a:t>
                </a:r>
              </a:p>
              <a:p>
                <a:r>
                  <a:rPr lang="en-US" dirty="0"/>
                  <a:t>Think of it like asking friends for directions:</a:t>
                </a:r>
              </a:p>
              <a:p>
                <a:r>
                  <a:rPr lang="en-US" dirty="0"/>
                  <a:t>You want to go to </a:t>
                </a:r>
                <a:r>
                  <a:rPr lang="en-US" b="1" dirty="0"/>
                  <a:t>y</a:t>
                </a:r>
                <a:endParaRPr lang="en-US" dirty="0"/>
              </a:p>
              <a:p>
                <a:r>
                  <a:rPr lang="en-US" dirty="0"/>
                  <a:t>You ask each neighbor </a:t>
                </a:r>
                <a:r>
                  <a:rPr lang="en-US" b="1" dirty="0"/>
                  <a:t>v</a:t>
                </a:r>
                <a:r>
                  <a:rPr lang="en-US" dirty="0"/>
                  <a:t>:</a:t>
                </a:r>
              </a:p>
              <a:p>
                <a:r>
                  <a:rPr lang="en-US" dirty="0"/>
                  <a:t>“How far are you from y?”</a:t>
                </a:r>
              </a:p>
              <a:p>
                <a:r>
                  <a:rPr lang="en-US" dirty="0"/>
                  <a:t>Then you add:</a:t>
                </a:r>
              </a:p>
              <a:p>
                <a:r>
                  <a:rPr lang="en-US" dirty="0"/>
                  <a:t>“Cost to reach you” + “your distance to y”</a:t>
                </a:r>
              </a:p>
              <a:p>
                <a:r>
                  <a:rPr lang="en-US" dirty="0"/>
                  <a:t>Pick the </a:t>
                </a:r>
                <a:r>
                  <a:rPr lang="en-US" b="1" dirty="0"/>
                  <a:t>cheapest option</a:t>
                </a:r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🔷 Meaning of Each Term</a:t>
                </a:r>
              </a:p>
              <a:p>
                <a:r>
                  <a:rPr lang="en-US" b="1" dirty="0"/>
                  <a:t>1. </a:t>
                </a:r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𝐷_𝑥 (𝑦)</a:t>
                </a:r>
                <a:endParaRPr lang="ar-AE" b="1" dirty="0"/>
              </a:p>
              <a:p>
                <a:r>
                  <a:rPr lang="en-US" dirty="0"/>
                  <a:t>This means:</a:t>
                </a:r>
                <a:br>
                  <a:rPr lang="en-US" dirty="0"/>
                </a:br>
                <a:r>
                  <a:rPr lang="en-US" dirty="0"/>
                  <a:t>👉 </a:t>
                </a:r>
                <a:r>
                  <a:rPr lang="en-US" i="1" dirty="0"/>
                  <a:t>“The current best-known cost from node </a:t>
                </a:r>
                <a:r>
                  <a:rPr lang="en-US" b="1" i="1" dirty="0"/>
                  <a:t>x</a:t>
                </a:r>
                <a:r>
                  <a:rPr lang="en-US" i="1" dirty="0"/>
                  <a:t> to destination </a:t>
                </a:r>
                <a:r>
                  <a:rPr lang="en-US" b="1" i="1" dirty="0"/>
                  <a:t>y</a:t>
                </a:r>
                <a:r>
                  <a:rPr lang="en-US" i="1" dirty="0"/>
                  <a:t>”</a:t>
                </a:r>
                <a:endParaRPr lang="en-US" dirty="0"/>
              </a:p>
              <a:p>
                <a:r>
                  <a:rPr lang="en-US" dirty="0"/>
                  <a:t>Think of it as:</a:t>
                </a:r>
              </a:p>
              <a:p>
                <a:r>
                  <a:rPr lang="en-US" dirty="0"/>
                  <a:t>"What does node x think is the cheapest way to reach y?"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2. </a:t>
                </a:r>
                <a:r>
                  <a:rPr lang="en-US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𝑣</a:t>
                </a:r>
                <a:endParaRPr lang="en-US" b="1" dirty="0"/>
              </a:p>
              <a:p>
                <a:r>
                  <a:rPr lang="en-US" dirty="0"/>
                  <a:t>Represents a </a:t>
                </a:r>
                <a:r>
                  <a:rPr lang="en-US" b="1" dirty="0"/>
                  <a:t>neighbor of node x</a:t>
                </a:r>
                <a:endParaRPr lang="en-US" dirty="0"/>
              </a:p>
              <a:p>
                <a:r>
                  <a:rPr lang="en-US" dirty="0"/>
                  <a:t>So the formula is saying:</a:t>
                </a:r>
              </a:p>
              <a:p>
                <a:r>
                  <a:rPr lang="en-US" dirty="0"/>
                  <a:t>“Check all neighbors of x”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3. </a:t>
                </a:r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𝑐_(𝑥,𝑣)</a:t>
                </a:r>
                <a:endParaRPr lang="ar-AE" b="1" dirty="0"/>
              </a:p>
              <a:p>
                <a:r>
                  <a:rPr lang="en-US" dirty="0"/>
                  <a:t>The </a:t>
                </a:r>
                <a:r>
                  <a:rPr lang="en-US" b="1" dirty="0"/>
                  <a:t>direct cost</a:t>
                </a:r>
                <a:r>
                  <a:rPr lang="en-US" dirty="0"/>
                  <a:t> from node x to neighbor v</a:t>
                </a:r>
              </a:p>
              <a:p>
                <a:r>
                  <a:rPr lang="en-US" dirty="0"/>
                  <a:t>Examples:</a:t>
                </a:r>
              </a:p>
              <a:p>
                <a:r>
                  <a:rPr lang="en-US" dirty="0"/>
                  <a:t>Number of hops</a:t>
                </a:r>
              </a:p>
              <a:p>
                <a:r>
                  <a:rPr lang="en-US" dirty="0"/>
                  <a:t>Latency</a:t>
                </a:r>
              </a:p>
              <a:p>
                <a:r>
                  <a:rPr lang="en-US" dirty="0"/>
                  <a:t>Bandwidth cost</a:t>
                </a:r>
              </a:p>
              <a:p>
                <a:br>
                  <a:rPr lang="en-US" dirty="0"/>
                </a:br>
                <a:endParaRPr lang="en-US" dirty="0"/>
              </a:p>
              <a:p>
                <a:r>
                  <a:rPr lang="en-US" b="1" dirty="0"/>
                  <a:t>4. </a:t>
                </a:r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𝐷_𝑣 (𝑦)</a:t>
                </a:r>
                <a:endParaRPr lang="ar-AE" b="1" dirty="0"/>
              </a:p>
              <a:p>
                <a:r>
                  <a:rPr lang="en-US" dirty="0"/>
                  <a:t>Neighbor v’s estimate of the cost to reach y</a:t>
                </a:r>
              </a:p>
              <a:p>
                <a:r>
                  <a:rPr lang="en-US" dirty="0"/>
                  <a:t>So:</a:t>
                </a:r>
              </a:p>
              <a:p>
                <a:r>
                  <a:rPr lang="en-US" dirty="0"/>
                  <a:t>"What does my neighbor v think is the best cost to y?"</a:t>
                </a:r>
              </a:p>
              <a:p>
                <a:r>
                  <a:rPr lang="en-US" b="1" dirty="0"/>
                  <a:t>🔷 What the Equation Really Says</a:t>
                </a:r>
              </a:p>
              <a:p>
                <a:r>
                  <a:rPr lang="en-US" dirty="0"/>
                  <a:t>The equation:</a:t>
                </a:r>
              </a:p>
              <a:p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𝐷_𝑥 (𝑦)=(</a:t>
                </a:r>
                <a:r>
                  <a:rPr lang="en-US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min</a:t>
                </a:r>
                <a:r>
                  <a:rPr lang="ar-AE" sz="1200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⁡ )┬𝑣 {𝑐_(𝑥,𝑣)+𝐷_𝑣 (𝑦)}</a:t>
                </a:r>
                <a:endParaRPr lang="ar-AE" dirty="0"/>
              </a:p>
              <a:p>
                <a:r>
                  <a:rPr lang="en-US" dirty="0"/>
                  <a:t>means:</a:t>
                </a:r>
              </a:p>
              <a:p>
                <a:r>
                  <a:rPr lang="en-US" dirty="0"/>
                  <a:t>👉 Node </a:t>
                </a:r>
                <a:r>
                  <a:rPr lang="en-US" b="1" dirty="0"/>
                  <a:t>x</a:t>
                </a:r>
                <a:r>
                  <a:rPr lang="en-US" dirty="0"/>
                  <a:t> computes its distance to </a:t>
                </a:r>
                <a:r>
                  <a:rPr lang="en-US" b="1" dirty="0"/>
                  <a:t>y</a:t>
                </a:r>
                <a:r>
                  <a:rPr lang="en-US" dirty="0"/>
                  <a:t> by:</a:t>
                </a:r>
              </a:p>
              <a:p>
                <a:r>
                  <a:rPr lang="en-US" dirty="0"/>
                  <a:t>Looking at </a:t>
                </a:r>
                <a:r>
                  <a:rPr lang="en-US" b="1" dirty="0"/>
                  <a:t>each neighbor v</a:t>
                </a:r>
                <a:endParaRPr lang="en-US" dirty="0"/>
              </a:p>
              <a:p>
                <a:r>
                  <a:rPr lang="en-US" dirty="0"/>
                  <a:t>Asking:</a:t>
                </a:r>
              </a:p>
              <a:p>
                <a:r>
                  <a:rPr lang="en-US" dirty="0"/>
                  <a:t>“If I go through v, what would it cost?”</a:t>
                </a:r>
              </a:p>
              <a:p>
                <a:r>
                  <a:rPr lang="en-US" dirty="0"/>
                  <a:t>That cost =</a:t>
                </a:r>
                <a:br>
                  <a:rPr lang="en-US" dirty="0"/>
                </a:br>
                <a:r>
                  <a:rPr lang="en-US" b="1" dirty="0"/>
                  <a:t>(cost to reach v) + (v’s cost to reach y)</a:t>
                </a:r>
                <a:endParaRPr lang="en-US" dirty="0"/>
              </a:p>
              <a:p>
                <a:r>
                  <a:rPr lang="en-US" dirty="0"/>
                  <a:t>Then picking the </a:t>
                </a:r>
                <a:r>
                  <a:rPr lang="en-US" b="1" dirty="0"/>
                  <a:t>minimum</a:t>
                </a:r>
                <a:r>
                  <a:rPr lang="en-US" dirty="0"/>
                  <a:t> among all neighbors</a:t>
                </a:r>
              </a:p>
              <a:p>
                <a:endParaRPr lang="en-US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1182804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endParaRPr lang="en-US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r>
                  <a:rPr lang="en-US" b="1" dirty="0"/>
                  <a:t>What this slide is trying to teach</a:t>
                </a:r>
              </a:p>
              <a:p>
                <a:r>
                  <a:rPr lang="en-US" dirty="0"/>
                  <a:t>This slide is about </a:t>
                </a:r>
                <a:r>
                  <a:rPr lang="en-US" b="1" dirty="0"/>
                  <a:t>how routing knowledge spreads in a distance-vector network over time</a:t>
                </a:r>
                <a:r>
                  <a:rPr lang="en-US" dirty="0"/>
                  <a:t>.</a:t>
                </a:r>
              </a:p>
              <a:p>
                <a:r>
                  <a:rPr lang="en-US" dirty="0"/>
                  <a:t>A node does </a:t>
                </a:r>
                <a:r>
                  <a:rPr lang="en-US" b="1" dirty="0"/>
                  <a:t>not</a:t>
                </a:r>
                <a:r>
                  <a:rPr lang="en-US" dirty="0"/>
                  <a:t> instantly know the state of the whole network. Instead:</a:t>
                </a:r>
              </a:p>
              <a:p>
                <a:r>
                  <a:rPr lang="en-US" dirty="0"/>
                  <a:t>each router talks only to its </a:t>
                </a:r>
                <a:r>
                  <a:rPr lang="en-US" b="1" dirty="0"/>
                  <a:t>direct neighbors</a:t>
                </a:r>
                <a:endParaRPr lang="en-US" dirty="0"/>
              </a:p>
              <a:p>
                <a:r>
                  <a:rPr lang="en-US" dirty="0"/>
                  <a:t>each router updates its estimates using what neighbors tell it</a:t>
                </a:r>
              </a:p>
              <a:p>
                <a:r>
                  <a:rPr lang="en-US" dirty="0"/>
                  <a:t>after each round, the effect of some information travels </a:t>
                </a:r>
                <a:r>
                  <a:rPr lang="en-US" b="1" dirty="0"/>
                  <a:t>one hop farther</a:t>
                </a:r>
                <a:endParaRPr lang="en-US" dirty="0"/>
              </a:p>
              <a:p>
                <a:r>
                  <a:rPr lang="en-US" dirty="0"/>
                  <a:t>So the key message is:</a:t>
                </a:r>
              </a:p>
              <a:p>
                <a:r>
                  <a:rPr lang="en-US" dirty="0"/>
                  <a:t>In distance vector routing, information moves through the network gradually, one neighbor-to-neighbor step at a time.</a:t>
                </a:r>
              </a:p>
              <a:p>
                <a:r>
                  <a:rPr lang="en-US" dirty="0"/>
                  <a:t>The red curves in your annotated image are marking:</a:t>
                </a:r>
              </a:p>
              <a:p>
                <a:r>
                  <a:rPr lang="en-US" dirty="0"/>
                  <a:t>which nodes can already have been influenced by </a:t>
                </a:r>
                <a:r>
                  <a:rPr lang="en-US" b="1" dirty="0"/>
                  <a:t>c’s information</a:t>
                </a:r>
                <a:endParaRPr lang="en-US" dirty="0"/>
              </a:p>
              <a:p>
                <a:r>
                  <a:rPr lang="en-US" dirty="0"/>
                  <a:t>and which nodes are still too far away to have been affected yet</a:t>
                </a:r>
              </a:p>
              <a:p>
                <a:r>
                  <a:rPr lang="en-US" b="1" dirty="0"/>
                  <a:t>So the diffusion happens because a router’s new knowledge depends on its neighbors’ old knowledge.</a:t>
                </a:r>
              </a:p>
              <a:p>
                <a:r>
                  <a:rPr lang="en-US" b="1" dirty="0"/>
                  <a:t>That means:</a:t>
                </a:r>
              </a:p>
              <a:p>
                <a:r>
                  <a:rPr lang="en-US" b="1" dirty="0"/>
                  <a:t>after 1 round, a node can only use information from 1 hop away</a:t>
                </a:r>
              </a:p>
              <a:p>
                <a:r>
                  <a:rPr lang="en-US" b="1" dirty="0"/>
                  <a:t>after 2 rounds, it can indirectly use information from 2 hops away</a:t>
                </a:r>
              </a:p>
              <a:p>
                <a:r>
                  <a:rPr lang="en-US" b="1" dirty="0"/>
                  <a:t>and so on</a:t>
                </a:r>
              </a:p>
              <a:p>
                <a:r>
                  <a:rPr lang="en-US" b="1" dirty="0"/>
                  <a:t>That is exactly what the slide is illustrating.</a:t>
                </a:r>
              </a:p>
              <a:p>
                <a:r>
                  <a:rPr lang="en-US" b="1" dirty="0"/>
                  <a:t>Why the slide says “may influence” instead of “does influence”</a:t>
                </a:r>
              </a:p>
              <a:p>
                <a:r>
                  <a:rPr lang="en-US" dirty="0"/>
                  <a:t>That wording is precise and important.</a:t>
                </a:r>
              </a:p>
              <a:p>
                <a:r>
                  <a:rPr lang="en-US" dirty="0"/>
                  <a:t>Receiving information does not always mean your routing table changes.</a:t>
                </a:r>
              </a:p>
              <a:p>
                <a:r>
                  <a:rPr lang="en-US" dirty="0"/>
                  <a:t>A node may hear about a route from c, </a:t>
                </a:r>
                <a:r>
                  <a:rPr lang="en-US" b="1" dirty="0"/>
                  <a:t>but:</a:t>
                </a:r>
              </a:p>
              <a:p>
                <a:r>
                  <a:rPr lang="en-US" b="1" dirty="0"/>
                  <a:t>it might already have a better route</a:t>
                </a:r>
              </a:p>
              <a:p>
                <a:r>
                  <a:rPr lang="en-US" b="1" dirty="0"/>
                  <a:t>the new route may be equal cost</a:t>
                </a:r>
              </a:p>
              <a:p>
                <a:r>
                  <a:rPr lang="en-US" b="1" dirty="0"/>
                  <a:t>the update may not change the minimum</a:t>
                </a:r>
              </a:p>
              <a:p>
                <a:r>
                  <a:rPr lang="en-US" b="1" dirty="0"/>
                  <a:t>So the information has reached that node and can be used in its computation, but it may or may not actually alter the final selected next hop</a:t>
                </a:r>
                <a:r>
                  <a:rPr lang="en-US" dirty="0"/>
                  <a:t>.</a:t>
                </a:r>
              </a:p>
              <a:p>
                <a:r>
                  <a:rPr lang="en-US" dirty="0"/>
                  <a:t>That is why the correct phrase is:</a:t>
                </a:r>
              </a:p>
              <a:p>
                <a:r>
                  <a:rPr lang="en-US" dirty="0"/>
                  <a:t>“may influence distance vector computations”</a:t>
                </a:r>
              </a:p>
              <a:p>
                <a:r>
                  <a:rPr lang="en-US" dirty="0"/>
                  <a:t>not</a:t>
                </a:r>
              </a:p>
              <a:p>
                <a:r>
                  <a:rPr lang="en-US" dirty="0"/>
                  <a:t>“definitely changes the route table”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Why this matters for convergence</a:t>
                </a:r>
              </a:p>
              <a:p>
                <a:r>
                  <a:rPr lang="en-US" dirty="0"/>
                  <a:t>This slide is really a convergence slide.</a:t>
                </a:r>
              </a:p>
              <a:p>
                <a:r>
                  <a:rPr lang="en-US" dirty="0"/>
                  <a:t>A distributed routing algorithm does not “solve the whole network” in one shot. It converges progressively.</a:t>
                </a:r>
              </a:p>
              <a:p>
                <a:r>
                  <a:rPr lang="en-US" dirty="0"/>
                  <a:t>That means:</a:t>
                </a:r>
              </a:p>
              <a:p>
                <a:r>
                  <a:rPr lang="en-US" dirty="0"/>
                  <a:t>nearby nodes converge first</a:t>
                </a:r>
              </a:p>
              <a:p>
                <a:r>
                  <a:rPr lang="en-US" dirty="0"/>
                  <a:t>faraway nodes converge later</a:t>
                </a:r>
              </a:p>
              <a:p>
                <a:r>
                  <a:rPr lang="en-US" dirty="0"/>
                  <a:t>the larger the network, the more rounds may be needed</a:t>
                </a:r>
              </a:p>
              <a:p>
                <a:r>
                  <a:rPr lang="en-US" b="1" dirty="0"/>
                  <a:t>In general, if the farthest relevant node is </a:t>
                </a:r>
                <a:r>
                  <a:rPr lang="en-US" sz="12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𝒌</a:t>
                </a:r>
                <a:r>
                  <a:rPr lang="en-US" b="1" dirty="0"/>
                  <a:t>hops away, it can take about </a:t>
                </a:r>
                <a:r>
                  <a:rPr lang="en-US" sz="12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rPr>
                  <a:t>𝒌</a:t>
                </a:r>
                <a:r>
                  <a:rPr lang="en-US" b="1" dirty="0"/>
                  <a:t>rounds for the information to reach it.</a:t>
                </a:r>
              </a:p>
              <a:p>
                <a:r>
                  <a:rPr lang="en-US" b="1" dirty="0"/>
                  <a:t>So convergence time is tied to network diameter and topology.</a:t>
                </a:r>
              </a:p>
              <a:p>
                <a:endParaRPr lang="en-US" b="1" dirty="0"/>
              </a:p>
              <a:p>
                <a:endParaRPr lang="en-US" b="1" dirty="0"/>
              </a:p>
              <a:p>
                <a:r>
                  <a:rPr lang="en-US" b="1" dirty="0"/>
                  <a:t>The deepest takeaway</a:t>
                </a:r>
              </a:p>
              <a:p>
                <a:r>
                  <a:rPr lang="en-US" dirty="0"/>
                  <a:t>The deepest lesson from this slide is:</a:t>
                </a:r>
              </a:p>
              <a:p>
                <a:r>
                  <a:rPr lang="en-US" dirty="0"/>
                  <a:t>Distance vector routing is fundamentally local in operation but global in effect.</a:t>
                </a:r>
              </a:p>
              <a:p>
                <a:r>
                  <a:rPr lang="en-US" dirty="0"/>
                  <a:t>Each router only does a simple local action:</a:t>
                </a:r>
              </a:p>
              <a:p>
                <a:r>
                  <a:rPr lang="en-US" dirty="0"/>
                  <a:t>receive neighbors’ vectors</a:t>
                </a:r>
              </a:p>
              <a:p>
                <a:r>
                  <a:rPr lang="en-US" dirty="0"/>
                  <a:t>recompute using Bellman-Ford</a:t>
                </a:r>
              </a:p>
              <a:p>
                <a:r>
                  <a:rPr lang="en-US" dirty="0"/>
                  <a:t>send its new vector</a:t>
                </a:r>
              </a:p>
              <a:p>
                <a:r>
                  <a:rPr lang="en-US" dirty="0"/>
                  <a:t>Yet over time, those local actions allow shortest-path information to spread throughout the whole network.</a:t>
                </a:r>
              </a:p>
              <a:p>
                <a:r>
                  <a:rPr lang="en-US" dirty="0"/>
                  <a:t>The price of being distributed is that this happens </a:t>
                </a:r>
                <a:r>
                  <a:rPr lang="en-US" b="1" dirty="0"/>
                  <a:t>gradually</a:t>
                </a:r>
                <a:r>
                  <a:rPr lang="en-US" dirty="0"/>
                  <a:t>, not instantly.</a:t>
                </a:r>
              </a:p>
              <a:p>
                <a:endParaRPr lang="en-US" b="1" dirty="0"/>
              </a:p>
              <a:p>
                <a:endParaRPr lang="en-US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672185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757850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72251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3203929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212314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165098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236242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347370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7897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24" Type="http://schemas.openxmlformats.org/officeDocument/2006/relationships/image" Target="../media/image25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8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2" name="Text Box 6">
            <a:extLst>
              <a:ext uri="{FF2B5EF4-FFF2-40B4-BE49-F238E27FC236}">
                <a16:creationId xmlns:a16="http://schemas.microsoft.com/office/drawing/2014/main" id="{D42D6E77-1D9B-09EB-7728-2AE5EA7C24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921086"/>
            <a:ext cx="53784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zh-CN" dirty="0">
                <a:latin typeface="+mn-lt"/>
              </a:rPr>
              <a:t>Instructor: Tianming Zhao</a:t>
            </a:r>
            <a:endParaRPr lang="en-US" altLang="en-US" sz="1800" dirty="0"/>
          </a:p>
        </p:txBody>
      </p:sp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948416" y="2692736"/>
            <a:ext cx="10162404" cy="920619"/>
            <a:chOff x="977913" y="2913962"/>
            <a:chExt cx="10162404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3" y="2913962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</a:t>
            </a:r>
            <a:r>
              <a:rPr lang="en-US" i="1"/>
              <a:t>fast do </a:t>
            </a:r>
            <a:r>
              <a:rPr lang="en-US" i="1" dirty="0"/>
              <a:t>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</a:t>
            </a:r>
            <a:r>
              <a:rPr lang="en-US" sz="2400" dirty="0" err="1"/>
              <a:t>direclty</a:t>
            </a:r>
            <a:r>
              <a:rPr lang="en-US" sz="2400" dirty="0"/>
              <a:t>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154322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7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z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b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594063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484676"/>
            <a:ext cx="5999480" cy="978729"/>
            <a:chOff x="657860" y="4484676"/>
            <a:chExt cx="5999480" cy="978729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484676"/>
              <a:ext cx="49981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b,a,e and now at </a:t>
              </a:r>
              <a:r>
                <a:rPr lang="en-US" sz="2000" dirty="0" err="1"/>
                <a:t>d,f,h</a:t>
              </a:r>
              <a:r>
                <a:rPr lang="en-US" sz="2000" dirty="0"/>
                <a:t> as well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524662"/>
            <a:ext cx="5918200" cy="978729"/>
            <a:chOff x="657860" y="5499610"/>
            <a:chExt cx="5918200" cy="978729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499610"/>
              <a:ext cx="4937760" cy="9787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b,a,e</a:t>
              </a:r>
              <a:r>
                <a:rPr lang="en-US" sz="2000"/>
                <a:t>, d, </a:t>
              </a:r>
              <a:r>
                <a:rPr lang="en-US" sz="2000" dirty="0"/>
                <a:t>f, h and now at g,i as well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table,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distance table.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  <p:bldP spid="8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201911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5" y="6018756"/>
            <a:ext cx="11048569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i="1" dirty="0"/>
              <a:t>Distributed algorithms are tricky! –Solution: Adding poisoned reverse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table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791329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492369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7"/>
            <a:ext cx="10785953" cy="4351338"/>
          </a:xfrm>
        </p:spPr>
        <p:txBody>
          <a:bodyPr/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eBGP: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obtain subnet reachability information from neighboring ASes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iBGP: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propagate reachability information to all AS-internal routers.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determine “</a:t>
            </a: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good” routes to other networks based on reachability information and </a:t>
            </a:r>
            <a:r>
              <a:rPr lang="en-US" altLang="ja-JP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kern="0" dirty="0">
              <a:solidFill>
                <a:srgbClr val="000090"/>
              </a:solidFill>
              <a:ea typeface="ＭＳ Ｐゴシック" charset="0"/>
            </a:endParaRP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6431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 </a:t>
            </a:r>
            <a:r>
              <a:rPr lang="en-US" sz="3600" dirty="0"/>
              <a:t>(more</a:t>
            </a:r>
            <a:r>
              <a:rPr lang="en-US" dirty="0"/>
              <a:t>)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messages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messages exchanged between peers over TCP connection</a:t>
            </a:r>
          </a:p>
          <a:p>
            <a:pPr indent="-290513"/>
            <a:r>
              <a:rPr lang="en-US" sz="3200" dirty="0"/>
              <a:t>BGP messages: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OPEN: </a:t>
            </a:r>
            <a:r>
              <a:rPr lang="en-US" sz="2800" dirty="0"/>
              <a:t>opens TCP connection to remote BGP peer and authenticates sending BGP peer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UPDATE: </a:t>
            </a:r>
            <a:r>
              <a:rPr lang="en-US" sz="2800" dirty="0"/>
              <a:t>advertises new path (or withdraws old)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KEEPALIVE</a:t>
            </a:r>
            <a:r>
              <a:rPr lang="en-US" sz="2800" dirty="0"/>
              <a:t>: keeps connection alive in absence of UPDATES; also ACKs OPEN request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NOTIFICATION</a:t>
            </a:r>
            <a:r>
              <a:rPr lang="en-US" sz="2800" dirty="0"/>
              <a:t>: reports errors in previous msg; also used to close connection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04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local link interfaces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9863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88818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427766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</a:t>
            </a:r>
            <a:r>
              <a:rPr lang="en-US" i="1" dirty="0"/>
              <a:t>n</a:t>
            </a:r>
            <a:r>
              <a:rPr lang="en-US" dirty="0"/>
              <a:t>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343747" y="5349734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7832</Words>
  <Application>Microsoft Office PowerPoint</Application>
  <PresentationFormat>Widescreen</PresentationFormat>
  <Paragraphs>1883</Paragraphs>
  <Slides>73</Slides>
  <Notes>49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73</vt:i4>
      </vt:variant>
    </vt:vector>
  </HeadingPairs>
  <TitlesOfParts>
    <vt:vector size="85" baseType="lpstr">
      <vt:lpstr>MS Mincho</vt:lpstr>
      <vt:lpstr>ＭＳ Ｐゴシック</vt:lpstr>
      <vt:lpstr>ZapfDingbats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Office Theme</vt:lpstr>
      <vt:lpstr>1_Office Theme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Network layer: “control plane” roadmap</vt:lpstr>
      <vt:lpstr>Routing protocols</vt:lpstr>
      <vt:lpstr>Routing algorithm classification</vt:lpstr>
      <vt:lpstr>Network layer: “control plane” roadmap</vt:lpstr>
      <vt:lpstr>Graph abstraction: link costs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Internet inter-AS routing: BGP</vt:lpstr>
      <vt:lpstr>eBGP, iBGP connections</vt:lpstr>
      <vt:lpstr>BGP basics</vt:lpstr>
      <vt:lpstr>Path attributes and BGP routes</vt:lpstr>
      <vt:lpstr>BGP path advertisement</vt:lpstr>
      <vt:lpstr>BGP path advertisement (more)</vt:lpstr>
      <vt:lpstr>BGP messages</vt:lpstr>
      <vt:lpstr>BGP path advertisement</vt:lpstr>
      <vt:lpstr>BGP path advertisement</vt:lpstr>
      <vt:lpstr>Why different Intra-, Inter-AS routing ? </vt:lpstr>
      <vt:lpstr>BGP: achieving policy via advertisements</vt:lpstr>
      <vt:lpstr>BGP: achieving policy via advertisements (more)</vt:lpstr>
      <vt:lpstr>Network layer: “control plane” roadmap</vt:lpstr>
      <vt:lpstr>Software-Defined Networking (SDN) control plane</vt:lpstr>
      <vt:lpstr>Software defined networking (SDN)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Network layer: “control plane” roadmap</vt:lpstr>
      <vt:lpstr>ICMP: internet control message protocol</vt:lpstr>
      <vt:lpstr>Traceroute and ICMP</vt:lpstr>
      <vt:lpstr>Network layer:  Summary</vt:lpstr>
      <vt:lpstr>Network layer, control plane:  Done!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2023-03-18T21:01:04Z</dcterms:created>
  <dcterms:modified xsi:type="dcterms:W3CDTF">2026-03-23T15:19:56Z</dcterms:modified>
</cp:coreProperties>
</file>