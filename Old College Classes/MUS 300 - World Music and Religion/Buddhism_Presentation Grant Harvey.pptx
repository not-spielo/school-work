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i2+e59Ue4lfwzzQ8SMD7IH2aGB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6ac618b1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6ac618b1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76ac618b1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d76ac618b1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76ac618b1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d76ac618b1_1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d76ac618b1_0_14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d76ac618b1_0_14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d76ac618b1_0_1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d76ac618b1_0_14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g3d76ac618b1_0_14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d76ac618b1_0_15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g3d76ac618b1_0_15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g3d76ac618b1_0_1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d76ac618b1_0_15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d76ac618b1_0_15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g3d76ac618b1_0_15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d76ac618b1_0_15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d76ac618b1_0_16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g3d76ac618b1_0_16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d76ac618b1_0_16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3d76ac618b1_0_16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d76ac618b1_0_16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d76ac618b1_0_16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d76ac618b1_0_16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d76ac618b1_0_170"/>
          <p:cNvSpPr/>
          <p:nvPr/>
        </p:nvSpPr>
        <p:spPr>
          <a:xfrm>
            <a:off x="4572000" y="33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d76ac618b1_0_17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3d76ac618b1_0_17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3d76ac618b1_0_170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g3d76ac618b1_0_17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d76ac618b1_0_17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3d76ac618b1_0_17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d76ac618b1_0_17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d76ac618b1_0_17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d76ac618b1_0_17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d76ac618b1_0_18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76ac618b1_0_1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g3d76ac618b1_0_18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g3d76ac618b1_0_18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d76ac618b1_0_18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d76ac618b1_0_18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d76ac618b1_0_1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d76ac618b1_0_1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g3d76ac618b1_0_1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HIUDLb3feP3vyYsCMGm1nwiZrRP7xpr3/view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jstor.org/stable/41699426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i.org/10.1093/jaarel/lfp017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i.org/10.1093/oxfordhb/9780199362387.013.27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76ac618b1_0_135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Vietnamese Mahayana Buddhism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d76ac618b1_0_135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By Grant Harvey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Focus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 Am Buddhist Temple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Mixed ages and Genders, Vietnamese community, modest clothing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3025" y="2505695"/>
            <a:ext cx="5438399" cy="403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Music 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Observations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126350" y="1600200"/>
            <a:ext cx="42540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Feb 14 (8 AM), Feb 15 (11 AM)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Participants: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Monks and congregation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Faced Buddha statue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rtl="0" algn="l"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Sound: 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Chanting, bells, wooden percussion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rtl="0" algn="l">
              <a:spcBef>
                <a:spcPts val="640"/>
              </a:spcBef>
              <a:spcAft>
                <a:spcPts val="0"/>
              </a:spcAft>
              <a:buSzPts val="1900"/>
              <a:buFont typeface="Calibri"/>
              <a:buChar char="●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Movements: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Bowing, kneeling, synchronized chanting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rtl="0" algn="l">
              <a:spcBef>
                <a:spcPts val="640"/>
              </a:spcBef>
              <a:spcAft>
                <a:spcPts val="0"/>
              </a:spcAft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Occurs during prayer and rituals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2" title="Music.m4a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4962" y="4933500"/>
            <a:ext cx="1694075" cy="169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9475" y="1494858"/>
            <a:ext cx="4481050" cy="315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>
            <p:ph type="title"/>
          </p:nvPr>
        </p:nvSpPr>
        <p:spPr>
          <a:xfrm>
            <a:off x="0" y="239575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Venerable Thay Thich Phuoc Tri - Feb 14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457200" y="1600200"/>
            <a:ext cx="6211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I think m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usic is more important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ceremony and makes people like it, but the main practitioner in Buddhism is meditation, that is the most important thing.”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Meditation more central than music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Music helps engagement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Music is not for entertainment, but supports focus and spiritual practice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4"/>
          <p:cNvPicPr preferRelativeResize="0"/>
          <p:nvPr/>
        </p:nvPicPr>
        <p:blipFill rotWithShape="1">
          <a:blip r:embed="rId3">
            <a:alphaModFix/>
          </a:blip>
          <a:srcRect b="12138" l="30763" r="55891" t="19630"/>
          <a:stretch/>
        </p:blipFill>
        <p:spPr>
          <a:xfrm>
            <a:off x="6780774" y="1279050"/>
            <a:ext cx="1796975" cy="516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Tin &amp; Francesca Nguyen - Feb 15</a:t>
            </a:r>
            <a:endParaRPr/>
          </a:p>
        </p:txBody>
      </p:sp>
      <p:sp>
        <p:nvSpPr>
          <p:cNvPr id="89" name="Google Shape;89;p5"/>
          <p:cNvSpPr txBox="1"/>
          <p:nvPr>
            <p:ph idx="1" type="body"/>
          </p:nvPr>
        </p:nvSpPr>
        <p:spPr>
          <a:xfrm>
            <a:off x="140400" y="2519838"/>
            <a:ext cx="5980500" cy="19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Attend mainly during holidays (New Years)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 temple as cultural and family gathering space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Doesn’t care for music service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Consumes music same way we would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5"/>
          <p:cNvPicPr preferRelativeResize="0"/>
          <p:nvPr/>
        </p:nvPicPr>
        <p:blipFill rotWithShape="1">
          <a:blip r:embed="rId3">
            <a:alphaModFix/>
          </a:blip>
          <a:srcRect b="0" l="17633" r="36544" t="13457"/>
          <a:stretch/>
        </p:blipFill>
        <p:spPr>
          <a:xfrm>
            <a:off x="5963274" y="2026375"/>
            <a:ext cx="2723524" cy="290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Music and Movement in Vietnamese Buddhism</a:t>
            </a:r>
            <a:endParaRPr/>
          </a:p>
        </p:txBody>
      </p:sp>
      <p:sp>
        <p:nvSpPr>
          <p:cNvPr id="96" name="Google Shape;96;p7"/>
          <p:cNvSpPr txBox="1"/>
          <p:nvPr>
            <p:ph idx="1" type="body"/>
          </p:nvPr>
        </p:nvSpPr>
        <p:spPr>
          <a:xfrm>
            <a:off x="457200" y="1600200"/>
            <a:ext cx="8229600" cy="5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591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60"/>
              <a:buChar char="●"/>
            </a:pPr>
            <a:r>
              <a:rPr lang="en-US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Vietnamese Buddhism includes chanting, ritual movement, and instruments</a:t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910" lvl="0" marL="3429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60"/>
              <a:buChar char="●"/>
            </a:pPr>
            <a:r>
              <a:rPr lang="en-US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Music tied to rituals and events</a:t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-US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Nguyen, Phong T. “Music and Movement in Vietnamese Buddhism.” The World of Music, vol. 44, no. 2, 2002, pp. 57–71. JSTOR, </a:t>
            </a:r>
            <a:r>
              <a:rPr lang="en-US" sz="246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http://www.jstor.org/stable/41699426</a:t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76ac618b1_1_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700">
                <a:latin typeface="Calibri"/>
                <a:ea typeface="Calibri"/>
                <a:cs typeface="Calibri"/>
                <a:sym typeface="Calibri"/>
              </a:rPr>
              <a:t>Language, Orthodoxy, and Performances of Authority in Vietnamese Buddhism</a:t>
            </a:r>
            <a:endParaRPr sz="3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d76ac618b1_1_13"/>
          <p:cNvSpPr txBox="1"/>
          <p:nvPr>
            <p:ph idx="1" type="body"/>
          </p:nvPr>
        </p:nvSpPr>
        <p:spPr>
          <a:xfrm>
            <a:off x="457200" y="1600200"/>
            <a:ext cx="8229600" cy="5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591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60"/>
              <a:buChar char="●"/>
            </a:pPr>
            <a:r>
              <a:rPr lang="en-US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Vietnamese Buddhism includes chanting, ritual movement, and instruments</a:t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910" lvl="0" marL="3429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60"/>
              <a:buChar char="●"/>
            </a:pPr>
            <a:r>
              <a:rPr lang="en-US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Music tied to rituals and events</a:t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910" lvl="0" marL="3429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60"/>
              <a:buFont typeface="Calibri"/>
              <a:buChar char="●"/>
            </a:pPr>
            <a:r>
              <a:rPr lang="en-US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Music </a:t>
            </a:r>
            <a:r>
              <a:rPr lang="en-US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participants</a:t>
            </a:r>
            <a:r>
              <a:rPr lang="en-US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80% - 90% women</a:t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-US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Alexander Soucy, Language, Orthodoxy, and Performances of Authority in Vietnamese Buddhism, Journal of the American Academy of Religion, Volume 77, Issue 2, June 2009, Pages 348–371, </a:t>
            </a:r>
            <a:r>
              <a:rPr lang="en-US" sz="246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https://doi.org/10.1093/jaarel/lfp017</a:t>
            </a:r>
            <a:r>
              <a:rPr lang="en-US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76ac618b1_1_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Chapter 31 Contemporary Buddhist Chanting and Music</a:t>
            </a:r>
            <a:endParaRPr/>
          </a:p>
        </p:txBody>
      </p:sp>
      <p:sp>
        <p:nvSpPr>
          <p:cNvPr id="108" name="Google Shape;108;g3d76ac618b1_1_18"/>
          <p:cNvSpPr txBox="1"/>
          <p:nvPr>
            <p:ph idx="1" type="body"/>
          </p:nvPr>
        </p:nvSpPr>
        <p:spPr>
          <a:xfrm>
            <a:off x="457200" y="1600200"/>
            <a:ext cx="8229600" cy="5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591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60"/>
              <a:buChar char="●"/>
            </a:pPr>
            <a:r>
              <a:rPr lang="en-US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Vietnamese Buddhism includes chanting, ritual movement, and instruments</a:t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910" lvl="0" marL="3429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60"/>
              <a:buChar char="●"/>
            </a:pPr>
            <a:r>
              <a:rPr lang="en-US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Music tied to rituals and events</a:t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910" lvl="0" marL="3429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60"/>
              <a:buChar char="●"/>
            </a:pPr>
            <a:r>
              <a:rPr lang="en-US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Chanting often replaces “songs” in Buddhist traditions</a:t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-US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Greene, Paul D., 'Contemporary Buddhist Chanting and Music', in Michael Jerryson (ed.), The Oxford Handbook of Contemporary Buddhism, Oxford Handbooks (2017; online edn, Oxford Academic, 5 Dec. 2016), </a:t>
            </a:r>
            <a:r>
              <a:rPr lang="en-US" sz="246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https://doi.org/10.1093/oxfordhb/9780199362387.013.27</a:t>
            </a:r>
            <a:r>
              <a:rPr lang="en-US" sz="24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vs </a:t>
            </a: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What I Saw</a:t>
            </a:r>
            <a:endParaRPr/>
          </a:p>
        </p:txBody>
      </p:sp>
      <p:sp>
        <p:nvSpPr>
          <p:cNvPr id="114" name="Google Shape;114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Findings align with literature</a:t>
            </a:r>
            <a:endParaRPr/>
          </a:p>
          <a:p>
            <a:pPr indent="-3746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Vietnamese Buddhism includes chanting, ritual movement, and instruments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Music tied to rituals and events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Music participants 80% - 90% women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742950" rtl="0" algn="l">
              <a:spcBef>
                <a:spcPts val="0"/>
              </a:spcBef>
              <a:spcAft>
                <a:spcPts val="0"/>
              </a:spcAft>
              <a:buSzPts val="3200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Chanting = Music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Christianity vs Buddhism</a:t>
            </a:r>
            <a:endParaRPr/>
          </a:p>
        </p:txBody>
      </p:sp>
      <p:sp>
        <p:nvSpPr>
          <p:cNvPr id="120" name="Google Shape;120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Similarity: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Music used for worship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Difference: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Christianity uses varied styles</a:t>
            </a:r>
            <a:endParaRPr/>
          </a:p>
          <a:p>
            <a:pPr indent="-3746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Buddhism focuses on repetitive chanting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Christian music listened outside of church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742950" rtl="0" algn="l">
              <a:spcBef>
                <a:spcPts val="640"/>
              </a:spcBef>
              <a:spcAft>
                <a:spcPts val="0"/>
              </a:spcAft>
              <a:buSzPts val="3200"/>
              <a:buFont typeface="Calibri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Buddhism m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usic tied to events rather than daily practice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