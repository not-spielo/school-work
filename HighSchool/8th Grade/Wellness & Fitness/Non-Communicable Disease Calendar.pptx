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891B"/>
    <a:srgbClr val="E07E12"/>
    <a:srgbClr val="F3AE63"/>
    <a:srgbClr val="EF9635"/>
    <a:srgbClr val="5C3407"/>
    <a:srgbClr val="CD7311"/>
    <a:srgbClr val="E60000"/>
    <a:srgbClr val="898383"/>
    <a:srgbClr val="E7E7E7"/>
    <a:srgbClr val="AFABA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8729C5E-335C-479D-B6C9-2800984E223D}" type="datetimeFigureOut">
              <a:rPr lang="en-US" smtClean="0"/>
              <a:t>1/30/2018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959EAD-1A32-41BE-B485-A2C4962922A1}" type="slidenum">
              <a:rPr lang="en-US" smtClean="0"/>
              <a:t>‹#›</a:t>
            </a:fld>
            <a:endParaRPr lang="en-US"/>
          </a:p>
        </p:txBody>
      </p:sp>
    </p:spTree>
    <p:extLst>
      <p:ext uri="{BB962C8B-B14F-4D97-AF65-F5344CB8AC3E}">
        <p14:creationId xmlns:p14="http://schemas.microsoft.com/office/powerpoint/2010/main" val="2971868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8729C5E-335C-479D-B6C9-2800984E223D}" type="datetimeFigureOut">
              <a:rPr lang="en-US" smtClean="0"/>
              <a:t>1/30/2018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959EAD-1A32-41BE-B485-A2C4962922A1}" type="slidenum">
              <a:rPr lang="en-US" smtClean="0"/>
              <a:t>‹#›</a:t>
            </a:fld>
            <a:endParaRPr lang="en-US"/>
          </a:p>
        </p:txBody>
      </p:sp>
    </p:spTree>
    <p:extLst>
      <p:ext uri="{BB962C8B-B14F-4D97-AF65-F5344CB8AC3E}">
        <p14:creationId xmlns:p14="http://schemas.microsoft.com/office/powerpoint/2010/main" val="878649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E8729C5E-335C-479D-B6C9-2800984E223D}" type="datetimeFigureOut">
              <a:rPr lang="en-US" smtClean="0"/>
              <a:t>1/30/2018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959EAD-1A32-41BE-B485-A2C4962922A1}" type="slidenum">
              <a:rPr lang="en-US" smtClean="0"/>
              <a:t>‹#›</a:t>
            </a:fld>
            <a:endParaRPr lang="en-US"/>
          </a:p>
        </p:txBody>
      </p:sp>
    </p:spTree>
    <p:extLst>
      <p:ext uri="{BB962C8B-B14F-4D97-AF65-F5344CB8AC3E}">
        <p14:creationId xmlns:p14="http://schemas.microsoft.com/office/powerpoint/2010/main" val="25436690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8729C5E-335C-479D-B6C9-2800984E223D}" type="datetimeFigureOut">
              <a:rPr lang="en-US" smtClean="0"/>
              <a:t>1/30/2018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959EAD-1A32-41BE-B485-A2C4962922A1}" type="slidenum">
              <a:rPr lang="en-US" smtClean="0"/>
              <a:t>‹#›</a:t>
            </a:fld>
            <a:endParaRPr lang="en-US"/>
          </a:p>
        </p:txBody>
      </p:sp>
    </p:spTree>
    <p:extLst>
      <p:ext uri="{BB962C8B-B14F-4D97-AF65-F5344CB8AC3E}">
        <p14:creationId xmlns:p14="http://schemas.microsoft.com/office/powerpoint/2010/main" val="5126522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8729C5E-335C-479D-B6C9-2800984E223D}" type="datetimeFigureOut">
              <a:rPr lang="en-US" smtClean="0"/>
              <a:t>1/30/2018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4959EAD-1A32-41BE-B485-A2C4962922A1}" type="slidenum">
              <a:rPr lang="en-US" smtClean="0"/>
              <a:t>‹#›</a:t>
            </a:fld>
            <a:endParaRPr lang="en-US"/>
          </a:p>
        </p:txBody>
      </p:sp>
    </p:spTree>
    <p:extLst>
      <p:ext uri="{BB962C8B-B14F-4D97-AF65-F5344CB8AC3E}">
        <p14:creationId xmlns:p14="http://schemas.microsoft.com/office/powerpoint/2010/main" val="17354891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8729C5E-335C-479D-B6C9-2800984E223D}" type="datetimeFigureOut">
              <a:rPr lang="en-US" smtClean="0"/>
              <a:t>1/30/2018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4959EAD-1A32-41BE-B485-A2C4962922A1}" type="slidenum">
              <a:rPr lang="en-US" smtClean="0"/>
              <a:t>‹#›</a:t>
            </a:fld>
            <a:endParaRPr lang="en-US"/>
          </a:p>
        </p:txBody>
      </p:sp>
    </p:spTree>
    <p:extLst>
      <p:ext uri="{BB962C8B-B14F-4D97-AF65-F5344CB8AC3E}">
        <p14:creationId xmlns:p14="http://schemas.microsoft.com/office/powerpoint/2010/main" val="32225005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729C5E-335C-479D-B6C9-2800984E223D}" type="datetimeFigureOut">
              <a:rPr lang="en-US" smtClean="0"/>
              <a:t>1/30/2018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4959EAD-1A32-41BE-B485-A2C4962922A1}" type="slidenum">
              <a:rPr lang="en-US" smtClean="0"/>
              <a:t>‹#›</a:t>
            </a:fld>
            <a:endParaRPr lang="en-US"/>
          </a:p>
        </p:txBody>
      </p:sp>
    </p:spTree>
    <p:extLst>
      <p:ext uri="{BB962C8B-B14F-4D97-AF65-F5344CB8AC3E}">
        <p14:creationId xmlns:p14="http://schemas.microsoft.com/office/powerpoint/2010/main" val="22856931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8729C5E-335C-479D-B6C9-2800984E223D}" type="datetimeFigureOut">
              <a:rPr lang="en-US" smtClean="0"/>
              <a:t>1/30/2018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959EAD-1A32-41BE-B485-A2C4962922A1}" type="slidenum">
              <a:rPr lang="en-US" smtClean="0"/>
              <a:t>‹#›</a:t>
            </a:fld>
            <a:endParaRPr lang="en-US"/>
          </a:p>
        </p:txBody>
      </p:sp>
    </p:spTree>
    <p:extLst>
      <p:ext uri="{BB962C8B-B14F-4D97-AF65-F5344CB8AC3E}">
        <p14:creationId xmlns:p14="http://schemas.microsoft.com/office/powerpoint/2010/main" val="19884364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E8729C5E-335C-479D-B6C9-2800984E223D}" type="datetimeFigureOut">
              <a:rPr lang="en-US" smtClean="0"/>
              <a:t>1/30/2018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959EAD-1A32-41BE-B485-A2C4962922A1}" type="slidenum">
              <a:rPr lang="en-US" smtClean="0"/>
              <a:t>‹#›</a:t>
            </a:fld>
            <a:endParaRPr lang="en-US"/>
          </a:p>
        </p:txBody>
      </p:sp>
    </p:spTree>
    <p:extLst>
      <p:ext uri="{BB962C8B-B14F-4D97-AF65-F5344CB8AC3E}">
        <p14:creationId xmlns:p14="http://schemas.microsoft.com/office/powerpoint/2010/main" val="19986460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8729C5E-335C-479D-B6C9-2800984E223D}" type="datetimeFigureOut">
              <a:rPr lang="en-US" smtClean="0"/>
              <a:t>1/30/2018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959EAD-1A32-41BE-B485-A2C4962922A1}" type="slidenum">
              <a:rPr lang="en-US" smtClean="0"/>
              <a:t>‹#›</a:t>
            </a:fld>
            <a:endParaRPr lang="en-US"/>
          </a:p>
        </p:txBody>
      </p:sp>
    </p:spTree>
    <p:extLst>
      <p:ext uri="{BB962C8B-B14F-4D97-AF65-F5344CB8AC3E}">
        <p14:creationId xmlns:p14="http://schemas.microsoft.com/office/powerpoint/2010/main" val="37200168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8729C5E-335C-479D-B6C9-2800984E223D}" type="datetimeFigureOut">
              <a:rPr lang="en-US" smtClean="0"/>
              <a:t>1/30/2018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959EAD-1A32-41BE-B485-A2C4962922A1}" type="slidenum">
              <a:rPr lang="en-US" smtClean="0"/>
              <a:t>‹#›</a:t>
            </a:fld>
            <a:endParaRPr lang="en-US"/>
          </a:p>
        </p:txBody>
      </p:sp>
    </p:spTree>
    <p:extLst>
      <p:ext uri="{BB962C8B-B14F-4D97-AF65-F5344CB8AC3E}">
        <p14:creationId xmlns:p14="http://schemas.microsoft.com/office/powerpoint/2010/main" val="3696240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729C5E-335C-479D-B6C9-2800984E223D}" type="datetimeFigureOut">
              <a:rPr lang="en-US" smtClean="0"/>
              <a:t>1/30/2018</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4959EAD-1A32-41BE-B485-A2C4962922A1}" type="slidenum">
              <a:rPr lang="en-US" smtClean="0"/>
              <a:t>‹#›</a:t>
            </a:fld>
            <a:endParaRPr lang="en-US"/>
          </a:p>
        </p:txBody>
      </p:sp>
    </p:spTree>
    <p:extLst>
      <p:ext uri="{BB962C8B-B14F-4D97-AF65-F5344CB8AC3E}">
        <p14:creationId xmlns:p14="http://schemas.microsoft.com/office/powerpoint/2010/main" val="24528708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44000">
              <a:schemeClr val="accent3">
                <a:lumMod val="40000"/>
                <a:lumOff val="60000"/>
              </a:schemeClr>
            </a:gs>
            <a:gs pos="60000">
              <a:srgbClr val="777777"/>
            </a:gs>
          </a:gsLst>
          <a:lin ang="14460000" scaled="0"/>
          <a:tileRect/>
        </a:gradFill>
        <a:effectLst/>
      </p:bgPr>
    </p:bg>
    <p:spTree>
      <p:nvGrpSpPr>
        <p:cNvPr id="1" name=""/>
        <p:cNvGrpSpPr/>
        <p:nvPr/>
      </p:nvGrpSpPr>
      <p:grpSpPr>
        <a:xfrm>
          <a:off x="0" y="0"/>
          <a:ext cx="0" cy="0"/>
          <a:chOff x="0" y="0"/>
          <a:chExt cx="0" cy="0"/>
        </a:xfrm>
      </p:grpSpPr>
      <p:graphicFrame>
        <p:nvGraphicFramePr>
          <p:cNvPr id="7" name="Table 6"/>
          <p:cNvGraphicFramePr>
            <a:graphicFrameLocks noGrp="1"/>
          </p:cNvGraphicFramePr>
          <p:nvPr>
            <p:extLst>
              <p:ext uri="{D42A27DB-BD31-4B8C-83A1-F6EECF244321}">
                <p14:modId xmlns:p14="http://schemas.microsoft.com/office/powerpoint/2010/main" val="977661724"/>
              </p:ext>
            </p:extLst>
          </p:nvPr>
        </p:nvGraphicFramePr>
        <p:xfrm>
          <a:off x="35345" y="5789913"/>
          <a:ext cx="10088367" cy="1055024"/>
        </p:xfrm>
        <a:graphic>
          <a:graphicData uri="http://schemas.openxmlformats.org/drawingml/2006/table">
            <a:tbl>
              <a:tblPr firstRow="1" bandRow="1">
                <a:tableStyleId>{5C22544A-7EE6-4342-B048-85BDC9FD1C3A}</a:tableStyleId>
              </a:tblPr>
              <a:tblGrid>
                <a:gridCol w="10088367">
                  <a:extLst>
                    <a:ext uri="{9D8B030D-6E8A-4147-A177-3AD203B41FA5}">
                      <a16:colId xmlns:a16="http://schemas.microsoft.com/office/drawing/2014/main" val="3518731770"/>
                    </a:ext>
                  </a:extLst>
                </a:gridCol>
              </a:tblGrid>
              <a:tr h="105502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smtClean="0">
                          <a:solidFill>
                            <a:schemeClr val="tx1"/>
                          </a:solidFill>
                        </a:rPr>
                        <a:t>Skin Cancer is what happens when your skin cells get damaged and remain unrepaired for a while. Basically when  you get sun burnt really badly, and you get mutations because of it. Skin cancer affects the body by leaving moles, sores, lumps, blemishes, or markings where your skin cells got damaged. Some risk factors are sunburns, tanning, and other things that use UV rays.</a:t>
                      </a:r>
                    </a:p>
                    <a:p>
                      <a:endParaRPr lang="en-US" dirty="0"/>
                    </a:p>
                  </a:txBody>
                  <a:tcPr>
                    <a:solidFill>
                      <a:srgbClr val="ED891B"/>
                    </a:solidFill>
                  </a:tcPr>
                </a:tc>
                <a:extLst>
                  <a:ext uri="{0D108BD9-81ED-4DB2-BD59-A6C34878D82A}">
                    <a16:rowId xmlns:a16="http://schemas.microsoft.com/office/drawing/2014/main" val="3792818549"/>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45968930"/>
              </p:ext>
            </p:extLst>
          </p:nvPr>
        </p:nvGraphicFramePr>
        <p:xfrm>
          <a:off x="35346" y="5485282"/>
          <a:ext cx="10088367" cy="335280"/>
        </p:xfrm>
        <a:graphic>
          <a:graphicData uri="http://schemas.openxmlformats.org/drawingml/2006/table">
            <a:tbl>
              <a:tblPr firstRow="1" bandRow="1">
                <a:tableStyleId>{D113A9D2-9D6B-4929-AA2D-F23B5EE8CBE7}</a:tableStyleId>
              </a:tblPr>
              <a:tblGrid>
                <a:gridCol w="10088367">
                  <a:extLst>
                    <a:ext uri="{9D8B030D-6E8A-4147-A177-3AD203B41FA5}">
                      <a16:colId xmlns:a16="http://schemas.microsoft.com/office/drawing/2014/main" val="138779871"/>
                    </a:ext>
                  </a:extLst>
                </a:gridCol>
              </a:tblGrid>
              <a:tr h="249312">
                <a:tc>
                  <a:txBody>
                    <a:bodyPr/>
                    <a:lstStyle/>
                    <a:p>
                      <a:pPr algn="ctr"/>
                      <a:r>
                        <a:rPr lang="en-US" sz="1600" dirty="0" smtClean="0">
                          <a:solidFill>
                            <a:schemeClr val="tx1"/>
                          </a:solidFill>
                        </a:rPr>
                        <a:t>What</a:t>
                      </a:r>
                      <a:r>
                        <a:rPr lang="en-US" sz="1600" baseline="0" dirty="0" smtClean="0">
                          <a:solidFill>
                            <a:schemeClr val="tx1"/>
                          </a:solidFill>
                        </a:rPr>
                        <a:t> is Skin Cancer</a:t>
                      </a:r>
                      <a:endParaRPr lang="en-US" sz="1600" dirty="0">
                        <a:solidFill>
                          <a:schemeClr val="tx1"/>
                        </a:solidFill>
                      </a:endParaRPr>
                    </a:p>
                  </a:txBody>
                  <a:tcPr>
                    <a:solidFill>
                      <a:srgbClr val="C00000"/>
                    </a:solidFill>
                  </a:tcPr>
                </a:tc>
                <a:extLst>
                  <a:ext uri="{0D108BD9-81ED-4DB2-BD59-A6C34878D82A}">
                    <a16:rowId xmlns:a16="http://schemas.microsoft.com/office/drawing/2014/main" val="1724607586"/>
                  </a:ext>
                </a:extLst>
              </a:tr>
            </a:tbl>
          </a:graphicData>
        </a:graphic>
      </p:graphicFrame>
      <p:sp>
        <p:nvSpPr>
          <p:cNvPr id="49" name="TextBox 48"/>
          <p:cNvSpPr txBox="1"/>
          <p:nvPr/>
        </p:nvSpPr>
        <p:spPr>
          <a:xfrm>
            <a:off x="10123712" y="2272129"/>
            <a:ext cx="2068288" cy="4585871"/>
          </a:xfrm>
          <a:prstGeom prst="rect">
            <a:avLst/>
          </a:prstGeom>
          <a:solidFill>
            <a:srgbClr val="ED891B"/>
          </a:solidFill>
        </p:spPr>
        <p:txBody>
          <a:bodyPr wrap="square" rtlCol="0">
            <a:spAutoFit/>
          </a:bodyPr>
          <a:lstStyle/>
          <a:p>
            <a:pPr algn="ctr"/>
            <a:r>
              <a:rPr lang="en-US" b="1" dirty="0" smtClean="0"/>
              <a:t>Reason </a:t>
            </a:r>
            <a:r>
              <a:rPr lang="en-US" b="1" dirty="0"/>
              <a:t>F</a:t>
            </a:r>
            <a:r>
              <a:rPr lang="en-US" b="1" dirty="0" smtClean="0"/>
              <a:t>or </a:t>
            </a:r>
            <a:r>
              <a:rPr lang="en-US" b="1" dirty="0"/>
              <a:t>T</a:t>
            </a:r>
            <a:r>
              <a:rPr lang="en-US" b="1" dirty="0" smtClean="0"/>
              <a:t>his </a:t>
            </a:r>
            <a:r>
              <a:rPr lang="en-US" b="1" dirty="0" smtClean="0"/>
              <a:t>Place</a:t>
            </a:r>
            <a:endParaRPr lang="en-US" b="1" dirty="0" smtClean="0"/>
          </a:p>
          <a:p>
            <a:r>
              <a:rPr lang="en-US" sz="1600" b="1" dirty="0"/>
              <a:t> </a:t>
            </a:r>
            <a:r>
              <a:rPr lang="en-US" sz="1600" b="1" dirty="0" smtClean="0"/>
              <a:t>  </a:t>
            </a:r>
            <a:r>
              <a:rPr lang="en-US" sz="1600" dirty="0" smtClean="0"/>
              <a:t>The Dayton skin Care Specialist is a place to get checkups to see if you have skin cancer, or the risk of getting it. If my family has a questions about skin cancer, or has a unusual mole that appears, they can go their to get a checkup or ask questions. My family risk factors are, we get burnt easily, and my sister does tanning beds some</a:t>
            </a:r>
            <a:r>
              <a:rPr lang="en-US" sz="1400" dirty="0" smtClean="0"/>
              <a:t>.</a:t>
            </a:r>
            <a:endParaRPr lang="en-US" sz="400" dirty="0"/>
          </a:p>
        </p:txBody>
      </p:sp>
      <p:graphicFrame>
        <p:nvGraphicFramePr>
          <p:cNvPr id="4" name="Table 3"/>
          <p:cNvGraphicFramePr>
            <a:graphicFrameLocks noGrp="1"/>
          </p:cNvGraphicFramePr>
          <p:nvPr>
            <p:extLst>
              <p:ext uri="{D42A27DB-BD31-4B8C-83A1-F6EECF244321}">
                <p14:modId xmlns:p14="http://schemas.microsoft.com/office/powerpoint/2010/main" val="101705495"/>
              </p:ext>
            </p:extLst>
          </p:nvPr>
        </p:nvGraphicFramePr>
        <p:xfrm>
          <a:off x="10123712" y="2034091"/>
          <a:ext cx="2064446" cy="761362"/>
        </p:xfrm>
        <a:graphic>
          <a:graphicData uri="http://schemas.openxmlformats.org/drawingml/2006/table">
            <a:tbl>
              <a:tblPr/>
              <a:tblGrid>
                <a:gridCol w="2064446">
                  <a:extLst>
                    <a:ext uri="{9D8B030D-6E8A-4147-A177-3AD203B41FA5}">
                      <a16:colId xmlns:a16="http://schemas.microsoft.com/office/drawing/2014/main" val="3719347811"/>
                    </a:ext>
                  </a:extLst>
                </a:gridCol>
              </a:tblGrid>
              <a:tr h="761362">
                <a:tc>
                  <a:txBody>
                    <a:bodyPr/>
                    <a:lstStyle/>
                    <a:p>
                      <a:pPr algn="ctr"/>
                      <a:r>
                        <a:rPr lang="en-US" dirty="0" smtClean="0"/>
                        <a:t>Reason For Local</a:t>
                      </a:r>
                      <a:r>
                        <a:rPr lang="en-US" baseline="0" dirty="0" smtClean="0"/>
                        <a:t> Health Resource</a:t>
                      </a:r>
                      <a:endParaRPr lang="en-US"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E60000"/>
                    </a:solidFill>
                  </a:tcPr>
                </a:tc>
                <a:extLst>
                  <a:ext uri="{0D108BD9-81ED-4DB2-BD59-A6C34878D82A}">
                    <a16:rowId xmlns:a16="http://schemas.microsoft.com/office/drawing/2014/main" val="623996953"/>
                  </a:ext>
                </a:extLst>
              </a:tr>
            </a:tbl>
          </a:graphicData>
        </a:graphic>
      </p:graphicFrame>
      <p:sp>
        <p:nvSpPr>
          <p:cNvPr id="48" name="TextBox 47"/>
          <p:cNvSpPr txBox="1"/>
          <p:nvPr/>
        </p:nvSpPr>
        <p:spPr>
          <a:xfrm>
            <a:off x="10123712" y="425113"/>
            <a:ext cx="2064703" cy="1600438"/>
          </a:xfrm>
          <a:prstGeom prst="rect">
            <a:avLst/>
          </a:prstGeom>
          <a:solidFill>
            <a:srgbClr val="ED891B"/>
          </a:solidFill>
        </p:spPr>
        <p:txBody>
          <a:bodyPr wrap="square" rtlCol="0">
            <a:spAutoFit/>
          </a:bodyPr>
          <a:lstStyle/>
          <a:p>
            <a:pPr algn="ctr"/>
            <a:r>
              <a:rPr lang="en-US" sz="1400" b="1" dirty="0" smtClean="0"/>
              <a:t>Local Health Resource</a:t>
            </a:r>
          </a:p>
          <a:p>
            <a:r>
              <a:rPr lang="en-US" sz="1200" u="sng" dirty="0" smtClean="0"/>
              <a:t>Dayton Skin Care Specialist</a:t>
            </a:r>
          </a:p>
          <a:p>
            <a:r>
              <a:rPr lang="en-US" sz="1200" u="sng" dirty="0" smtClean="0"/>
              <a:t>Address:</a:t>
            </a:r>
            <a:r>
              <a:rPr lang="en-US" sz="1200" dirty="0" smtClean="0"/>
              <a:t> 3025 Governors Place Blvd. Dayton, Ohio 45409</a:t>
            </a:r>
          </a:p>
          <a:p>
            <a:r>
              <a:rPr lang="en-US" sz="1200" u="sng" dirty="0" smtClean="0"/>
              <a:t>Phone Number:</a:t>
            </a:r>
            <a:r>
              <a:rPr lang="en-US" sz="1200" dirty="0" smtClean="0"/>
              <a:t> (937) </a:t>
            </a:r>
            <a:r>
              <a:rPr lang="en-US" sz="1200" dirty="0" smtClean="0"/>
              <a:t>293-5567</a:t>
            </a:r>
          </a:p>
          <a:p>
            <a:r>
              <a:rPr lang="en-US" sz="1200" u="sng" dirty="0" smtClean="0"/>
              <a:t>Warning: </a:t>
            </a:r>
            <a:r>
              <a:rPr lang="en-US" sz="1200" dirty="0" smtClean="0"/>
              <a:t>There is a fee</a:t>
            </a:r>
            <a:endParaRPr lang="en-US" sz="1200" u="sng" dirty="0"/>
          </a:p>
        </p:txBody>
      </p:sp>
      <p:graphicFrame>
        <p:nvGraphicFramePr>
          <p:cNvPr id="3" name="Table 2"/>
          <p:cNvGraphicFramePr>
            <a:graphicFrameLocks noGrp="1"/>
          </p:cNvGraphicFramePr>
          <p:nvPr>
            <p:extLst>
              <p:ext uri="{D42A27DB-BD31-4B8C-83A1-F6EECF244321}">
                <p14:modId xmlns:p14="http://schemas.microsoft.com/office/powerpoint/2010/main" val="517122505"/>
              </p:ext>
            </p:extLst>
          </p:nvPr>
        </p:nvGraphicFramePr>
        <p:xfrm>
          <a:off x="10120127" y="7104"/>
          <a:ext cx="2071873" cy="640080"/>
        </p:xfrm>
        <a:graphic>
          <a:graphicData uri="http://schemas.openxmlformats.org/drawingml/2006/table">
            <a:tbl>
              <a:tblPr/>
              <a:tblGrid>
                <a:gridCol w="2071873">
                  <a:extLst>
                    <a:ext uri="{9D8B030D-6E8A-4147-A177-3AD203B41FA5}">
                      <a16:colId xmlns:a16="http://schemas.microsoft.com/office/drawing/2014/main" val="3428205311"/>
                    </a:ext>
                  </a:extLst>
                </a:gridCol>
              </a:tblGrid>
              <a:tr h="551131">
                <a:tc>
                  <a:txBody>
                    <a:bodyPr/>
                    <a:lstStyle/>
                    <a:p>
                      <a:pPr algn="ctr"/>
                      <a:r>
                        <a:rPr lang="en-US" dirty="0" smtClean="0"/>
                        <a:t>Local Health Resource</a:t>
                      </a:r>
                      <a:endParaRPr lang="en-US"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E60000"/>
                    </a:solidFill>
                  </a:tcPr>
                </a:tc>
                <a:extLst>
                  <a:ext uri="{0D108BD9-81ED-4DB2-BD59-A6C34878D82A}">
                    <a16:rowId xmlns:a16="http://schemas.microsoft.com/office/drawing/2014/main" val="397077704"/>
                  </a:ext>
                </a:extLst>
              </a:tr>
            </a:tbl>
          </a:graphicData>
        </a:graphic>
      </p:graphicFrame>
      <p:graphicFrame>
        <p:nvGraphicFramePr>
          <p:cNvPr id="14" name="Table 13"/>
          <p:cNvGraphicFramePr>
            <a:graphicFrameLocks noGrp="1"/>
          </p:cNvGraphicFramePr>
          <p:nvPr>
            <p:extLst>
              <p:ext uri="{D42A27DB-BD31-4B8C-83A1-F6EECF244321}">
                <p14:modId xmlns:p14="http://schemas.microsoft.com/office/powerpoint/2010/main" val="1429218652"/>
              </p:ext>
            </p:extLst>
          </p:nvPr>
        </p:nvGraphicFramePr>
        <p:xfrm>
          <a:off x="35345" y="753123"/>
          <a:ext cx="10088367" cy="4770804"/>
        </p:xfrm>
        <a:graphic>
          <a:graphicData uri="http://schemas.openxmlformats.org/drawingml/2006/table">
            <a:tbl>
              <a:tblPr firstRow="1" bandRow="1">
                <a:tableStyleId>{073A0DAA-6AF3-43AB-8588-CEC1D06C72B9}</a:tableStyleId>
              </a:tblPr>
              <a:tblGrid>
                <a:gridCol w="1441195">
                  <a:extLst>
                    <a:ext uri="{9D8B030D-6E8A-4147-A177-3AD203B41FA5}">
                      <a16:colId xmlns:a16="http://schemas.microsoft.com/office/drawing/2014/main" val="59691286"/>
                    </a:ext>
                  </a:extLst>
                </a:gridCol>
                <a:gridCol w="1441196">
                  <a:extLst>
                    <a:ext uri="{9D8B030D-6E8A-4147-A177-3AD203B41FA5}">
                      <a16:colId xmlns:a16="http://schemas.microsoft.com/office/drawing/2014/main" val="4116783267"/>
                    </a:ext>
                  </a:extLst>
                </a:gridCol>
                <a:gridCol w="1441195">
                  <a:extLst>
                    <a:ext uri="{9D8B030D-6E8A-4147-A177-3AD203B41FA5}">
                      <a16:colId xmlns:a16="http://schemas.microsoft.com/office/drawing/2014/main" val="2472802969"/>
                    </a:ext>
                  </a:extLst>
                </a:gridCol>
                <a:gridCol w="1441195">
                  <a:extLst>
                    <a:ext uri="{9D8B030D-6E8A-4147-A177-3AD203B41FA5}">
                      <a16:colId xmlns:a16="http://schemas.microsoft.com/office/drawing/2014/main" val="1518381382"/>
                    </a:ext>
                  </a:extLst>
                </a:gridCol>
                <a:gridCol w="1441195">
                  <a:extLst>
                    <a:ext uri="{9D8B030D-6E8A-4147-A177-3AD203B41FA5}">
                      <a16:colId xmlns:a16="http://schemas.microsoft.com/office/drawing/2014/main" val="459149296"/>
                    </a:ext>
                  </a:extLst>
                </a:gridCol>
                <a:gridCol w="1441196">
                  <a:extLst>
                    <a:ext uri="{9D8B030D-6E8A-4147-A177-3AD203B41FA5}">
                      <a16:colId xmlns:a16="http://schemas.microsoft.com/office/drawing/2014/main" val="2523886953"/>
                    </a:ext>
                  </a:extLst>
                </a:gridCol>
                <a:gridCol w="1441195">
                  <a:extLst>
                    <a:ext uri="{9D8B030D-6E8A-4147-A177-3AD203B41FA5}">
                      <a16:colId xmlns:a16="http://schemas.microsoft.com/office/drawing/2014/main" val="303225425"/>
                    </a:ext>
                  </a:extLst>
                </a:gridCol>
              </a:tblGrid>
              <a:tr h="607591">
                <a:tc gridSpan="7">
                  <a:txBody>
                    <a:bodyPr/>
                    <a:lstStyle/>
                    <a:p>
                      <a:pPr algn="ctr"/>
                      <a:r>
                        <a:rPr lang="en-US" sz="3200" dirty="0" smtClean="0">
                          <a:latin typeface="DFKai-SB" panose="03000509000000000000" pitchFamily="65" charset="-120"/>
                          <a:ea typeface="DFKai-SB" panose="03000509000000000000" pitchFamily="65" charset="-120"/>
                        </a:rPr>
                        <a:t>June</a:t>
                      </a:r>
                      <a:endParaRPr lang="en-US" sz="3200" dirty="0">
                        <a:latin typeface="DFKai-SB" panose="03000509000000000000" pitchFamily="65" charset="-120"/>
                        <a:ea typeface="DFKai-SB" panose="03000509000000000000" pitchFamily="65" charset="-120"/>
                      </a:endParaRPr>
                    </a:p>
                  </a:txBody>
                  <a:tcPr>
                    <a:solidFill>
                      <a:srgbClr val="C00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186308996"/>
                  </a:ext>
                </a:extLst>
              </a:tr>
              <a:tr h="271817">
                <a:tc>
                  <a:txBody>
                    <a:bodyPr/>
                    <a:lstStyle/>
                    <a:p>
                      <a:pPr algn="ctr"/>
                      <a:r>
                        <a:rPr lang="en-US" sz="1100" dirty="0" smtClean="0"/>
                        <a:t>Sunday</a:t>
                      </a:r>
                      <a:endParaRPr lang="en-US" sz="1100" dirty="0"/>
                    </a:p>
                  </a:txBody>
                  <a:tcPr>
                    <a:solidFill>
                      <a:srgbClr val="E07E12"/>
                    </a:solidFill>
                  </a:tcPr>
                </a:tc>
                <a:tc>
                  <a:txBody>
                    <a:bodyPr/>
                    <a:lstStyle/>
                    <a:p>
                      <a:pPr algn="ctr"/>
                      <a:r>
                        <a:rPr lang="en-US" sz="1100" dirty="0" smtClean="0"/>
                        <a:t>Monday</a:t>
                      </a:r>
                      <a:endParaRPr lang="en-US" sz="1100" dirty="0"/>
                    </a:p>
                  </a:txBody>
                  <a:tcPr>
                    <a:solidFill>
                      <a:srgbClr val="E07E12"/>
                    </a:solidFill>
                  </a:tcPr>
                </a:tc>
                <a:tc>
                  <a:txBody>
                    <a:bodyPr/>
                    <a:lstStyle/>
                    <a:p>
                      <a:pPr algn="ctr"/>
                      <a:r>
                        <a:rPr lang="en-US" sz="1100" dirty="0" smtClean="0"/>
                        <a:t>Tuesday</a:t>
                      </a:r>
                      <a:endParaRPr lang="en-US" sz="1100" dirty="0"/>
                    </a:p>
                  </a:txBody>
                  <a:tcPr>
                    <a:solidFill>
                      <a:srgbClr val="E07E12"/>
                    </a:solidFill>
                  </a:tcPr>
                </a:tc>
                <a:tc>
                  <a:txBody>
                    <a:bodyPr/>
                    <a:lstStyle/>
                    <a:p>
                      <a:pPr algn="ctr"/>
                      <a:r>
                        <a:rPr lang="en-US" sz="1100" dirty="0" smtClean="0"/>
                        <a:t>Wednesday</a:t>
                      </a:r>
                      <a:endParaRPr lang="en-US" sz="1100" dirty="0"/>
                    </a:p>
                  </a:txBody>
                  <a:tcPr>
                    <a:solidFill>
                      <a:srgbClr val="E07E12"/>
                    </a:solidFill>
                  </a:tcPr>
                </a:tc>
                <a:tc>
                  <a:txBody>
                    <a:bodyPr/>
                    <a:lstStyle/>
                    <a:p>
                      <a:pPr algn="ctr"/>
                      <a:r>
                        <a:rPr lang="en-US" sz="1100" dirty="0" smtClean="0"/>
                        <a:t>Thursday</a:t>
                      </a:r>
                      <a:endParaRPr lang="en-US" sz="1100" dirty="0"/>
                    </a:p>
                  </a:txBody>
                  <a:tcPr>
                    <a:solidFill>
                      <a:srgbClr val="E07E12"/>
                    </a:solidFill>
                  </a:tcPr>
                </a:tc>
                <a:tc>
                  <a:txBody>
                    <a:bodyPr/>
                    <a:lstStyle/>
                    <a:p>
                      <a:pPr algn="ctr"/>
                      <a:r>
                        <a:rPr lang="en-US" sz="1100" dirty="0" smtClean="0"/>
                        <a:t>Friday</a:t>
                      </a:r>
                      <a:endParaRPr lang="en-US" sz="1100" dirty="0"/>
                    </a:p>
                  </a:txBody>
                  <a:tcPr>
                    <a:solidFill>
                      <a:srgbClr val="E07E12"/>
                    </a:solidFill>
                  </a:tcPr>
                </a:tc>
                <a:tc>
                  <a:txBody>
                    <a:bodyPr/>
                    <a:lstStyle/>
                    <a:p>
                      <a:pPr algn="ctr"/>
                      <a:r>
                        <a:rPr lang="en-US" sz="1100" dirty="0" smtClean="0"/>
                        <a:t>Saturday</a:t>
                      </a:r>
                      <a:endParaRPr lang="en-US" sz="1100" dirty="0"/>
                    </a:p>
                  </a:txBody>
                  <a:tcPr>
                    <a:solidFill>
                      <a:srgbClr val="E07E12"/>
                    </a:solidFill>
                  </a:tcPr>
                </a:tc>
                <a:extLst>
                  <a:ext uri="{0D108BD9-81ED-4DB2-BD59-A6C34878D82A}">
                    <a16:rowId xmlns:a16="http://schemas.microsoft.com/office/drawing/2014/main" val="3612953534"/>
                  </a:ext>
                </a:extLst>
              </a:tr>
              <a:tr h="591602">
                <a:tc>
                  <a:txBody>
                    <a:bodyPr/>
                    <a:lstStyle/>
                    <a:p>
                      <a:r>
                        <a:rPr lang="en-US" sz="1000" dirty="0" smtClean="0"/>
                        <a:t>28</a:t>
                      </a:r>
                      <a:endParaRPr lang="en-US" sz="1000" dirty="0"/>
                    </a:p>
                  </a:txBody>
                  <a:tcPr>
                    <a:solidFill>
                      <a:srgbClr val="CD7311"/>
                    </a:solidFill>
                  </a:tcPr>
                </a:tc>
                <a:tc>
                  <a:txBody>
                    <a:bodyPr/>
                    <a:lstStyle/>
                    <a:p>
                      <a:r>
                        <a:rPr lang="en-US" sz="1000" dirty="0" smtClean="0"/>
                        <a:t>29</a:t>
                      </a:r>
                      <a:endParaRPr lang="en-US" sz="1000" dirty="0"/>
                    </a:p>
                  </a:txBody>
                  <a:tcPr>
                    <a:solidFill>
                      <a:srgbClr val="CD7311"/>
                    </a:solidFill>
                  </a:tcPr>
                </a:tc>
                <a:tc>
                  <a:txBody>
                    <a:bodyPr/>
                    <a:lstStyle/>
                    <a:p>
                      <a:r>
                        <a:rPr lang="en-US" sz="1000" dirty="0" smtClean="0"/>
                        <a:t>30</a:t>
                      </a:r>
                      <a:endParaRPr lang="en-US" sz="1000" dirty="0"/>
                    </a:p>
                  </a:txBody>
                  <a:tcPr>
                    <a:solidFill>
                      <a:srgbClr val="CD7311"/>
                    </a:solidFill>
                  </a:tcPr>
                </a:tc>
                <a:tc>
                  <a:txBody>
                    <a:bodyPr/>
                    <a:lstStyle/>
                    <a:p>
                      <a:r>
                        <a:rPr lang="en-US" sz="1000" dirty="0" smtClean="0"/>
                        <a:t>31</a:t>
                      </a:r>
                      <a:endParaRPr lang="en-US" sz="1000" dirty="0"/>
                    </a:p>
                  </a:txBody>
                  <a:tcPr>
                    <a:solidFill>
                      <a:srgbClr val="CD7311"/>
                    </a:solidFill>
                  </a:tcPr>
                </a:tc>
                <a:tc>
                  <a:txBody>
                    <a:bodyPr/>
                    <a:lstStyle/>
                    <a:p>
                      <a:pPr algn="l"/>
                      <a:r>
                        <a:rPr lang="en-US" sz="1000" dirty="0" smtClean="0"/>
                        <a:t>1</a:t>
                      </a:r>
                      <a:endParaRPr lang="en-US" sz="1000" dirty="0"/>
                    </a:p>
                  </a:txBody>
                  <a:tcPr>
                    <a:solidFill>
                      <a:srgbClr val="F3AE63"/>
                    </a:solidFill>
                  </a:tcPr>
                </a:tc>
                <a:tc>
                  <a:txBody>
                    <a:bodyPr/>
                    <a:lstStyle/>
                    <a:p>
                      <a:r>
                        <a:rPr lang="en-US" sz="1000" dirty="0" smtClean="0"/>
                        <a:t>2</a:t>
                      </a:r>
                    </a:p>
                    <a:p>
                      <a:pPr algn="ctr"/>
                      <a:r>
                        <a:rPr lang="en-US" sz="1050" dirty="0" smtClean="0"/>
                        <a:t>Just a Reminder</a:t>
                      </a:r>
                      <a:r>
                        <a:rPr lang="en-US" sz="1050" baseline="0" dirty="0" smtClean="0"/>
                        <a:t> to wear your Sunscreen.</a:t>
                      </a:r>
                      <a:endParaRPr lang="en-US" sz="1050" dirty="0"/>
                    </a:p>
                  </a:txBody>
                  <a:tcPr>
                    <a:solidFill>
                      <a:srgbClr val="F3AE63"/>
                    </a:solidFill>
                  </a:tcPr>
                </a:tc>
                <a:tc>
                  <a:txBody>
                    <a:bodyPr/>
                    <a:lstStyle/>
                    <a:p>
                      <a:r>
                        <a:rPr lang="en-US" sz="1000" dirty="0" smtClean="0"/>
                        <a:t>3</a:t>
                      </a:r>
                      <a:endParaRPr lang="en-US" sz="1000" dirty="0"/>
                    </a:p>
                  </a:txBody>
                  <a:tcPr>
                    <a:solidFill>
                      <a:srgbClr val="F3AE63"/>
                    </a:solidFill>
                  </a:tcPr>
                </a:tc>
                <a:extLst>
                  <a:ext uri="{0D108BD9-81ED-4DB2-BD59-A6C34878D82A}">
                    <a16:rowId xmlns:a16="http://schemas.microsoft.com/office/drawing/2014/main" val="4284710374"/>
                  </a:ext>
                </a:extLst>
              </a:tr>
              <a:tr h="759489">
                <a:tc>
                  <a:txBody>
                    <a:bodyPr/>
                    <a:lstStyle/>
                    <a:p>
                      <a:r>
                        <a:rPr lang="en-US" sz="1000" dirty="0" smtClean="0"/>
                        <a:t>4</a:t>
                      </a:r>
                    </a:p>
                    <a:p>
                      <a:pPr algn="ctr"/>
                      <a:r>
                        <a:rPr lang="en-US" sz="1050" dirty="0" smtClean="0"/>
                        <a:t>Remember if you get sunburned treat it right away.</a:t>
                      </a:r>
                      <a:endParaRPr lang="en-US" sz="1050" dirty="0"/>
                    </a:p>
                  </a:txBody>
                  <a:tcPr>
                    <a:solidFill>
                      <a:srgbClr val="E07E12"/>
                    </a:solidFill>
                  </a:tcPr>
                </a:tc>
                <a:tc>
                  <a:txBody>
                    <a:bodyPr/>
                    <a:lstStyle/>
                    <a:p>
                      <a:r>
                        <a:rPr lang="en-US" sz="1000" dirty="0" smtClean="0"/>
                        <a:t>5</a:t>
                      </a:r>
                    </a:p>
                    <a:p>
                      <a:endParaRPr lang="en-US" sz="1000" dirty="0"/>
                    </a:p>
                  </a:txBody>
                  <a:tcPr>
                    <a:solidFill>
                      <a:srgbClr val="E07E12"/>
                    </a:solidFill>
                  </a:tcPr>
                </a:tc>
                <a:tc>
                  <a:txBody>
                    <a:bodyPr/>
                    <a:lstStyle/>
                    <a:p>
                      <a:r>
                        <a:rPr lang="en-US" sz="1000" dirty="0" smtClean="0"/>
                        <a:t>6</a:t>
                      </a:r>
                    </a:p>
                    <a:p>
                      <a:pPr algn="ctr"/>
                      <a:r>
                        <a:rPr lang="en-US" sz="1050" dirty="0" smtClean="0"/>
                        <a:t>Remember to wear a hat when your in the sun.</a:t>
                      </a:r>
                      <a:endParaRPr lang="en-US" sz="1050" dirty="0"/>
                    </a:p>
                  </a:txBody>
                  <a:tcPr>
                    <a:solidFill>
                      <a:srgbClr val="E07E12"/>
                    </a:solidFill>
                  </a:tcPr>
                </a:tc>
                <a:tc>
                  <a:txBody>
                    <a:bodyPr/>
                    <a:lstStyle/>
                    <a:p>
                      <a:r>
                        <a:rPr lang="en-US" sz="1000" dirty="0" smtClean="0"/>
                        <a:t>7</a:t>
                      </a:r>
                      <a:endParaRPr lang="en-US" sz="1000" dirty="0"/>
                    </a:p>
                  </a:txBody>
                  <a:tcPr>
                    <a:solidFill>
                      <a:srgbClr val="E07E12"/>
                    </a:solidFill>
                  </a:tcPr>
                </a:tc>
                <a:tc>
                  <a:txBody>
                    <a:bodyPr/>
                    <a:lstStyle/>
                    <a:p>
                      <a:r>
                        <a:rPr lang="en-US" sz="1000" dirty="0" smtClean="0"/>
                        <a:t>8</a:t>
                      </a:r>
                    </a:p>
                    <a:p>
                      <a:pPr algn="ctr"/>
                      <a:r>
                        <a:rPr lang="en-US" sz="1050" dirty="0" smtClean="0"/>
                        <a:t>If you go the beach, bring an umbrella for shade</a:t>
                      </a:r>
                      <a:endParaRPr lang="en-US" sz="1050" dirty="0"/>
                    </a:p>
                  </a:txBody>
                  <a:tcPr>
                    <a:solidFill>
                      <a:srgbClr val="E07E12"/>
                    </a:solidFill>
                  </a:tcPr>
                </a:tc>
                <a:tc>
                  <a:txBody>
                    <a:bodyPr/>
                    <a:lstStyle/>
                    <a:p>
                      <a:r>
                        <a:rPr lang="en-US" sz="1000" dirty="0" smtClean="0"/>
                        <a:t>9</a:t>
                      </a:r>
                      <a:endParaRPr lang="en-US" sz="1000" dirty="0"/>
                    </a:p>
                  </a:txBody>
                  <a:tcPr>
                    <a:solidFill>
                      <a:srgbClr val="E07E12"/>
                    </a:solidFill>
                  </a:tcPr>
                </a:tc>
                <a:tc>
                  <a:txBody>
                    <a:bodyPr/>
                    <a:lstStyle/>
                    <a:p>
                      <a:r>
                        <a:rPr lang="en-US" sz="1000" dirty="0" smtClean="0"/>
                        <a:t>10</a:t>
                      </a:r>
                    </a:p>
                    <a:p>
                      <a:pPr algn="ctr"/>
                      <a:r>
                        <a:rPr lang="en-US" sz="1050" dirty="0" smtClean="0"/>
                        <a:t>Don’t use</a:t>
                      </a:r>
                      <a:r>
                        <a:rPr lang="en-US" sz="1050" baseline="0" dirty="0" smtClean="0"/>
                        <a:t> the same sunscreen every day</a:t>
                      </a:r>
                      <a:endParaRPr lang="en-US" sz="1050" dirty="0"/>
                    </a:p>
                  </a:txBody>
                  <a:tcPr>
                    <a:solidFill>
                      <a:srgbClr val="E07E12"/>
                    </a:solidFill>
                  </a:tcPr>
                </a:tc>
                <a:extLst>
                  <a:ext uri="{0D108BD9-81ED-4DB2-BD59-A6C34878D82A}">
                    <a16:rowId xmlns:a16="http://schemas.microsoft.com/office/drawing/2014/main" val="1875233769"/>
                  </a:ext>
                </a:extLst>
              </a:tr>
              <a:tr h="759489">
                <a:tc>
                  <a:txBody>
                    <a:bodyPr/>
                    <a:lstStyle/>
                    <a:p>
                      <a:r>
                        <a:rPr lang="en-US" sz="1000" dirty="0" smtClean="0"/>
                        <a:t>11</a:t>
                      </a:r>
                      <a:endParaRPr lang="en-US" sz="1000" dirty="0"/>
                    </a:p>
                  </a:txBody>
                  <a:tcPr>
                    <a:solidFill>
                      <a:srgbClr val="F3AE63"/>
                    </a:solidFill>
                  </a:tcPr>
                </a:tc>
                <a:tc>
                  <a:txBody>
                    <a:bodyPr/>
                    <a:lstStyle/>
                    <a:p>
                      <a:r>
                        <a:rPr lang="en-US" sz="1000" dirty="0" smtClean="0"/>
                        <a:t>12</a:t>
                      </a:r>
                    </a:p>
                    <a:p>
                      <a:pPr algn="ctr"/>
                      <a:r>
                        <a:rPr lang="en-US" sz="1050" dirty="0" smtClean="0"/>
                        <a:t>Limit</a:t>
                      </a:r>
                      <a:r>
                        <a:rPr lang="en-US" sz="1050" baseline="0" dirty="0" smtClean="0"/>
                        <a:t> sun exposure so you don’t get sunburned.</a:t>
                      </a:r>
                      <a:endParaRPr lang="en-US" sz="1050" dirty="0"/>
                    </a:p>
                  </a:txBody>
                  <a:tcPr>
                    <a:solidFill>
                      <a:srgbClr val="F3AE63"/>
                    </a:solidFill>
                  </a:tcPr>
                </a:tc>
                <a:tc>
                  <a:txBody>
                    <a:bodyPr/>
                    <a:lstStyle/>
                    <a:p>
                      <a:r>
                        <a:rPr lang="en-US" sz="1000" dirty="0" smtClean="0"/>
                        <a:t>13</a:t>
                      </a:r>
                      <a:endParaRPr lang="en-US" sz="1000" dirty="0"/>
                    </a:p>
                  </a:txBody>
                  <a:tcPr>
                    <a:solidFill>
                      <a:srgbClr val="F3AE63"/>
                    </a:solidFill>
                  </a:tcPr>
                </a:tc>
                <a:tc>
                  <a:txBody>
                    <a:bodyPr/>
                    <a:lstStyle/>
                    <a:p>
                      <a:r>
                        <a:rPr lang="en-US" sz="1000" dirty="0" smtClean="0"/>
                        <a:t>14</a:t>
                      </a:r>
                      <a:endParaRPr lang="en-US" sz="1050" dirty="0" smtClean="0"/>
                    </a:p>
                    <a:p>
                      <a:pPr algn="ctr"/>
                      <a:r>
                        <a:rPr lang="en-US" sz="1050" dirty="0" smtClean="0"/>
                        <a:t>Try</a:t>
                      </a:r>
                      <a:r>
                        <a:rPr lang="en-US" sz="1050" baseline="0" dirty="0" smtClean="0"/>
                        <a:t> to wear sunglasses when out in the sun</a:t>
                      </a:r>
                      <a:endParaRPr lang="en-US" sz="1000" dirty="0" smtClean="0"/>
                    </a:p>
                  </a:txBody>
                  <a:tcPr>
                    <a:solidFill>
                      <a:srgbClr val="F3AE63"/>
                    </a:solidFill>
                  </a:tcPr>
                </a:tc>
                <a:tc>
                  <a:txBody>
                    <a:bodyPr/>
                    <a:lstStyle/>
                    <a:p>
                      <a:r>
                        <a:rPr lang="en-US" sz="1000" dirty="0" smtClean="0"/>
                        <a:t>15</a:t>
                      </a:r>
                    </a:p>
                    <a:p>
                      <a:pPr algn="ctr"/>
                      <a:endParaRPr lang="en-US" sz="1000" dirty="0"/>
                    </a:p>
                  </a:txBody>
                  <a:tcPr>
                    <a:solidFill>
                      <a:srgbClr val="F3AE63"/>
                    </a:solidFill>
                  </a:tcPr>
                </a:tc>
                <a:tc>
                  <a:txBody>
                    <a:bodyPr/>
                    <a:lstStyle/>
                    <a:p>
                      <a:r>
                        <a:rPr lang="en-US" sz="1000" dirty="0" smtClean="0"/>
                        <a:t>16</a:t>
                      </a:r>
                    </a:p>
                    <a:p>
                      <a:pPr algn="ctr"/>
                      <a:r>
                        <a:rPr lang="en-US" sz="1050" dirty="0" smtClean="0"/>
                        <a:t>Cover</a:t>
                      </a:r>
                      <a:r>
                        <a:rPr lang="en-US" sz="1050" baseline="0" dirty="0" smtClean="0"/>
                        <a:t> up with cloths, you don’t want to get a full body sunburn.</a:t>
                      </a:r>
                      <a:endParaRPr lang="en-US" sz="1050" dirty="0" smtClean="0"/>
                    </a:p>
                  </a:txBody>
                  <a:tcPr>
                    <a:solidFill>
                      <a:srgbClr val="F3AE63"/>
                    </a:solidFill>
                  </a:tcPr>
                </a:tc>
                <a:tc>
                  <a:txBody>
                    <a:bodyPr/>
                    <a:lstStyle/>
                    <a:p>
                      <a:r>
                        <a:rPr lang="en-US" sz="1000" dirty="0" smtClean="0"/>
                        <a:t>17</a:t>
                      </a:r>
                      <a:endParaRPr lang="en-US" sz="1000" dirty="0"/>
                    </a:p>
                  </a:txBody>
                  <a:tcPr>
                    <a:solidFill>
                      <a:srgbClr val="F3AE63"/>
                    </a:solidFill>
                  </a:tcPr>
                </a:tc>
                <a:extLst>
                  <a:ext uri="{0D108BD9-81ED-4DB2-BD59-A6C34878D82A}">
                    <a16:rowId xmlns:a16="http://schemas.microsoft.com/office/drawing/2014/main" val="2052606573"/>
                  </a:ext>
                </a:extLst>
              </a:tr>
              <a:tr h="927376">
                <a:tc>
                  <a:txBody>
                    <a:bodyPr/>
                    <a:lstStyle/>
                    <a:p>
                      <a:r>
                        <a:rPr lang="en-US" sz="1000" dirty="0" smtClean="0"/>
                        <a:t>18</a:t>
                      </a:r>
                    </a:p>
                    <a:p>
                      <a:pPr algn="ctr"/>
                      <a:r>
                        <a:rPr lang="en-US" sz="1050" dirty="0" smtClean="0"/>
                        <a:t>If your out on a sunny day try to stay in the shade some.</a:t>
                      </a:r>
                      <a:endParaRPr lang="en-US" sz="1050" dirty="0"/>
                    </a:p>
                  </a:txBody>
                  <a:tcPr>
                    <a:solidFill>
                      <a:srgbClr val="E07E12"/>
                    </a:solidFill>
                  </a:tcPr>
                </a:tc>
                <a:tc>
                  <a:txBody>
                    <a:bodyPr/>
                    <a:lstStyle/>
                    <a:p>
                      <a:r>
                        <a:rPr lang="en-US" sz="1000" dirty="0" smtClean="0"/>
                        <a:t>19</a:t>
                      </a:r>
                      <a:endParaRPr lang="en-US" sz="1000" dirty="0"/>
                    </a:p>
                  </a:txBody>
                  <a:tcPr>
                    <a:solidFill>
                      <a:srgbClr val="E07E12"/>
                    </a:solidFill>
                  </a:tcPr>
                </a:tc>
                <a:tc>
                  <a:txBody>
                    <a:bodyPr/>
                    <a:lstStyle/>
                    <a:p>
                      <a:r>
                        <a:rPr lang="en-US" sz="1000" dirty="0" smtClean="0"/>
                        <a:t>20</a:t>
                      </a:r>
                      <a:endParaRPr lang="en-US" sz="1050" dirty="0" smtClean="0"/>
                    </a:p>
                    <a:p>
                      <a:pPr algn="ctr"/>
                      <a:r>
                        <a:rPr lang="en-US" sz="1050" dirty="0" smtClean="0"/>
                        <a:t>The</a:t>
                      </a:r>
                      <a:r>
                        <a:rPr lang="en-US" sz="1050" baseline="0" dirty="0" smtClean="0"/>
                        <a:t> sun’s most active from 10 am to 4 pm, so don’t be outside much then.</a:t>
                      </a:r>
                      <a:endParaRPr lang="en-US" sz="1000" dirty="0" smtClean="0"/>
                    </a:p>
                  </a:txBody>
                  <a:tcPr>
                    <a:solidFill>
                      <a:srgbClr val="E07E12"/>
                    </a:solidFill>
                  </a:tcPr>
                </a:tc>
                <a:tc>
                  <a:txBody>
                    <a:bodyPr/>
                    <a:lstStyle/>
                    <a:p>
                      <a:r>
                        <a:rPr lang="en-US" sz="1000" dirty="0" smtClean="0"/>
                        <a:t>21</a:t>
                      </a:r>
                      <a:endParaRPr lang="en-US" sz="1000" dirty="0"/>
                    </a:p>
                  </a:txBody>
                  <a:tcPr>
                    <a:solidFill>
                      <a:srgbClr val="E07E12"/>
                    </a:solidFill>
                  </a:tcPr>
                </a:tc>
                <a:tc>
                  <a:txBody>
                    <a:bodyPr/>
                    <a:lstStyle/>
                    <a:p>
                      <a:r>
                        <a:rPr lang="en-US" sz="1000" dirty="0" smtClean="0"/>
                        <a:t>22</a:t>
                      </a:r>
                    </a:p>
                    <a:p>
                      <a:pPr algn="ctr"/>
                      <a:r>
                        <a:rPr lang="en-US" sz="1050" dirty="0" smtClean="0"/>
                        <a:t>Don’t even think about sun tanning,</a:t>
                      </a:r>
                      <a:r>
                        <a:rPr lang="en-US" sz="1050" baseline="0" dirty="0" smtClean="0"/>
                        <a:t> its really bad for you.</a:t>
                      </a:r>
                      <a:endParaRPr lang="en-US" sz="1050" dirty="0"/>
                    </a:p>
                  </a:txBody>
                  <a:tcPr>
                    <a:solidFill>
                      <a:srgbClr val="E07E12"/>
                    </a:solidFill>
                  </a:tcPr>
                </a:tc>
                <a:tc>
                  <a:txBody>
                    <a:bodyPr/>
                    <a:lstStyle/>
                    <a:p>
                      <a:r>
                        <a:rPr lang="en-US" sz="1000" dirty="0" smtClean="0"/>
                        <a:t>23</a:t>
                      </a:r>
                      <a:endParaRPr lang="en-US" sz="1000" dirty="0"/>
                    </a:p>
                  </a:txBody>
                  <a:tcPr>
                    <a:solidFill>
                      <a:srgbClr val="E07E12"/>
                    </a:solidFill>
                  </a:tcPr>
                </a:tc>
                <a:tc>
                  <a:txBody>
                    <a:bodyPr/>
                    <a:lstStyle/>
                    <a:p>
                      <a:r>
                        <a:rPr lang="en-US" sz="1000" dirty="0" smtClean="0"/>
                        <a:t>24</a:t>
                      </a:r>
                      <a:endParaRPr lang="en-US" sz="1050" dirty="0" smtClean="0"/>
                    </a:p>
                    <a:p>
                      <a:pPr algn="ctr"/>
                      <a:r>
                        <a:rPr lang="en-US" sz="1050" dirty="0" smtClean="0"/>
                        <a:t>Don’t use tanning beds their worst for you then sun tanning.</a:t>
                      </a:r>
                      <a:endParaRPr lang="en-US" sz="1000" dirty="0" smtClean="0"/>
                    </a:p>
                  </a:txBody>
                  <a:tcPr>
                    <a:solidFill>
                      <a:srgbClr val="E07E12"/>
                    </a:solidFill>
                  </a:tcPr>
                </a:tc>
                <a:extLst>
                  <a:ext uri="{0D108BD9-81ED-4DB2-BD59-A6C34878D82A}">
                    <a16:rowId xmlns:a16="http://schemas.microsoft.com/office/drawing/2014/main" val="636705970"/>
                  </a:ext>
                </a:extLst>
              </a:tr>
              <a:tr h="759489">
                <a:tc>
                  <a:txBody>
                    <a:bodyPr/>
                    <a:lstStyle/>
                    <a:p>
                      <a:r>
                        <a:rPr lang="en-US" sz="1000" dirty="0" smtClean="0"/>
                        <a:t>25</a:t>
                      </a:r>
                      <a:endParaRPr lang="en-US" sz="1000" dirty="0"/>
                    </a:p>
                  </a:txBody>
                  <a:tcPr>
                    <a:solidFill>
                      <a:srgbClr val="F3AE63"/>
                    </a:solidFill>
                  </a:tcPr>
                </a:tc>
                <a:tc>
                  <a:txBody>
                    <a:bodyPr/>
                    <a:lstStyle/>
                    <a:p>
                      <a:r>
                        <a:rPr lang="en-US" sz="1000" dirty="0" smtClean="0"/>
                        <a:t>26</a:t>
                      </a:r>
                    </a:p>
                    <a:p>
                      <a:pPr algn="ctr"/>
                      <a:r>
                        <a:rPr lang="en-US" sz="1050" dirty="0" smtClean="0"/>
                        <a:t>If you do tan, just don’t tan for longer then 15 minutes.</a:t>
                      </a:r>
                      <a:endParaRPr lang="en-US" sz="1050" dirty="0"/>
                    </a:p>
                  </a:txBody>
                  <a:tcPr>
                    <a:solidFill>
                      <a:srgbClr val="F3AE63"/>
                    </a:solidFill>
                  </a:tcPr>
                </a:tc>
                <a:tc>
                  <a:txBody>
                    <a:bodyPr/>
                    <a:lstStyle/>
                    <a:p>
                      <a:r>
                        <a:rPr lang="en-US" sz="1000" dirty="0" smtClean="0"/>
                        <a:t>27</a:t>
                      </a:r>
                      <a:endParaRPr lang="en-US" sz="1000" dirty="0"/>
                    </a:p>
                  </a:txBody>
                  <a:tcPr>
                    <a:solidFill>
                      <a:srgbClr val="F3AE63"/>
                    </a:solidFill>
                  </a:tcPr>
                </a:tc>
                <a:tc>
                  <a:txBody>
                    <a:bodyPr/>
                    <a:lstStyle/>
                    <a:p>
                      <a:r>
                        <a:rPr lang="en-US" sz="1000" dirty="0" smtClean="0"/>
                        <a:t>28</a:t>
                      </a:r>
                    </a:p>
                    <a:p>
                      <a:pPr algn="ctr"/>
                      <a:r>
                        <a:rPr lang="en-US" sz="1000" dirty="0" smtClean="0"/>
                        <a:t>Check</a:t>
                      </a:r>
                      <a:r>
                        <a:rPr lang="en-US" sz="1000" baseline="0" dirty="0" smtClean="0"/>
                        <a:t> to see if you have some symptoms of skin cancer like moles, or blemishes.</a:t>
                      </a:r>
                      <a:endParaRPr lang="en-US" sz="1000" dirty="0" smtClean="0"/>
                    </a:p>
                  </a:txBody>
                  <a:tcPr>
                    <a:solidFill>
                      <a:srgbClr val="F3AE63"/>
                    </a:solidFill>
                  </a:tcPr>
                </a:tc>
                <a:tc>
                  <a:txBody>
                    <a:bodyPr/>
                    <a:lstStyle/>
                    <a:p>
                      <a:r>
                        <a:rPr lang="en-US" sz="1000" dirty="0" smtClean="0"/>
                        <a:t>29</a:t>
                      </a:r>
                      <a:endParaRPr lang="en-US" sz="1000" dirty="0"/>
                    </a:p>
                  </a:txBody>
                  <a:tcPr>
                    <a:solidFill>
                      <a:srgbClr val="F3AE63"/>
                    </a:solidFill>
                  </a:tcPr>
                </a:tc>
                <a:tc>
                  <a:txBody>
                    <a:bodyPr/>
                    <a:lstStyle/>
                    <a:p>
                      <a:r>
                        <a:rPr lang="en-US" sz="1000" dirty="0" smtClean="0"/>
                        <a:t>30</a:t>
                      </a:r>
                    </a:p>
                    <a:p>
                      <a:pPr algn="ctr"/>
                      <a:r>
                        <a:rPr lang="en-US" sz="1000" dirty="0" smtClean="0"/>
                        <a:t>If</a:t>
                      </a:r>
                      <a:r>
                        <a:rPr lang="en-US" sz="1000" baseline="0" dirty="0" smtClean="0"/>
                        <a:t> you have any symptoms of skin cancer see a local skin care specialist for help.</a:t>
                      </a:r>
                      <a:endParaRPr lang="en-US" sz="1000" dirty="0" smtClean="0"/>
                    </a:p>
                  </a:txBody>
                  <a:tcPr>
                    <a:solidFill>
                      <a:srgbClr val="F3AE63"/>
                    </a:solidFill>
                  </a:tcPr>
                </a:tc>
                <a:tc>
                  <a:txBody>
                    <a:bodyPr/>
                    <a:lstStyle/>
                    <a:p>
                      <a:r>
                        <a:rPr lang="en-US" sz="1000" dirty="0" smtClean="0"/>
                        <a:t>1</a:t>
                      </a:r>
                      <a:endParaRPr lang="en-US" sz="1000" dirty="0"/>
                    </a:p>
                  </a:txBody>
                  <a:tcPr>
                    <a:solidFill>
                      <a:srgbClr val="CD7311"/>
                    </a:solidFill>
                  </a:tcPr>
                </a:tc>
                <a:extLst>
                  <a:ext uri="{0D108BD9-81ED-4DB2-BD59-A6C34878D82A}">
                    <a16:rowId xmlns:a16="http://schemas.microsoft.com/office/drawing/2014/main" val="2460890951"/>
                  </a:ext>
                </a:extLst>
              </a:tr>
            </a:tbl>
          </a:graphicData>
        </a:graphic>
      </p:graphicFrame>
      <p:graphicFrame>
        <p:nvGraphicFramePr>
          <p:cNvPr id="2" name="Table 1"/>
          <p:cNvGraphicFramePr>
            <a:graphicFrameLocks noGrp="1"/>
          </p:cNvGraphicFramePr>
          <p:nvPr>
            <p:extLst>
              <p:ext uri="{D42A27DB-BD31-4B8C-83A1-F6EECF244321}">
                <p14:modId xmlns:p14="http://schemas.microsoft.com/office/powerpoint/2010/main" val="958664148"/>
              </p:ext>
            </p:extLst>
          </p:nvPr>
        </p:nvGraphicFramePr>
        <p:xfrm>
          <a:off x="39188" y="15813"/>
          <a:ext cx="10080939" cy="701040"/>
        </p:xfrm>
        <a:graphic>
          <a:graphicData uri="http://schemas.openxmlformats.org/drawingml/2006/table">
            <a:tbl>
              <a:tblPr>
                <a:tableStyleId>{306799F8-075E-4A3A-A7F6-7FBC6576F1A4}</a:tableStyleId>
              </a:tblPr>
              <a:tblGrid>
                <a:gridCol w="10080939">
                  <a:extLst>
                    <a:ext uri="{9D8B030D-6E8A-4147-A177-3AD203B41FA5}">
                      <a16:colId xmlns:a16="http://schemas.microsoft.com/office/drawing/2014/main" val="3535136422"/>
                    </a:ext>
                  </a:extLst>
                </a:gridCol>
              </a:tblGrid>
              <a:tr h="585078">
                <a:tc>
                  <a:txBody>
                    <a:bodyPr/>
                    <a:lstStyle/>
                    <a:p>
                      <a:pPr algn="ctr"/>
                      <a:r>
                        <a:rPr lang="en-US" sz="4000" dirty="0" smtClean="0">
                          <a:ln>
                            <a:solidFill>
                              <a:sysClr val="windowText" lastClr="000000"/>
                            </a:solidFill>
                          </a:ln>
                          <a:solidFill>
                            <a:schemeClr val="bg1"/>
                          </a:solidFill>
                        </a:rPr>
                        <a:t>Calendar</a:t>
                      </a:r>
                      <a:r>
                        <a:rPr lang="en-US" sz="4000" baseline="0" dirty="0" smtClean="0">
                          <a:ln>
                            <a:solidFill>
                              <a:sysClr val="windowText" lastClr="000000"/>
                            </a:solidFill>
                          </a:ln>
                          <a:solidFill>
                            <a:schemeClr val="bg1"/>
                          </a:solidFill>
                        </a:rPr>
                        <a:t> to Prevent Skin Cancer</a:t>
                      </a:r>
                      <a:endParaRPr lang="en-US" sz="4000" dirty="0">
                        <a:ln>
                          <a:solidFill>
                            <a:sysClr val="windowText" lastClr="000000"/>
                          </a:solidFill>
                        </a:ln>
                        <a:solidFill>
                          <a:schemeClr val="bg1"/>
                        </a:solidFill>
                      </a:endParaRPr>
                    </a:p>
                  </a:txBody>
                  <a:tcPr>
                    <a:solidFill>
                      <a:srgbClr val="C00000"/>
                    </a:solidFill>
                  </a:tcPr>
                </a:tc>
                <a:extLst>
                  <a:ext uri="{0D108BD9-81ED-4DB2-BD59-A6C34878D82A}">
                    <a16:rowId xmlns:a16="http://schemas.microsoft.com/office/drawing/2014/main" val="1321047984"/>
                  </a:ext>
                </a:extLst>
              </a:tr>
            </a:tbl>
          </a:graphicData>
        </a:graphic>
      </p:graphicFrame>
    </p:spTree>
    <p:extLst>
      <p:ext uri="{BB962C8B-B14F-4D97-AF65-F5344CB8AC3E}">
        <p14:creationId xmlns:p14="http://schemas.microsoft.com/office/powerpoint/2010/main" val="30965724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1558</TotalTime>
  <Words>432</Words>
  <Application>Microsoft Office PowerPoint</Application>
  <PresentationFormat>Widescreen</PresentationFormat>
  <Paragraphs>70</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DFKai-SB</vt:lpstr>
      <vt:lpstr>Arial</vt:lpstr>
      <vt:lpstr>Calibri</vt:lpstr>
      <vt:lpstr>Calibri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Harvey, Grant Robert</dc:creator>
  <cp:lastModifiedBy>Harvey, Grant Robert</cp:lastModifiedBy>
  <cp:revision>20</cp:revision>
  <dcterms:created xsi:type="dcterms:W3CDTF">2018-01-23T17:27:45Z</dcterms:created>
  <dcterms:modified xsi:type="dcterms:W3CDTF">2018-01-30T17:45:37Z</dcterms:modified>
</cp:coreProperties>
</file>